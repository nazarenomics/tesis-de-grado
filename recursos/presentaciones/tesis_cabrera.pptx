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64748B"/>
                </a:solidFill>
                <a:latin typeface="Arial"/>
              </a:defRPr>
            </a:pPr>
            <a:r>
              <a:rPr sz="1000" b="0" i="0" u="none" strike="noStrike">
                <a:solidFill>
                  <a:srgbClr val="64748B"/>
                </a:solidFill>
                <a:latin typeface="Arial"/>
              </a:rPr>
              <a:t>% crecimiento vs C+  |  EMB en BHI 16h</a:t>
            </a:r>
          </a:p>
        </c:rich>
      </c:tx>
      <c:layout/>
      <c:overlay val="0"/>
    </c:title>
    <c:autoTitleDeleted val="0"/>
    <c:plotArea>
      <c:layout/>
      <c:barChart>
        <c:barDir val="col"/>
        <c:grouping val="clustered"/>
        <c:varyColors val="0"/>
        <c:ser>
          <c:idx val="0"/>
          <c:order val="0"/>
          <c:tx>
            <c:strRef>
              <c:f>Sheet1!$B$1</c:f>
              <c:strCache>
                <c:ptCount val="1"/>
                <c:pt idx="0">
                  <c:v>% crecimiento vs C+</c:v>
                </c:pt>
              </c:strCache>
            </c:strRef>
          </c:tx>
          <c:spPr>
            <a:solidFill>
              <a:srgbClr val="1A6B8A"/>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A6B8A"/>
              </a:solidFill>
              <a:effectLst/>
            </c:spPr>
          </c:dPt>
          <c:dPt>
            <c:idx val="1"/>
            <c:invertIfNegative val="0"/>
            <c:bubble3D val="0"/>
            <c:spPr>
              <a:solidFill>
                <a:srgbClr val="1A6B8A"/>
              </a:solidFill>
              <a:effectLst/>
            </c:spPr>
          </c:dPt>
          <c:dPt>
            <c:idx val="2"/>
            <c:invertIfNegative val="0"/>
            <c:bubble3D val="0"/>
            <c:spPr>
              <a:solidFill>
                <a:srgbClr val="1A6B8A"/>
              </a:solidFill>
              <a:effectLst/>
            </c:spPr>
          </c:dPt>
          <c:dPt>
            <c:idx val="3"/>
            <c:invertIfNegative val="0"/>
            <c:bubble3D val="0"/>
            <c:spPr>
              <a:solidFill>
                <a:srgbClr val="1A6B8A"/>
              </a:solidFill>
              <a:effectLst/>
            </c:spPr>
          </c:dPt>
          <c:dPt>
            <c:idx val="4"/>
            <c:invertIfNegative val="0"/>
            <c:bubble3D val="0"/>
            <c:spPr>
              <a:solidFill>
                <a:srgbClr val="1A6B8A"/>
              </a:solidFill>
              <a:effectLst/>
            </c:spPr>
          </c:dPt>
          <c:dPt>
            <c:idx val="5"/>
            <c:invertIfNegative val="0"/>
            <c:bubble3D val="0"/>
            <c:spPr>
              <a:solidFill>
                <a:srgbClr val="1A6B8A"/>
              </a:solidFill>
              <a:effectLst/>
            </c:spPr>
          </c:dPt>
          <c:dPt>
            <c:idx val="6"/>
            <c:invertIfNegative val="0"/>
            <c:bubble3D val="0"/>
            <c:spPr>
              <a:solidFill>
                <a:srgbClr val="1A6B8A"/>
              </a:solidFill>
              <a:effectLst/>
            </c:spPr>
          </c:dPt>
          <c:dPt>
            <c:idx val="7"/>
            <c:invertIfNegative val="0"/>
            <c:bubble3D val="0"/>
            <c:spPr>
              <a:solidFill>
                <a:srgbClr val="FBD065"/>
              </a:solidFill>
              <a:effectLst/>
            </c:spPr>
          </c:dPt>
          <c:dPt>
            <c:idx val="8"/>
            <c:invertIfNegative val="0"/>
            <c:bubble3D val="0"/>
            <c:spPr>
              <a:solidFill>
                <a:srgbClr val="FBD065"/>
              </a:solidFill>
              <a:effectLst/>
            </c:spPr>
          </c:dPt>
          <c:dPt>
            <c:idx val="9"/>
            <c:invertIfNegative val="0"/>
            <c:bubble3D val="0"/>
            <c:spPr>
              <a:solidFill>
                <a:srgbClr val="FBD065"/>
              </a:solidFill>
              <a:effectLst/>
            </c:spPr>
          </c:dPt>
          <c:dPt>
            <c:idx val="10"/>
            <c:invertIfNegative val="0"/>
            <c:bubble3D val="0"/>
            <c:spPr>
              <a:solidFill>
                <a:srgbClr val="FBD065"/>
              </a:solidFill>
              <a:effectLst/>
            </c:spPr>
          </c:dPt>
          <c:dPt>
            <c:idx val="11"/>
            <c:invertIfNegative val="0"/>
            <c:bubble3D val="0"/>
            <c:spPr>
              <a:solidFill>
                <a:srgbClr val="F97316"/>
              </a:solidFill>
              <a:effectLst/>
            </c:spPr>
          </c:dPt>
          <c:cat>
            <c:multiLvlStrRef>
              <c:f>Sheet1!$A$2:$A$13</c:f>
              <c:multiLvlStrCache>
                <c:ptCount val="12"/>
                <c:lvl>
                  <c:pt idx="0">
                    <c:v>512</c:v>
                  </c:pt>
                  <c:pt idx="1">
                    <c:v>256</c:v>
                  </c:pt>
                  <c:pt idx="2">
                    <c:v>128</c:v>
                  </c:pt>
                  <c:pt idx="3">
                    <c:v>64</c:v>
                  </c:pt>
                  <c:pt idx="4">
                    <c:v>32</c:v>
                  </c:pt>
                  <c:pt idx="5">
                    <c:v>16</c:v>
                  </c:pt>
                  <c:pt idx="6">
                    <c:v>8</c:v>
                  </c:pt>
                  <c:pt idx="7">
                    <c:v>4</c:v>
                  </c:pt>
                  <c:pt idx="8">
                    <c:v>2</c:v>
                  </c:pt>
                  <c:pt idx="9">
                    <c:v>1</c:v>
                  </c:pt>
                  <c:pt idx="10">
                    <c:v>0.5</c:v>
                  </c:pt>
                  <c:pt idx="11">
                    <c:v>0.25</c:v>
                  </c:pt>
                </c:lvl>
              </c:multiLvlStrCache>
            </c:multiLvlStrRef>
          </c:cat>
          <c:val>
            <c:numRef>
              <c:f>Sheet1!$B$2:$B$13</c:f>
              <c:numCache>
                <c:formatCode>General</c:formatCode>
                <c:ptCount val="12"/>
                <c:pt idx="0">
                  <c:v>1.6</c:v>
                </c:pt>
                <c:pt idx="1">
                  <c:v>2.8</c:v>
                </c:pt>
                <c:pt idx="2">
                  <c:v>2.7</c:v>
                </c:pt>
                <c:pt idx="3">
                  <c:v>2.9</c:v>
                </c:pt>
                <c:pt idx="4">
                  <c:v>3.7</c:v>
                </c:pt>
                <c:pt idx="5">
                  <c:v>6.2</c:v>
                </c:pt>
                <c:pt idx="6">
                  <c:v>4.5</c:v>
                </c:pt>
                <c:pt idx="7">
                  <c:v>10.3</c:v>
                </c:pt>
                <c:pt idx="8">
                  <c:v>10.8</c:v>
                </c:pt>
                <c:pt idx="9">
                  <c:v>13.2</c:v>
                </c:pt>
                <c:pt idx="10">
                  <c:v>23.4</c:v>
                </c:pt>
                <c:pt idx="11">
                  <c:v>39.6</c:v>
                </c:pt>
              </c:numCache>
            </c:numRef>
          </c:val>
        </c:ser>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EMB en BHI 16 h</a:t>
            </a:r>
          </a:p>
        </c:rich>
      </c:tx>
      <c:layout/>
      <c:overlay val="0"/>
    </c:title>
    <c:autoTitleDeleted val="0"/>
    <c:plotArea>
      <c:lineChart>
        <c:grouping val="standard"/>
        <c:varyColors val="0"/>
        <c:ser>
          <c:idx val="0"/>
          <c:order val="0"/>
          <c:tx>
            <c:strRef>
              <c:f>Sheet1!$B$1</c:f>
              <c:strCache>
                <c:ptCount val="1"/>
                <c:pt idx="0">
                  <c:v>% crecimiento vs C+</c:v>
                </c:pt>
              </c:strCache>
            </c:strRef>
          </c:tx>
          <c:spPr>
            <a:ln w="25400">
              <a:solidFill>
                <a:srgbClr val="1B4965"/>
              </a:solidFill>
            </a:ln>
          </c:spPr>
          <c:cat>
            <c:strRef>
              <c:f>Sheet1!$A$2:$A$13</c:f>
              <c:strCache>
                <c:ptCount val="12"/>
                <c:pt idx="0">
                  <c:v>512</c:v>
                </c:pt>
                <c:pt idx="1">
                  <c:v>256</c:v>
                </c:pt>
                <c:pt idx="2">
                  <c:v>128</c:v>
                </c:pt>
                <c:pt idx="3">
                  <c:v>64</c:v>
                </c:pt>
                <c:pt idx="4">
                  <c:v>32</c:v>
                </c:pt>
                <c:pt idx="5">
                  <c:v>16</c:v>
                </c:pt>
                <c:pt idx="6">
                  <c:v>8</c:v>
                </c:pt>
                <c:pt idx="7">
                  <c:v>4</c:v>
                </c:pt>
                <c:pt idx="8">
                  <c:v>2</c:v>
                </c:pt>
                <c:pt idx="9">
                  <c:v>1</c:v>
                </c:pt>
                <c:pt idx="10">
                  <c:v>0.5</c:v>
                </c:pt>
                <c:pt idx="11">
                  <c:v>0.25</c:v>
                </c:pt>
              </c:strCache>
            </c:strRef>
          </c:cat>
          <c:val>
            <c:numRef>
              <c:f>Sheet1!$B$2:$B$13</c:f>
              <c:numCache>
                <c:formatCode>General</c:formatCode>
                <c:ptCount val="12"/>
                <c:pt idx="0">
                  <c:v>1.6</c:v>
                </c:pt>
                <c:pt idx="1">
                  <c:v>2.8</c:v>
                </c:pt>
                <c:pt idx="2">
                  <c:v>2.7</c:v>
                </c:pt>
                <c:pt idx="3">
                  <c:v>2.9</c:v>
                </c:pt>
                <c:pt idx="4">
                  <c:v>3.7</c:v>
                </c:pt>
                <c:pt idx="5">
                  <c:v>6.2</c:v>
                </c:pt>
                <c:pt idx="6">
                  <c:v>4.5</c:v>
                </c:pt>
                <c:pt idx="7">
                  <c:v>10.3</c:v>
                </c:pt>
                <c:pt idx="8">
                  <c:v>10.8</c:v>
                </c:pt>
                <c:pt idx="9">
                  <c:v>13.2</c:v>
                </c:pt>
                <c:pt idx="10">
                  <c:v>23.4</c:v>
                </c:pt>
                <c:pt idx="11">
                  <c:v>39.6</c:v>
                </c:pt>
              </c:numCache>
            </c:numRef>
          </c:val>
          <c:smooth val="0"/>
        </c:ser>
        <c:marker val="1"/>
        <c:smooth val="0"/>
        <c:axId val="2118791784"/>
        <c:axId val="2140495176"/>
      </c:lineChart>
      <c:catAx>
        <c:axId val="2118791784"/>
        <c:scaling>
          <c:orientation val="minMax"/>
        </c:scaling>
        <c:delete val="0"/>
        <c:axPos val="b"/>
        <c:title>
          <c:tx>
            <c:rich>
              <a:bodyPr/>
              <a:lstStyle/>
              <a:p>
                <a:r>
                  <a:t>EMB (µg/mL)</a:t>
                </a:r>
              </a:p>
            </c:rich>
          </c:tx>
          <c:layout/>
          <c:overlay val="0"/>
        </c:title>
        <c:majorTickMark val="out"/>
        <c:minorTickMark val="none"/>
        <c:tickLblPos val="nextTo"/>
        <c:crossAx val="2140495176"/>
        <c:crosses val="autoZero"/>
        <c:auto val="1"/>
        <c:lblAlgn val="ctr"/>
        <c:lblOffset val="100"/>
        <c:noMultiLvlLbl val="0"/>
      </c:catAx>
      <c:valAx>
        <c:axId val="2140495176"/>
        <c:scaling>
          <c:max val="45.0"/>
          <c:min val="0.0"/>
        </c:scaling>
        <c:delete val="0"/>
        <c:axPos val="l"/>
        <c:majorGridlines/>
        <c:title>
          <c:tx>
            <c:rich>
              <a:bodyPr/>
              <a:lstStyle/>
              <a:p>
                <a:r>
                  <a:t>% crecimiento vs C+</a:t>
                </a:r>
              </a:p>
            </c:rich>
          </c:tx>
          <c:layout/>
          <c:overlay val="0"/>
        </c:title>
        <c:majorTickMark val="out"/>
        <c:minorTickMark val="none"/>
        <c:tickLblPos val="nextTo"/>
        <c:crossAx val="2118791784"/>
        <c:crosses val="autoZero"/>
        <c:majorUnit val="1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Buenos días. Mi nombre es Nazareno Cabrera, soy estudiante de Ingeniería en Biotecnología, y voy a presentar mi proyecto de tesis titulado "Nuevas perspectivas sobre el efecto biológico del etambutol en Mycobacteriales a partir de proteómica cuantitativa basada en adquisición independiente de datos". Este trabajo se desarrolla en la Unidad de Proteómica y Bioquímica Analíticas del Institut Pasteur de Montevideo, bajo la tutoría de Alejandro Leyva.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tuberculosis sigue siendo un problema de salud pública de enorme magnitud. A escala global continúa siendo la principal causa de muerte por un único agente infeccioso y, pese a que existe tratamiento desde hace décadas, en 2023 causó alrededor de 1,25 millones de muertes. En Uruguay la situación también es preocupante, con mortalidad por encima del promedio regional y una carga que sigue siendo significativa. El problema no es solo la enfermedad en sí, sino también la duración prolongada del tratamiento, el abandono terapéutico y la aparición de resistencia, en particular de formas multirresistentes que obligan a usar esquemas más largos, más tóxicos y menos eficaces. Es por ello que sigue siendo necesario buscar nuevos blancos terapéuticos y comprender mejor cómo actúan los fármacos actuales.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Dentro de los fármacos de primera línea, el etambutol ocupa un lugar relevante porque forma parte del régimen intensivo de tratamiento de la tuberculosis. Su función se asocia a la inhibición de arabinosiltransferasas, enzimas esenciales para la síntesis de arabinogalactano en la envoltura celular de los Mycobacteriales. Sin embargo, ese mecanismo no explica por completo todos sus efectos biológicos ni todos los mecanismos de resistencia descritos. Estudios previos sugieren que el fármaco también impacta sobre metabolismo intermediario y respiración celular. Además, resultados preliminares obtenidos en la UBYPA mediante proteómica en Corynebacterium glutamicum mostraron que el tratamiento con etambutol altera 192 proteínas, es decir, cerca del 20 por ciento del proteoma detectado. Esto sugiere que el efecto del fármaco es bastante más amplio de lo que se pensaba y que todavía existen procesos celulares afectados que no fueron identificados.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Sin embargo, esos resultados fueron obtenidos con una estrategia DDA, y ahí está la principal limitación del dataset. En DDA se seleccionan de forma estocástica los precursores más abundantes en cada full scan; cuando la complejidad de la muestra aumenta, la adquisición deja de ser exhaustiva y pasa a depender de la abundancia relativa de esos precursores. En cambio, DIA cambia esa lógica de adquisición. En lugar de elegir algunos precursores para MS/MS, fragmenta sistemáticamente todos los iones dentro de ventanas predefinidas de m/z a lo largo de todo el gradiente. Esto mejora la completitud de la matriz cuantitativa y aumenta la precisión y la reproducibilidad entre réplicas. Es por ello que esta estrategia resulta especialmente adecuada para estudiar respuestas a fármacos, donde interesa detectar cambios finos y comparables en el proteoma global. De este modo, DIA aparece como la mejor herramienta para ampliar la cobertura y robustez del análisis.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hipótesis de trabajo es que la exposición de Corynebacterium glutamicum a concentraciones subinhibitorias de etambutol induce una reprogramación proteómica global que no se limita a la biosíntesis de la envoltura celular, sino que involucra otros sistemas celulares aún no descritos para este fármaco. Para abordar esta hipótesis se utiliza C. glutamicum como organismo modelo, porque es filogenéticamente cercano a Mycobacteriales, comparte la arquitectura general de la envoltura celular y, al mismo tiempo, puede trabajarse en condiciones de bioseguridad básica. Eso permite estudiar una biología relevante sin las restricciones experimentales de un patógeno.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objetivo general, entonces, es explorar la existencia de efectos celulares no descritos previamente para el etambutol mediante la caracterización del impacto proteómico global en C. glutamicum usando proteómica cuantitativa basada en DIA. A partir de eso, los objetivos específicos son establecer condiciones de exposición subinhibitoria al etambutol, implementar y validar una estrategia DIA con robustez cuantitativa y cobertura adecuada, obtener perfiles proteómicos de células control y tratadas, identificar proteínas diferencialmente abundantes, analizar funcionalmente esos cambios y comparar la profundidad de cobertura alcanzada por DIA frente al DDA que ya venía usando el laboratorio.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cuanto al cronograma, el proyecto está organizado en etapas secuenciales que incluyen revisión bibliográfica, definición de condiciones subinhibitorias, optimización de extracción, puesta a punto del método DIA, generación de muestras, adquisición por LC-MS/MS, procesamiento y análisis, comparación con el dataset previo, integración biológica y redacción del manuscrito.</a:t>
            </a:r>
          </a:p>
          <a:p/>
          <a:p>
            <a:r>
              <a:t>Ahora voy a pasar a presentar y discutir los primeros resultados obtenidos.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definir las concentraciones subinhibitorias primero era necesario determinar la MIC del etambutol en el sistema de trabajo. Se ensayó el antibiótico en dos medios, CGXII y BHI, con diluciones seriadas entre 0,25 y 512 microgramos por mililitro, a 16 horas de incubación, por triplicado biológico y lectura de OD600. En BHI, el ensayo permitió observar una inhibición clara dependiente de la concentración. El control positivo corregido por blanco fue 0,419 y el control negativo 0,009, lo que da una razón de señal de 45 veces; además, el etambutol no aportó absorbancia relevante a 600 nm en el rango ensayado, por lo que la corrección global por blanco no introdujo sesgo apreciable.</a:t>
            </a:r>
          </a:p>
          <a:p/>
          <a:p>
            <a:r>
              <a:t>Sin embargo, el punto más diluido todavía no alcanzó el plateau superior de crecimiento. A 0,25 microgramos por mililitro, la media de OD600 llegó solo a 0,166, es decir aproximadamente 39,6 por ciento del control positivo, mientras que entre 32 y 512 microgramos por mililitro la inhibición fue casi total. Eso significa que la zona de transición fue detectada, pero la curva no quedó completa en ambos extremos y, por lo tanto, no es posible estimar una MIC robusta con este rango de concentraciones. En CGXII, en cambio, no se obtuvo crecimiento suficiente ni en el control positivo dentro del tiempo esperado. La hipótesis técnica es que, en este medio mínimo, C. glutamicum requiere mejor aireación. El siguiente paso es reducir el volumen a 100 µL y aumentar la agitación para obtener crecimiento dentro de la ventana EUCAST de 16 a 20 horas.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segundo eje del proyecto es la optimización del método DIA. Para eso se está construyendo una estrategia de evaluación basada en un estándar mixto, siguiendo un enfoque reportado por Frey y colaboradores para comparar desempeño cuantitativo en proteómica. La lógica es establecer un método cuantitativo que pueda sustituir al DDA en este tipo de análisis comparativos, puesto que su implementación todavía requiere puesta a punto local y normalización analítica.</a:t>
            </a:r>
          </a:p>
          <a:p/>
          <a:p>
            <a:r>
              <a:t>Se prepararon dos condiciones de mezcla: una con 70% de material humano, 20% de E. coli y 10% de S. cerevisiae, y otra con las proporciones de E. coli y S. cerevisiae invertidas. Entre ambas condiciones se espera aproximadamente el doble de señal para las proteínas de S. cerevisiae y la mitad para las de E. coli, mientras que la fracción humana debería permanecer estable. Esta estrategia se evaluó primero en adquisición DDA para validar la mezcla antes de trasladarla a DIA.</a:t>
            </a:r>
          </a:p>
          <a:p/>
          <a:p>
            <a:r>
              <a:t>Los controles iniciales fueron consistentes: cromatograma compatible con un proteoma global, factores de normalización con intensidades totales comparables entre corridas, y número de espectros consecuente con una carga de 1 microgramo. La cuantificación se realizó mediante XIC, integrando el área bajo la curva de cada precursor. El siguiente paso inmediato es calcular los fold changes observados y comparar su distribución con los esperados según la composición de la mezcla. Si la población de proteínas no se agrupa cerca del valor esperado, habrá que ajustar el método antes de trasladarlo a DIA.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partir de acá, los próximos pasos quedan mejor definidos. En primer lugar, terminar de resolver la MIC en BHI y repetir el enfoque en CGXII con condiciones de cultivo más favorables para definir una concentración subinhibitoria operativa. En segundo lugar, completar el análisis cuantitativo de la mezcla multiespecie, calcular los fold changes observados y compararlos con los esperados para evaluar qué tan bien está cuantificando la estrategia actual. A partir de eso, ajustar los parámetros necesarios y trasladar esa optimización al método DIA definitivo. Recién una vez resueltos esos dos puntos se avanzará con la generación de muestras biológicas de C. glutamicum control y tratadas con etambutol en CGXII para la adquisición proteómica comparativa. El trabajo inmediato no pasa solo por generar más datos, sino por asegurar dos condiciones previas: una exposición biológica bien definida y una plataforma cuantitativa correctamente calibrada.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B8A"/>
          </a:solidFill>
          <a:ln w="12700">
            <a:solidFill>
              <a:srgbClr val="1A6B8A"/>
            </a:solidFill>
            <a:prstDash val="solid"/>
          </a:ln>
        </p:spPr>
      </p:sp>
      <p:sp>
        <p:nvSpPr>
          <p:cNvPr id="3" name="Text 1"/>
          <p:cNvSpPr/>
          <p:nvPr/>
        </p:nvSpPr>
        <p:spPr>
          <a:xfrm>
            <a:off x="457200" y="731520"/>
            <a:ext cx="8412480" cy="320040"/>
          </a:xfrm>
          <a:prstGeom prst="rect">
            <a:avLst/>
          </a:prstGeom>
          <a:noFill/>
          <a:ln/>
        </p:spPr>
        <p:txBody>
          <a:bodyPr wrap="square" rtlCol="0" anchor="ctr"/>
          <a:lstStyle/>
          <a:p>
            <a:pPr indent="0" marL="0">
              <a:buNone/>
            </a:pPr>
            <a:r>
              <a:rPr lang="en-US" sz="1000" spc="300" kern="0" dirty="0">
                <a:solidFill>
                  <a:srgbClr val="0EA5E9"/>
                </a:solidFill>
                <a:latin typeface="Calibri" pitchFamily="34" charset="0"/>
                <a:ea typeface="Calibri" pitchFamily="34" charset="-122"/>
                <a:cs typeface="Calibri" pitchFamily="34" charset="-120"/>
              </a:rPr>
              <a:t>TRABAJO FINAL DE CARRERA – AVANCE</a:t>
            </a:r>
            <a:endParaRPr lang="en-US" sz="1000" dirty="0"/>
          </a:p>
        </p:txBody>
      </p:sp>
      <p:sp>
        <p:nvSpPr>
          <p:cNvPr id="4" name="Text 2"/>
          <p:cNvSpPr/>
          <p:nvPr/>
        </p:nvSpPr>
        <p:spPr>
          <a:xfrm>
            <a:off x="457200" y="1143000"/>
            <a:ext cx="8412480" cy="2560320"/>
          </a:xfrm>
          <a:prstGeom prst="rect">
            <a:avLst/>
          </a:prstGeom>
          <a:noFill/>
          <a:ln/>
        </p:spPr>
        <p:txBody>
          <a:bodyPr wrap="square" rtlCol="0" anchor="ctr"/>
          <a:lstStyle/>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Nuevas perspectivas sobre el efecto</a:t>
            </a:r>
            <a:endParaRPr lang="en-US" sz="2400" dirty="0"/>
          </a:p>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biológico del etambutol en Mycobacteriales</a:t>
            </a:r>
            <a:endParaRPr lang="en-US" sz="2400" dirty="0"/>
          </a:p>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a partir de proteómica cuantitativa</a:t>
            </a:r>
            <a:endParaRPr lang="en-US" sz="2400" dirty="0"/>
          </a:p>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basada en adquisición independiente</a:t>
            </a:r>
            <a:endParaRPr lang="en-US" sz="2400" dirty="0"/>
          </a:p>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de datos (DIA)</a:t>
            </a:r>
            <a:endParaRPr lang="en-US" sz="2400" dirty="0"/>
          </a:p>
        </p:txBody>
      </p:sp>
      <p:sp>
        <p:nvSpPr>
          <p:cNvPr id="5" name="Shape 3"/>
          <p:cNvSpPr/>
          <p:nvPr/>
        </p:nvSpPr>
        <p:spPr>
          <a:xfrm>
            <a:off x="457200" y="3840480"/>
            <a:ext cx="3200400" cy="0"/>
          </a:xfrm>
          <a:prstGeom prst="line">
            <a:avLst/>
          </a:prstGeom>
          <a:noFill/>
          <a:ln w="12700">
            <a:solidFill>
              <a:srgbClr val="2889AD"/>
            </a:solidFill>
            <a:prstDash val="solid"/>
          </a:ln>
        </p:spPr>
      </p:sp>
      <p:sp>
        <p:nvSpPr>
          <p:cNvPr id="6" name="Text 4"/>
          <p:cNvSpPr/>
          <p:nvPr/>
        </p:nvSpPr>
        <p:spPr>
          <a:xfrm>
            <a:off x="457200" y="3977640"/>
            <a:ext cx="84124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Nazareno Cabrera</a:t>
            </a:r>
            <a:pPr indent="0" marL="0">
              <a:buNone/>
            </a:pPr>
            <a:r>
              <a:rPr lang="en-US" sz="1200" dirty="0">
                <a:solidFill>
                  <a:srgbClr val="FFFFFF"/>
                </a:solidFill>
                <a:latin typeface="Calibri" pitchFamily="34" charset="0"/>
                <a:ea typeface="Calibri" pitchFamily="34" charset="-122"/>
                <a:cs typeface="Calibri" pitchFamily="34" charset="-120"/>
              </a:rPr>
              <a:t>  ·  Ingeniería en Biotecnología</a:t>
            </a:r>
            <a:endParaRPr lang="en-US" sz="1200" dirty="0"/>
          </a:p>
        </p:txBody>
      </p:sp>
      <p:sp>
        <p:nvSpPr>
          <p:cNvPr id="7" name="Text 5"/>
          <p:cNvSpPr/>
          <p:nvPr/>
        </p:nvSpPr>
        <p:spPr>
          <a:xfrm>
            <a:off x="457200" y="4279392"/>
            <a:ext cx="8412480" cy="228600"/>
          </a:xfrm>
          <a:prstGeom prst="rect">
            <a:avLst/>
          </a:prstGeom>
          <a:noFill/>
          <a:ln/>
        </p:spPr>
        <p:txBody>
          <a:bodyPr wrap="square" rtlCol="0" anchor="ctr"/>
          <a:lstStyle/>
          <a:p>
            <a:pPr indent="0" marL="0">
              <a:buNone/>
            </a:pPr>
            <a:r>
              <a:rPr lang="en-US" sz="1000" dirty="0">
                <a:solidFill>
                  <a:srgbClr val="AABCCC"/>
                </a:solidFill>
                <a:latin typeface="Calibri" pitchFamily="34" charset="0"/>
                <a:ea typeface="Calibri" pitchFamily="34" charset="-122"/>
                <a:cs typeface="Calibri" pitchFamily="34" charset="-120"/>
              </a:rPr>
              <a:t>Tutor: Alejandro Leyva  |  Unidad de Proteómica y Bioquímica Analíticas, Institut Pasteur de Montevideo</a:t>
            </a:r>
            <a:endParaRPr lang="en-US" sz="1000" dirty="0"/>
          </a:p>
        </p:txBody>
      </p:sp>
      <p:sp>
        <p:nvSpPr>
          <p:cNvPr id="8" name="Text 6"/>
          <p:cNvSpPr/>
          <p:nvPr/>
        </p:nvSpPr>
        <p:spPr>
          <a:xfrm>
            <a:off x="457200" y="4553712"/>
            <a:ext cx="8412480" cy="228600"/>
          </a:xfrm>
          <a:prstGeom prst="rect">
            <a:avLst/>
          </a:prstGeom>
          <a:noFill/>
          <a:ln/>
        </p:spPr>
        <p:txBody>
          <a:bodyPr wrap="square" rtlCol="0" anchor="ctr"/>
          <a:lstStyle/>
          <a:p>
            <a:pPr indent="0" marL="0">
              <a:buNone/>
            </a:pPr>
            <a:r>
              <a:rPr lang="en-US" sz="1000" dirty="0">
                <a:solidFill>
                  <a:srgbClr val="AABCCC"/>
                </a:solidFill>
                <a:latin typeface="Calibri" pitchFamily="34" charset="0"/>
                <a:ea typeface="Calibri" pitchFamily="34" charset="-122"/>
                <a:cs typeface="Calibri" pitchFamily="34" charset="-120"/>
              </a:rPr>
              <a:t>Abril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t" lIns="28800" rIns="28800" tIns="28800" bIns="28800"/>
          <a:lstStyle/>
          <a:p>
            <a:pPr indent="0" marL="0" algn="l">
              <a:buNone/>
            </a:pPr>
            <a:r>
              <a:rPr sz="1600" b="1" i="0">
                <a:solidFill>
                  <a:srgbClr val="1B4965"/>
                </a:solidFill>
                <a:latin typeface="Calibri"/>
              </a:rPr>
              <a:t>TUBERCULOSIS Y MULTIRRESISTENCIA</a:t>
            </a:r>
            <a:endParaRPr lang="en-US" sz="800" dirty="0"/>
          </a:p>
        </p:txBody>
      </p:sp>
      <p:sp>
        <p:nvSpPr>
          <p:cNvPr id="3" name="Text 1"/>
          <p:cNvSpPr/>
          <p:nvPr/>
        </p:nvSpPr>
        <p:spPr>
          <a:xfrm>
            <a:off x="457200" y="502920"/>
            <a:ext cx="8229600" cy="502920"/>
          </a:xfrm>
          <a:prstGeom prst="rect">
            <a:avLst/>
          </a:prstGeom>
          <a:noFill/>
          <a:ln/>
        </p:spPr>
        <p:txBody>
          <a:bodyPr wrap="square" rtlCol="0" anchor="t" lIns="28800" rIns="28800" tIns="28800" bIns="28800"/>
          <a:lstStyle/>
          <a:p>
            <a:pPr indent="0" marL="0" algn="l">
              <a:buNone/>
            </a:pPr>
            <a:r>
              <a:rPr sz="2400" b="1" i="0">
                <a:solidFill>
                  <a:srgbClr val="1A1A1A"/>
                </a:solidFill>
                <a:latin typeface="Calibri"/>
              </a:rPr>
              <a:t>La magnitud del problema justifica seguir buscando nuevos blancos terapéuticos</a:t>
            </a:r>
            <a:endParaRPr lang="en-US" sz="2600" dirty="0"/>
          </a:p>
        </p:txBody>
      </p:sp>
      <p:sp>
        <p:nvSpPr>
          <p:cNvPr id="4" name="Shape 2"/>
          <p:cNvSpPr/>
          <p:nvPr/>
        </p:nvSpPr>
        <p:spPr>
          <a:xfrm>
            <a:off x="365760" y="1417320"/>
            <a:ext cx="3931920" cy="338328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Text 3"/>
          <p:cNvSpPr/>
          <p:nvPr/>
        </p:nvSpPr>
        <p:spPr>
          <a:xfrm>
            <a:off x="502920" y="1508760"/>
            <a:ext cx="3657600" cy="292608"/>
          </a:xfrm>
          <a:prstGeom prst="rect">
            <a:avLst/>
          </a:prstGeom>
          <a:noFill/>
          <a:ln/>
        </p:spPr>
        <p:txBody>
          <a:bodyPr wrap="square" rtlCol="0" anchor="ctr"/>
          <a:lstStyle/>
          <a:p/>
        </p:txBody>
      </p:sp>
      <p:sp>
        <p:nvSpPr>
          <p:cNvPr id="6" name="Text 4"/>
          <p:cNvSpPr/>
          <p:nvPr/>
        </p:nvSpPr>
        <p:spPr>
          <a:xfrm>
            <a:off x="502920" y="1874520"/>
            <a:ext cx="3657600" cy="2743200"/>
          </a:xfrm>
          <a:prstGeom prst="rect">
            <a:avLst/>
          </a:prstGeom>
          <a:noFill/>
          <a:ln/>
        </p:spPr>
        <p:txBody>
          <a:bodyPr wrap="square" rtlCol="0" anchor="ctr"/>
          <a:lstStyle/>
          <a:p/>
        </p:txBody>
      </p:sp>
      <p:sp>
        <p:nvSpPr>
          <p:cNvPr id="7" name="Shape 5"/>
          <p:cNvSpPr/>
          <p:nvPr/>
        </p:nvSpPr>
        <p:spPr>
          <a:xfrm>
            <a:off x="4572000" y="1417320"/>
            <a:ext cx="3931920" cy="3383280"/>
          </a:xfrm>
          <a:prstGeom prst="rect">
            <a:avLst/>
          </a:prstGeom>
          <a:solidFill>
            <a:srgbClr val="FFF7ED"/>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Shape 6"/>
          <p:cNvSpPr/>
          <p:nvPr/>
        </p:nvSpPr>
        <p:spPr>
          <a:xfrm>
            <a:off x="4572000" y="1417320"/>
            <a:ext cx="3931920" cy="73152"/>
          </a:xfrm>
          <a:prstGeom prst="rect">
            <a:avLst/>
          </a:prstGeom>
          <a:solidFill>
            <a:srgbClr val="D97706"/>
          </a:solidFill>
          <a:ln w="12700">
            <a:solidFill>
              <a:srgbClr val="D97706"/>
            </a:solidFill>
            <a:prstDash val="solid"/>
          </a:ln>
        </p:spPr>
      </p:sp>
      <p:sp>
        <p:nvSpPr>
          <p:cNvPr id="9" name="Text 7"/>
          <p:cNvSpPr/>
          <p:nvPr/>
        </p:nvSpPr>
        <p:spPr>
          <a:xfrm>
            <a:off x="4709160" y="1508760"/>
            <a:ext cx="3657600" cy="292608"/>
          </a:xfrm>
          <a:prstGeom prst="rect">
            <a:avLst/>
          </a:prstGeom>
          <a:noFill/>
          <a:ln/>
        </p:spPr>
        <p:txBody>
          <a:bodyPr wrap="square" rtlCol="0" anchor="ctr"/>
          <a:lstStyle/>
          <a:p/>
        </p:txBody>
      </p:sp>
      <p:sp>
        <p:nvSpPr>
          <p:cNvPr id="10" name="Text 8"/>
          <p:cNvSpPr/>
          <p:nvPr/>
        </p:nvSpPr>
        <p:spPr>
          <a:xfrm>
            <a:off x="4709160" y="1874520"/>
            <a:ext cx="3657600" cy="2743200"/>
          </a:xfrm>
          <a:prstGeom prst="rect">
            <a:avLst/>
          </a:prstGeom>
          <a:noFill/>
          <a:ln/>
        </p:spPr>
        <p:txBody>
          <a:bodyPr wrap="square" rtlCol="0" anchor="ctr"/>
          <a:lstStyle/>
          <a:p/>
        </p:txBody>
      </p:sp>
      <p:sp>
        <p:nvSpPr>
          <p:cNvPr id="11" name="TextBox 10"/>
          <p:cNvSpPr txBox="1"/>
          <p:nvPr/>
        </p:nvSpPr>
        <p:spPr>
          <a:xfrm>
            <a:off x="864000" y="1638000"/>
            <a:ext cx="2520000" cy="432000"/>
          </a:xfrm>
          <a:prstGeom prst="rect">
            <a:avLst/>
          </a:prstGeom>
          <a:noFill/>
        </p:spPr>
        <p:txBody>
          <a:bodyPr wrap="square" lIns="18000" rIns="18000" tIns="18000" bIns="18000" anchor="t">
            <a:spAutoFit/>
          </a:bodyPr>
          <a:lstStyle/>
          <a:p>
            <a:pPr algn="ctr"/>
            <a:r>
              <a:rPr sz="3400" b="1" i="0">
                <a:solidFill>
                  <a:srgbClr val="1B4965"/>
                </a:solidFill>
                <a:latin typeface="Calibri"/>
              </a:rPr>
              <a:t>1,25 M</a:t>
            </a:r>
          </a:p>
        </p:txBody>
      </p:sp>
      <p:sp>
        <p:nvSpPr>
          <p:cNvPr id="12" name="TextBox 11"/>
          <p:cNvSpPr txBox="1"/>
          <p:nvPr/>
        </p:nvSpPr>
        <p:spPr>
          <a:xfrm>
            <a:off x="827999" y="2088000"/>
            <a:ext cx="2592000" cy="216000"/>
          </a:xfrm>
          <a:prstGeom prst="rect">
            <a:avLst/>
          </a:prstGeom>
          <a:noFill/>
        </p:spPr>
        <p:txBody>
          <a:bodyPr wrap="square" lIns="18000" rIns="18000" tIns="18000" bIns="18000" anchor="t">
            <a:spAutoFit/>
          </a:bodyPr>
          <a:lstStyle/>
          <a:p>
            <a:pPr algn="ctr"/>
            <a:r>
              <a:rPr sz="1350" b="0" i="0">
                <a:solidFill>
                  <a:srgbClr val="4A4A4A"/>
                </a:solidFill>
                <a:latin typeface="Calibri"/>
              </a:rPr>
              <a:t>muertes por TB en 2023</a:t>
            </a:r>
          </a:p>
        </p:txBody>
      </p:sp>
      <p:sp>
        <p:nvSpPr>
          <p:cNvPr id="13" name="Rectangle 12"/>
          <p:cNvSpPr/>
          <p:nvPr/>
        </p:nvSpPr>
        <p:spPr>
          <a:xfrm>
            <a:off x="612000" y="2512800"/>
            <a:ext cx="64800" cy="6480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999" y="2448000"/>
            <a:ext cx="3042000" cy="270000"/>
          </a:xfrm>
          <a:prstGeom prst="rect">
            <a:avLst/>
          </a:prstGeom>
          <a:noFill/>
        </p:spPr>
        <p:txBody>
          <a:bodyPr wrap="square" lIns="0" rIns="0" tIns="0" bIns="0" anchor="t">
            <a:spAutoFit/>
          </a:bodyPr>
          <a:lstStyle/>
          <a:p>
            <a:pPr algn="l"/>
            <a:r>
              <a:rPr sz="1160" b="0" i="0">
                <a:solidFill>
                  <a:srgbClr val="1A1A1A"/>
                </a:solidFill>
                <a:latin typeface="Calibri"/>
              </a:rPr>
              <a:t>Principal causa infecciosa de muerte por un solo agente</a:t>
            </a:r>
          </a:p>
        </p:txBody>
      </p:sp>
      <p:sp>
        <p:nvSpPr>
          <p:cNvPr id="15" name="Rectangle 14"/>
          <p:cNvSpPr/>
          <p:nvPr/>
        </p:nvSpPr>
        <p:spPr>
          <a:xfrm>
            <a:off x="612000" y="2872800"/>
            <a:ext cx="64800" cy="6480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7999" y="2808000"/>
            <a:ext cx="3042000" cy="270000"/>
          </a:xfrm>
          <a:prstGeom prst="rect">
            <a:avLst/>
          </a:prstGeom>
          <a:noFill/>
        </p:spPr>
        <p:txBody>
          <a:bodyPr wrap="square" lIns="0" rIns="0" tIns="0" bIns="0" anchor="t">
            <a:spAutoFit/>
          </a:bodyPr>
          <a:lstStyle/>
          <a:p>
            <a:pPr algn="l"/>
            <a:r>
              <a:rPr sz="1160" b="0" i="0">
                <a:solidFill>
                  <a:srgbClr val="1A1A1A"/>
                </a:solidFill>
                <a:latin typeface="Calibri"/>
              </a:rPr>
              <a:t>Tratamiento disponible, pero baja adherencia y duración prolongada</a:t>
            </a:r>
          </a:p>
        </p:txBody>
      </p:sp>
      <p:sp>
        <p:nvSpPr>
          <p:cNvPr id="17" name="Rectangle 16"/>
          <p:cNvSpPr/>
          <p:nvPr/>
        </p:nvSpPr>
        <p:spPr>
          <a:xfrm>
            <a:off x="612000" y="3232800"/>
            <a:ext cx="64800" cy="6480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7999" y="3168000"/>
            <a:ext cx="3042000" cy="270000"/>
          </a:xfrm>
          <a:prstGeom prst="rect">
            <a:avLst/>
          </a:prstGeom>
          <a:noFill/>
        </p:spPr>
        <p:txBody>
          <a:bodyPr wrap="square" lIns="0" rIns="0" tIns="0" bIns="0" anchor="t">
            <a:spAutoFit/>
          </a:bodyPr>
          <a:lstStyle/>
          <a:p>
            <a:pPr algn="l"/>
            <a:r>
              <a:rPr sz="1160" b="0" i="0">
                <a:solidFill>
                  <a:srgbClr val="1A1A1A"/>
                </a:solidFill>
                <a:latin typeface="Calibri"/>
              </a:rPr>
              <a:t>MDR-TB y XDR-TB: esquemas más largos, tóxicos y menos eficaces</a:t>
            </a:r>
          </a:p>
        </p:txBody>
      </p:sp>
      <p:graphicFrame>
        <p:nvGraphicFramePr>
          <p:cNvPr id="19" name="Table 18"/>
          <p:cNvGraphicFramePr>
            <a:graphicFrameLocks noGrp="1"/>
          </p:cNvGraphicFramePr>
          <p:nvPr/>
        </p:nvGraphicFramePr>
        <p:xfrm>
          <a:off x="4860000" y="1620000"/>
          <a:ext cx="3348000" cy="1728000"/>
        </p:xfrm>
        <a:graphic>
          <a:graphicData uri="http://schemas.openxmlformats.org/drawingml/2006/table">
            <a:tbl>
              <a:tblPr firstRow="1" bandRow="1">
                <a:tableStyleId>{5C22544A-7EE6-4342-B048-85BDC9FD1C3A}</a:tableStyleId>
              </a:tblPr>
              <a:tblGrid>
                <a:gridCol w="1584000"/>
                <a:gridCol w="1764000"/>
              </a:tblGrid>
              <a:tr h="576000">
                <a:tc>
                  <a:txBody>
                    <a:bodyPr/>
                    <a:lstStyle/>
                    <a:p>
                      <a:pPr algn="ctr"/>
                      <a:r>
                        <a:rPr sz="1060" b="1">
                          <a:solidFill>
                            <a:srgbClr val="1B4965"/>
                          </a:solidFill>
                          <a:latin typeface="Calibri"/>
                        </a:rPr>
                        <a:t>Situación global</a:t>
                      </a:r>
                    </a:p>
                  </a:txBody>
                  <a:tcPr>
                    <a:solidFill>
                      <a:srgbClr val="EBF3F8"/>
                    </a:solidFill>
                  </a:tcPr>
                </a:tc>
                <a:tc>
                  <a:txBody>
                    <a:bodyPr/>
                    <a:lstStyle/>
                    <a:p>
                      <a:pPr algn="ctr"/>
                      <a:r>
                        <a:rPr sz="1060" b="1">
                          <a:solidFill>
                            <a:srgbClr val="1B4965"/>
                          </a:solidFill>
                          <a:latin typeface="Calibri"/>
                        </a:rPr>
                        <a:t>Uruguay</a:t>
                      </a:r>
                    </a:p>
                  </a:txBody>
                  <a:tcPr>
                    <a:solidFill>
                      <a:srgbClr val="EBF3F8"/>
                    </a:solidFill>
                  </a:tcPr>
                </a:tc>
              </a:tr>
              <a:tr h="576000">
                <a:tc>
                  <a:txBody>
                    <a:bodyPr/>
                    <a:lstStyle/>
                    <a:p>
                      <a:pPr algn="l"/>
                      <a:r>
                        <a:rPr sz="1060" b="0">
                          <a:solidFill>
                            <a:srgbClr val="1A1A1A"/>
                          </a:solidFill>
                          <a:latin typeface="Calibri"/>
                        </a:rPr>
                        <a:t>~10 millones de casos/año</a:t>
                      </a:r>
                    </a:p>
                  </a:txBody>
                  <a:tcPr>
                    <a:solidFill>
                      <a:srgbClr val="EBF3F8"/>
                    </a:solidFill>
                  </a:tcPr>
                </a:tc>
                <a:tc>
                  <a:txBody>
                    <a:bodyPr/>
                    <a:lstStyle/>
                    <a:p>
                      <a:pPr algn="l"/>
                      <a:r>
                        <a:rPr sz="1060" b="0">
                          <a:solidFill>
                            <a:srgbClr val="1A1A1A"/>
                          </a:solidFill>
                          <a:latin typeface="Calibri"/>
                        </a:rPr>
                        <a:t>Mortalidad por encima del promedio regional</a:t>
                      </a:r>
                    </a:p>
                  </a:txBody>
                  <a:tcPr>
                    <a:solidFill>
                      <a:srgbClr val="EBF3F8"/>
                    </a:solidFill>
                  </a:tcPr>
                </a:tc>
              </a:tr>
              <a:tr h="576000">
                <a:tc>
                  <a:txBody>
                    <a:bodyPr/>
                    <a:lstStyle/>
                    <a:p>
                      <a:pPr algn="l"/>
                      <a:r>
                        <a:rPr sz="1060" b="0">
                          <a:solidFill>
                            <a:srgbClr val="1A1A1A"/>
                          </a:solidFill>
                          <a:latin typeface="Calibri"/>
                        </a:rPr>
                        <a:t>~22% de casos con resistencia</a:t>
                      </a:r>
                    </a:p>
                  </a:txBody>
                  <a:tcPr>
                    <a:solidFill>
                      <a:srgbClr val="EBF3F8"/>
                    </a:solidFill>
                  </a:tcPr>
                </a:tc>
                <a:tc>
                  <a:txBody>
                    <a:bodyPr/>
                    <a:lstStyle/>
                    <a:p>
                      <a:pPr algn="l"/>
                      <a:r>
                        <a:rPr sz="1060" b="0">
                          <a:solidFill>
                            <a:srgbClr val="1A1A1A"/>
                          </a:solidFill>
                          <a:latin typeface="Calibri"/>
                        </a:rPr>
                        <a:t>Carga significativa y persistente</a:t>
                      </a:r>
                    </a:p>
                  </a:txBody>
                  <a:tcPr>
                    <a:solidFill>
                      <a:srgbClr val="EBF3F8"/>
                    </a:solidFill>
                  </a:tcPr>
                </a:tc>
              </a:tr>
            </a:tbl>
          </a:graphicData>
        </a:graphic>
      </p:graphicFrame>
      <p:sp>
        <p:nvSpPr>
          <p:cNvPr id="20" name="TextBox 19"/>
          <p:cNvSpPr txBox="1"/>
          <p:nvPr/>
        </p:nvSpPr>
        <p:spPr>
          <a:xfrm>
            <a:off x="4896000" y="3456000"/>
            <a:ext cx="1980000" cy="125999"/>
          </a:xfrm>
          <a:prstGeom prst="rect">
            <a:avLst/>
          </a:prstGeom>
          <a:noFill/>
        </p:spPr>
        <p:txBody>
          <a:bodyPr wrap="square" lIns="18000" rIns="18000" tIns="18000" bIns="18000" anchor="t">
            <a:spAutoFit/>
          </a:bodyPr>
          <a:lstStyle/>
          <a:p>
            <a:pPr algn="l"/>
            <a:r>
              <a:rPr sz="880" b="0" i="1">
                <a:solidFill>
                  <a:srgbClr val="4A4A4A"/>
                </a:solidFill>
                <a:latin typeface="Calibri"/>
              </a:rPr>
              <a:t>Fuente: WHO Global TB Report 2024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t" lIns="28800" rIns="28800" tIns="28800" bIns="28800"/>
          <a:lstStyle/>
          <a:p>
            <a:pPr indent="0" marL="0" algn="l">
              <a:buNone/>
            </a:pPr>
            <a:r>
              <a:rPr sz="1600" b="1" i="0">
                <a:solidFill>
                  <a:srgbClr val="1B4965"/>
                </a:solidFill>
                <a:latin typeface="Calibri"/>
              </a:rPr>
              <a:t>ETAMBUTOL: MECANISMO CONOCIDO Y EFECTOS NO EXPLICADOS</a:t>
            </a:r>
            <a:endParaRPr lang="en-US" sz="800" dirty="0"/>
          </a:p>
        </p:txBody>
      </p:sp>
      <p:sp>
        <p:nvSpPr>
          <p:cNvPr id="3" name="Text 1"/>
          <p:cNvSpPr/>
          <p:nvPr/>
        </p:nvSpPr>
        <p:spPr>
          <a:xfrm>
            <a:off x="457200" y="502920"/>
            <a:ext cx="8229600" cy="502920"/>
          </a:xfrm>
          <a:prstGeom prst="rect">
            <a:avLst/>
          </a:prstGeom>
          <a:noFill/>
          <a:ln/>
        </p:spPr>
        <p:txBody>
          <a:bodyPr wrap="square" rtlCol="0" anchor="t" lIns="28800" rIns="28800" tIns="28800" bIns="28800"/>
          <a:lstStyle/>
          <a:p>
            <a:pPr indent="0" marL="0" algn="l">
              <a:buNone/>
            </a:pPr>
            <a:r>
              <a:rPr sz="2400" b="1" i="0">
                <a:solidFill>
                  <a:srgbClr val="1A1A1A"/>
                </a:solidFill>
                <a:latin typeface="Calibri"/>
              </a:rPr>
              <a:t>El mecanismo clásico no explica completamente la amplitud del efecto biológico del fármaco</a:t>
            </a:r>
            <a:endParaRPr lang="en-US" sz="2600" dirty="0"/>
          </a:p>
        </p:txBody>
      </p:sp>
      <p:sp>
        <p:nvSpPr>
          <p:cNvPr id="4" name="Shape 2"/>
          <p:cNvSpPr/>
          <p:nvPr/>
        </p:nvSpPr>
        <p:spPr>
          <a:xfrm>
            <a:off x="365760" y="1417320"/>
            <a:ext cx="8412480" cy="141732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Text 3"/>
          <p:cNvSpPr/>
          <p:nvPr/>
        </p:nvSpPr>
        <p:spPr>
          <a:xfrm>
            <a:off x="548640" y="1508760"/>
            <a:ext cx="3657600" cy="274320"/>
          </a:xfrm>
          <a:prstGeom prst="rect">
            <a:avLst/>
          </a:prstGeom>
          <a:noFill/>
          <a:ln/>
        </p:spPr>
        <p:txBody>
          <a:bodyPr wrap="square" rtlCol="0" anchor="t" lIns="28800" rIns="28800" tIns="28800" bIns="28800"/>
          <a:lstStyle/>
          <a:p>
            <a:pPr indent="0" marL="0" algn="l">
              <a:buNone/>
            </a:pPr>
            <a:r>
              <a:rPr sz="1400" b="1" i="0">
                <a:solidFill>
                  <a:srgbClr val="1B4965"/>
                </a:solidFill>
                <a:latin typeface="Calibri"/>
              </a:rPr>
              <a:t>Mecanismo clásico</a:t>
            </a:r>
            <a:endParaRPr lang="en-US" sz="1100" dirty="0"/>
          </a:p>
        </p:txBody>
      </p:sp>
      <p:sp>
        <p:nvSpPr>
          <p:cNvPr id="6" name="Text 4"/>
          <p:cNvSpPr/>
          <p:nvPr/>
        </p:nvSpPr>
        <p:spPr>
          <a:xfrm>
            <a:off x="548640" y="1810512"/>
            <a:ext cx="8046720" cy="731520"/>
          </a:xfrm>
          <a:prstGeom prst="rect">
            <a:avLst/>
          </a:prstGeom>
          <a:noFill/>
          <a:ln/>
        </p:spPr>
        <p:txBody>
          <a:bodyPr wrap="square" rtlCol="0" anchor="ctr"/>
          <a:lstStyle/>
          <a:p/>
        </p:txBody>
      </p:sp>
      <p:sp>
        <p:nvSpPr>
          <p:cNvPr id="7" name="Shape 5"/>
          <p:cNvSpPr/>
          <p:nvPr/>
        </p:nvSpPr>
        <p:spPr>
          <a:xfrm>
            <a:off x="365760" y="3017520"/>
            <a:ext cx="4023360" cy="16916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Shape 6"/>
          <p:cNvSpPr/>
          <p:nvPr/>
        </p:nvSpPr>
        <p:spPr>
          <a:xfrm>
            <a:off x="365760" y="3017520"/>
            <a:ext cx="4023360" cy="64008"/>
          </a:xfrm>
          <a:prstGeom prst="rect">
            <a:avLst/>
          </a:prstGeom>
          <a:solidFill>
            <a:srgbClr val="DC2626"/>
          </a:solidFill>
          <a:ln w="12700">
            <a:solidFill>
              <a:srgbClr val="DC2626"/>
            </a:solidFill>
            <a:prstDash val="solid"/>
          </a:ln>
        </p:spPr>
      </p:sp>
      <p:sp>
        <p:nvSpPr>
          <p:cNvPr id="9" name="Text 7"/>
          <p:cNvSpPr/>
          <p:nvPr/>
        </p:nvSpPr>
        <p:spPr>
          <a:xfrm>
            <a:off x="502920" y="3108960"/>
            <a:ext cx="3749040" cy="274320"/>
          </a:xfrm>
          <a:prstGeom prst="rect">
            <a:avLst/>
          </a:prstGeom>
          <a:noFill/>
          <a:ln/>
        </p:spPr>
        <p:txBody>
          <a:bodyPr wrap="square" rtlCol="0" anchor="ctr"/>
          <a:lstStyle/>
          <a:p/>
        </p:txBody>
      </p:sp>
      <p:sp>
        <p:nvSpPr>
          <p:cNvPr id="10" name="Text 8"/>
          <p:cNvSpPr/>
          <p:nvPr/>
        </p:nvSpPr>
        <p:spPr>
          <a:xfrm>
            <a:off x="502920" y="3410712"/>
            <a:ext cx="3749040" cy="1188720"/>
          </a:xfrm>
          <a:prstGeom prst="rect">
            <a:avLst/>
          </a:prstGeom>
          <a:noFill/>
          <a:ln/>
        </p:spPr>
        <p:txBody>
          <a:bodyPr wrap="square" rtlCol="0" anchor="t" lIns="64800" rIns="64800" tIns="64800" bIns="64800"/>
          <a:lstStyle/>
          <a:p>
            <a:pPr algn="ctr"/>
            <a:r>
              <a:rPr sz="1400" b="0" i="1">
                <a:solidFill>
                  <a:srgbClr val="4A4A4A"/>
                </a:solidFill>
                <a:latin typeface="Calibri"/>
              </a:rPr>
              <a:t>El mecanismo clásico no explica todos los efectos ni todos los mecanismos de resistencia descritos</a:t>
            </a:r>
          </a:p>
        </p:txBody>
      </p:sp>
      <p:sp>
        <p:nvSpPr>
          <p:cNvPr id="11" name="Shape 9"/>
          <p:cNvSpPr/>
          <p:nvPr/>
        </p:nvSpPr>
        <p:spPr>
          <a:xfrm>
            <a:off x="4754880" y="3017520"/>
            <a:ext cx="4023360" cy="16916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2" name="Shape 10"/>
          <p:cNvSpPr/>
          <p:nvPr/>
        </p:nvSpPr>
        <p:spPr>
          <a:xfrm>
            <a:off x="4754880" y="3017520"/>
            <a:ext cx="4023360" cy="64008"/>
          </a:xfrm>
          <a:prstGeom prst="rect">
            <a:avLst/>
          </a:prstGeom>
          <a:solidFill>
            <a:srgbClr val="DC2626"/>
          </a:solidFill>
          <a:ln w="12700">
            <a:solidFill>
              <a:srgbClr val="DC2626"/>
            </a:solidFill>
            <a:prstDash val="solid"/>
          </a:ln>
        </p:spPr>
      </p:sp>
      <p:sp>
        <p:nvSpPr>
          <p:cNvPr id="13" name="Text 11"/>
          <p:cNvSpPr/>
          <p:nvPr/>
        </p:nvSpPr>
        <p:spPr>
          <a:xfrm>
            <a:off x="4892040" y="3108960"/>
            <a:ext cx="3749040" cy="274320"/>
          </a:xfrm>
          <a:prstGeom prst="rect">
            <a:avLst/>
          </a:prstGeom>
          <a:noFill/>
          <a:ln/>
        </p:spPr>
        <p:txBody>
          <a:bodyPr wrap="square" rtlCol="0" anchor="ctr"/>
          <a:lstStyle/>
          <a:p/>
        </p:txBody>
      </p:sp>
      <p:sp>
        <p:nvSpPr>
          <p:cNvPr id="14" name="Text 12"/>
          <p:cNvSpPr/>
          <p:nvPr/>
        </p:nvSpPr>
        <p:spPr>
          <a:xfrm>
            <a:off x="4892040" y="3410712"/>
            <a:ext cx="3749040" cy="1188720"/>
          </a:xfrm>
          <a:prstGeom prst="rect">
            <a:avLst/>
          </a:prstGeom>
          <a:noFill/>
          <a:ln/>
        </p:spPr>
        <p:txBody>
          <a:bodyPr wrap="square" rtlCol="0" anchor="ctr"/>
          <a:lstStyle/>
          <a:p/>
        </p:txBody>
      </p:sp>
      <p:sp>
        <p:nvSpPr>
          <p:cNvPr id="15" name="Rectangle 14"/>
          <p:cNvSpPr/>
          <p:nvPr/>
        </p:nvSpPr>
        <p:spPr>
          <a:xfrm>
            <a:off x="540000" y="1936800"/>
            <a:ext cx="64800" cy="64800"/>
          </a:xfrm>
          <a:prstGeom prst="rect">
            <a:avLst/>
          </a:prstGeom>
          <a:solidFill>
            <a:srgbClr val="A8C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6000" y="1872000"/>
            <a:ext cx="3474000" cy="270000"/>
          </a:xfrm>
          <a:prstGeom prst="rect">
            <a:avLst/>
          </a:prstGeom>
          <a:noFill/>
        </p:spPr>
        <p:txBody>
          <a:bodyPr wrap="square" lIns="0" rIns="0" tIns="0" bIns="0" anchor="t">
            <a:spAutoFit/>
          </a:bodyPr>
          <a:lstStyle/>
          <a:p>
            <a:pPr algn="l"/>
            <a:r>
              <a:rPr sz="1200" b="0" i="0">
                <a:solidFill>
                  <a:srgbClr val="1A1A1A"/>
                </a:solidFill>
                <a:latin typeface="Calibri"/>
              </a:rPr>
              <a:t>Blanco: arabinosiltransferasas (EmbA, EmbB, EmbC)</a:t>
            </a:r>
          </a:p>
        </p:txBody>
      </p:sp>
      <p:sp>
        <p:nvSpPr>
          <p:cNvPr id="17" name="Rectangle 16"/>
          <p:cNvSpPr/>
          <p:nvPr/>
        </p:nvSpPr>
        <p:spPr>
          <a:xfrm>
            <a:off x="540000" y="2278800"/>
            <a:ext cx="64800" cy="64800"/>
          </a:xfrm>
          <a:prstGeom prst="rect">
            <a:avLst/>
          </a:prstGeom>
          <a:solidFill>
            <a:srgbClr val="A8C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6000" y="2214000"/>
            <a:ext cx="3474000" cy="270000"/>
          </a:xfrm>
          <a:prstGeom prst="rect">
            <a:avLst/>
          </a:prstGeom>
          <a:noFill/>
        </p:spPr>
        <p:txBody>
          <a:bodyPr wrap="square" lIns="0" rIns="0" tIns="0" bIns="0" anchor="t">
            <a:spAutoFit/>
          </a:bodyPr>
          <a:lstStyle/>
          <a:p>
            <a:pPr algn="l"/>
            <a:r>
              <a:rPr sz="1200" b="0" i="0">
                <a:solidFill>
                  <a:srgbClr val="1A1A1A"/>
                </a:solidFill>
                <a:latin typeface="Calibri"/>
              </a:rPr>
              <a:t>Inhibe síntesis de arabinogalactano</a:t>
            </a:r>
          </a:p>
        </p:txBody>
      </p:sp>
      <p:sp>
        <p:nvSpPr>
          <p:cNvPr id="19" name="Rectangle 18"/>
          <p:cNvSpPr/>
          <p:nvPr/>
        </p:nvSpPr>
        <p:spPr>
          <a:xfrm>
            <a:off x="540000" y="2620800"/>
            <a:ext cx="64800" cy="64800"/>
          </a:xfrm>
          <a:prstGeom prst="rect">
            <a:avLst/>
          </a:prstGeom>
          <a:solidFill>
            <a:srgbClr val="A8C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6000" y="2556000"/>
            <a:ext cx="3474000" cy="270000"/>
          </a:xfrm>
          <a:prstGeom prst="rect">
            <a:avLst/>
          </a:prstGeom>
          <a:noFill/>
        </p:spPr>
        <p:txBody>
          <a:bodyPr wrap="square" lIns="0" rIns="0" tIns="0" bIns="0" anchor="t">
            <a:spAutoFit/>
          </a:bodyPr>
          <a:lstStyle/>
          <a:p>
            <a:pPr algn="l"/>
            <a:r>
              <a:rPr sz="1200" b="0" i="0">
                <a:solidFill>
                  <a:srgbClr val="1A1A1A"/>
                </a:solidFill>
                <a:latin typeface="Calibri"/>
              </a:rPr>
              <a:t>Afecta integridad de la envoltura celular</a:t>
            </a:r>
          </a:p>
        </p:txBody>
      </p:sp>
      <p:sp>
        <p:nvSpPr>
          <p:cNvPr id="21" name="Rounded Rectangle 20"/>
          <p:cNvSpPr/>
          <p:nvPr/>
        </p:nvSpPr>
        <p:spPr>
          <a:xfrm>
            <a:off x="5868000" y="1692000"/>
            <a:ext cx="2160000" cy="936000"/>
          </a:xfrm>
          <a:prstGeom prst="round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t" wrap="square" lIns="43200" rIns="43200" tIns="43200" bIns="43200"/>
          <a:lstStyle/>
          <a:p>
            <a:pPr algn="ctr"/>
            <a:r>
              <a:rPr sz="2800" b="1" i="0">
                <a:solidFill>
                  <a:srgbClr val="FFFFFF"/>
                </a:solidFill>
                <a:latin typeface="Calibri"/>
              </a:rPr>
              <a:t>192 proteínas alteradas</a:t>
            </a:r>
          </a:p>
          <a:p>
            <a:pPr algn="ctr"/>
            <a:r>
              <a:rPr sz="1500" b="0" i="0">
                <a:solidFill>
                  <a:srgbClr val="A8C5DA"/>
                </a:solidFill>
                <a:latin typeface="Calibri"/>
              </a:rPr>
              <a:t>~20% del proteoma detectado</a:t>
            </a:r>
          </a:p>
          <a:p>
            <a:pPr algn="ctr"/>
            <a:r>
              <a:rPr sz="1050" b="0" i="0">
                <a:solidFill>
                  <a:srgbClr val="A8C5DA"/>
                </a:solidFill>
                <a:latin typeface="Calibri"/>
              </a:rPr>
              <a:t>C. glutamicum | Proteómica DDA | UBYPA</a:t>
            </a:r>
          </a:p>
        </p:txBody>
      </p:sp>
      <p:sp>
        <p:nvSpPr>
          <p:cNvPr id="22" name="Rounded Rectangle 21"/>
          <p:cNvSpPr/>
          <p:nvPr/>
        </p:nvSpPr>
        <p:spPr>
          <a:xfrm>
            <a:off x="4932000" y="3240000"/>
            <a:ext cx="972000" cy="756000"/>
          </a:xfrm>
          <a:prstGeom prst="roundRect">
            <a:avLst/>
          </a:prstGeom>
          <a:solidFill>
            <a:srgbClr val="EBF3F8"/>
          </a:solidFill>
          <a:ln w="12700">
            <a:solidFill>
              <a:srgbClr val="A8C5DA"/>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tIns="72000" bIns="36000"/>
          <a:lstStyle/>
          <a:p>
            <a:pPr algn="ctr"/>
            <a:r>
              <a:rPr sz="1019" b="1">
                <a:solidFill>
                  <a:srgbClr val="1B4965"/>
                </a:solidFill>
                <a:latin typeface="Calibri"/>
              </a:rPr>
              <a:t>Envoltura celular</a:t>
            </a:r>
          </a:p>
          <a:p>
            <a:pPr algn="ctr"/>
            <a:r>
              <a:rPr sz="919">
                <a:solidFill>
                  <a:srgbClr val="4A4A4A"/>
                </a:solidFill>
                <a:latin typeface="Calibri"/>
              </a:rPr>
              <a:t>Blanco clásico</a:t>
            </a:r>
          </a:p>
        </p:txBody>
      </p:sp>
      <p:sp>
        <p:nvSpPr>
          <p:cNvPr id="23" name="Rounded Rectangle 22"/>
          <p:cNvSpPr/>
          <p:nvPr/>
        </p:nvSpPr>
        <p:spPr>
          <a:xfrm>
            <a:off x="6048000" y="3240000"/>
            <a:ext cx="972000" cy="756000"/>
          </a:xfrm>
          <a:prstGeom prst="roundRect">
            <a:avLst/>
          </a:prstGeom>
          <a:solidFill>
            <a:srgbClr val="EBF3F8"/>
          </a:solidFill>
          <a:ln w="12700">
            <a:solidFill>
              <a:srgbClr val="A8C5DA"/>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tIns="72000" bIns="36000"/>
          <a:lstStyle/>
          <a:p>
            <a:pPr algn="ctr"/>
            <a:r>
              <a:rPr sz="1019" b="1">
                <a:solidFill>
                  <a:srgbClr val="1B4965"/>
                </a:solidFill>
                <a:latin typeface="Calibri"/>
              </a:rPr>
              <a:t>Metabolismo intermediario</a:t>
            </a:r>
          </a:p>
          <a:p>
            <a:pPr algn="ctr"/>
            <a:r>
              <a:rPr sz="919">
                <a:solidFill>
                  <a:srgbClr val="4A4A4A"/>
                </a:solidFill>
                <a:latin typeface="Calibri"/>
              </a:rPr>
              <a:t>Efecto reportado</a:t>
            </a:r>
          </a:p>
        </p:txBody>
      </p:sp>
      <p:sp>
        <p:nvSpPr>
          <p:cNvPr id="24" name="Rounded Rectangle 23"/>
          <p:cNvSpPr/>
          <p:nvPr/>
        </p:nvSpPr>
        <p:spPr>
          <a:xfrm>
            <a:off x="7163999" y="3240000"/>
            <a:ext cx="972000" cy="756000"/>
          </a:xfrm>
          <a:prstGeom prst="roundRect">
            <a:avLst/>
          </a:prstGeom>
          <a:solidFill>
            <a:srgbClr val="EBF3F8"/>
          </a:solidFill>
          <a:ln w="12700">
            <a:solidFill>
              <a:srgbClr val="A8C5DA"/>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tIns="72000" bIns="36000"/>
          <a:lstStyle/>
          <a:p>
            <a:pPr algn="ctr"/>
            <a:r>
              <a:rPr sz="1019" b="1">
                <a:solidFill>
                  <a:srgbClr val="1B4965"/>
                </a:solidFill>
                <a:latin typeface="Calibri"/>
              </a:rPr>
              <a:t>Respiración celular</a:t>
            </a:r>
          </a:p>
          <a:p>
            <a:pPr algn="ctr"/>
            <a:r>
              <a:rPr sz="919">
                <a:solidFill>
                  <a:srgbClr val="4A4A4A"/>
                </a:solidFill>
                <a:latin typeface="Calibri"/>
              </a:rPr>
              <a:t>Efecto reportado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t" lIns="28800" rIns="28800" tIns="28800" bIns="28800"/>
          <a:lstStyle/>
          <a:p>
            <a:pPr indent="0" marL="0" algn="l">
              <a:buNone/>
            </a:pPr>
            <a:r>
              <a:rPr sz="1600" b="1" i="0">
                <a:solidFill>
                  <a:srgbClr val="1B4965"/>
                </a:solidFill>
                <a:latin typeface="Calibri"/>
              </a:rPr>
              <a:t>LIMITACIONES DE DDA Y APORTE DE DIA</a:t>
            </a:r>
            <a:endParaRPr lang="en-US" sz="800" dirty="0"/>
          </a:p>
        </p:txBody>
      </p:sp>
      <p:sp>
        <p:nvSpPr>
          <p:cNvPr id="3" name="Text 1"/>
          <p:cNvSpPr/>
          <p:nvPr/>
        </p:nvSpPr>
        <p:spPr>
          <a:xfrm>
            <a:off x="457200" y="502920"/>
            <a:ext cx="8229600" cy="502920"/>
          </a:xfrm>
          <a:prstGeom prst="rect">
            <a:avLst/>
          </a:prstGeom>
          <a:noFill/>
          <a:ln/>
        </p:spPr>
        <p:txBody>
          <a:bodyPr wrap="square" rtlCol="0" anchor="t" lIns="28800" rIns="28800" tIns="28800" bIns="28800"/>
          <a:lstStyle/>
          <a:p>
            <a:pPr indent="0" marL="0" algn="l">
              <a:buNone/>
            </a:pPr>
            <a:r>
              <a:rPr sz="2400" b="1" i="0">
                <a:solidFill>
                  <a:srgbClr val="1A1A1A"/>
                </a:solidFill>
                <a:latin typeface="Calibri"/>
              </a:rPr>
              <a:t>DIA mejora exhaustividad, completitud y reproducibilidad frente al enfoque previo</a:t>
            </a:r>
            <a:endParaRPr lang="en-US" sz="2600" dirty="0"/>
          </a:p>
        </p:txBody>
      </p:sp>
      <p:sp>
        <p:nvSpPr>
          <p:cNvPr id="4" name="Shape 2"/>
          <p:cNvSpPr/>
          <p:nvPr/>
        </p:nvSpPr>
        <p:spPr>
          <a:xfrm>
            <a:off x="365760" y="1417320"/>
            <a:ext cx="3931920" cy="2286000"/>
          </a:xfrm>
          <a:prstGeom prst="rect">
            <a:avLst/>
          </a:prstGeom>
          <a:solidFill>
            <a:srgbClr val="FEF2F2"/>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Shape 3"/>
          <p:cNvSpPr/>
          <p:nvPr/>
        </p:nvSpPr>
        <p:spPr>
          <a:xfrm>
            <a:off x="365760" y="1417320"/>
            <a:ext cx="3931920" cy="64008"/>
          </a:xfrm>
          <a:prstGeom prst="rect">
            <a:avLst/>
          </a:prstGeom>
          <a:solidFill>
            <a:srgbClr val="DC2626"/>
          </a:solidFill>
          <a:ln w="12700">
            <a:solidFill>
              <a:srgbClr val="DC2626"/>
            </a:solidFill>
            <a:prstDash val="solid"/>
          </a:ln>
        </p:spPr>
      </p:sp>
      <p:sp>
        <p:nvSpPr>
          <p:cNvPr id="6" name="Text 4"/>
          <p:cNvSpPr/>
          <p:nvPr/>
        </p:nvSpPr>
        <p:spPr>
          <a:xfrm>
            <a:off x="502920" y="1508760"/>
            <a:ext cx="3657600" cy="274320"/>
          </a:xfrm>
          <a:prstGeom prst="rect">
            <a:avLst/>
          </a:prstGeom>
          <a:noFill/>
          <a:ln/>
        </p:spPr>
        <p:txBody>
          <a:bodyPr wrap="square" rtlCol="0" anchor="t" lIns="28800" rIns="28800" tIns="28800" bIns="28800"/>
          <a:lstStyle/>
          <a:p>
            <a:pPr indent="0" marL="0" algn="l">
              <a:buNone/>
            </a:pPr>
            <a:r>
              <a:rPr sz="1400" b="1" i="0">
                <a:solidFill>
                  <a:srgbClr val="1B4965"/>
                </a:solidFill>
                <a:latin typeface="Calibri"/>
              </a:rPr>
              <a:t>DDA — Enfoque previo</a:t>
            </a:r>
            <a:endParaRPr lang="en-US" sz="1100" dirty="0"/>
          </a:p>
        </p:txBody>
      </p:sp>
      <p:sp>
        <p:nvSpPr>
          <p:cNvPr id="7" name="Text 5"/>
          <p:cNvSpPr/>
          <p:nvPr/>
        </p:nvSpPr>
        <p:spPr>
          <a:xfrm>
            <a:off x="502920" y="1828800"/>
            <a:ext cx="3657600" cy="1737360"/>
          </a:xfrm>
          <a:prstGeom prst="rect">
            <a:avLst/>
          </a:prstGeom>
          <a:noFill/>
          <a:ln/>
        </p:spPr>
        <p:txBody>
          <a:bodyPr wrap="square" rtlCol="0" anchor="t" lIns="28800" rIns="28800" tIns="28800" bIns="28800"/>
          <a:lstStyle/>
          <a:p>
            <a:pPr marL="342900" indent="-342900" algn="l">
              <a:lnSpc>
                <a:spcPct val="135000"/>
              </a:lnSpc>
              <a:buSzPct val="100000"/>
              <a:buChar char="•"/>
            </a:pPr>
            <a:r>
              <a:rPr sz="1220" b="0" i="0">
                <a:solidFill>
                  <a:srgbClr val="1A1A1A"/>
                </a:solidFill>
                <a:latin typeface="Calibri"/>
              </a:rPr>
              <a:t>Selección estocástica de precursores
Valores faltantes entre réplicas
Menor exhaustividad en muestras complejas</a:t>
            </a:r>
            <a:endParaRPr lang="en-US" sz="1200" dirty="0"/>
          </a:p>
        </p:txBody>
      </p:sp>
      <p:sp>
        <p:nvSpPr>
          <p:cNvPr id="8" name="Shape 6"/>
          <p:cNvSpPr/>
          <p:nvPr/>
        </p:nvSpPr>
        <p:spPr>
          <a:xfrm>
            <a:off x="4572000" y="1417320"/>
            <a:ext cx="3931920" cy="2286000"/>
          </a:xfrm>
          <a:prstGeom prst="rect">
            <a:avLst/>
          </a:prstGeom>
          <a:solidFill>
            <a:srgbClr val="F0FDF4"/>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9" name="Shape 7"/>
          <p:cNvSpPr/>
          <p:nvPr/>
        </p:nvSpPr>
        <p:spPr>
          <a:xfrm>
            <a:off x="4572000" y="1417320"/>
            <a:ext cx="3931920" cy="64008"/>
          </a:xfrm>
          <a:prstGeom prst="rect">
            <a:avLst/>
          </a:prstGeom>
          <a:solidFill>
            <a:srgbClr val="16A34A"/>
          </a:solidFill>
          <a:ln w="12700">
            <a:solidFill>
              <a:srgbClr val="16A34A"/>
            </a:solidFill>
            <a:prstDash val="solid"/>
          </a:ln>
        </p:spPr>
      </p:sp>
      <p:sp>
        <p:nvSpPr>
          <p:cNvPr id="10" name="Text 8"/>
          <p:cNvSpPr/>
          <p:nvPr/>
        </p:nvSpPr>
        <p:spPr>
          <a:xfrm>
            <a:off x="4709160" y="1508760"/>
            <a:ext cx="3657600" cy="274320"/>
          </a:xfrm>
          <a:prstGeom prst="rect">
            <a:avLst/>
          </a:prstGeom>
          <a:noFill/>
          <a:ln/>
        </p:spPr>
        <p:txBody>
          <a:bodyPr wrap="square" rtlCol="0" anchor="t" lIns="28800" rIns="28800" tIns="28800" bIns="28800"/>
          <a:lstStyle/>
          <a:p>
            <a:pPr indent="0" marL="0" algn="l">
              <a:buNone/>
            </a:pPr>
            <a:r>
              <a:rPr sz="1400" b="1" i="0">
                <a:solidFill>
                  <a:srgbClr val="1B4965"/>
                </a:solidFill>
                <a:latin typeface="Calibri"/>
              </a:rPr>
              <a:t>DIA — Estrategia propuesta</a:t>
            </a:r>
            <a:endParaRPr lang="en-US" sz="1100" dirty="0"/>
          </a:p>
        </p:txBody>
      </p:sp>
      <p:sp>
        <p:nvSpPr>
          <p:cNvPr id="11" name="Text 9"/>
          <p:cNvSpPr/>
          <p:nvPr/>
        </p:nvSpPr>
        <p:spPr>
          <a:xfrm>
            <a:off x="4709160" y="1828800"/>
            <a:ext cx="3657600" cy="1737360"/>
          </a:xfrm>
          <a:prstGeom prst="rect">
            <a:avLst/>
          </a:prstGeom>
          <a:noFill/>
          <a:ln/>
        </p:spPr>
        <p:txBody>
          <a:bodyPr wrap="square" rtlCol="0" anchor="t" lIns="28800" rIns="28800" tIns="28800" bIns="28800"/>
          <a:lstStyle/>
          <a:p>
            <a:pPr marL="342900" indent="-342900" algn="l">
              <a:lnSpc>
                <a:spcPct val="135000"/>
              </a:lnSpc>
              <a:buSzPct val="100000"/>
              <a:buChar char="•"/>
            </a:pPr>
            <a:r>
              <a:rPr sz="1220" b="0" i="0">
                <a:solidFill>
                  <a:srgbClr val="1A1A1A"/>
                </a:solidFill>
                <a:latin typeface="Calibri"/>
              </a:rPr>
              <a:t>Adquisición sistemática e independiente de abundancia
Mayor completitud de la matriz cuantitativa
Alta reproducibilidad y precisión entre réplicas</a:t>
            </a:r>
            <a:endParaRPr lang="en-US" sz="1200" dirty="0"/>
          </a:p>
        </p:txBody>
      </p:sp>
      <p:sp>
        <p:nvSpPr>
          <p:cNvPr id="12" name="Shape 10"/>
          <p:cNvSpPr/>
          <p:nvPr/>
        </p:nvSpPr>
        <p:spPr>
          <a:xfrm>
            <a:off x="365760" y="3886200"/>
            <a:ext cx="8412480" cy="914400"/>
          </a:xfrm>
          <a:prstGeom prst="rect">
            <a:avLst/>
          </a:prstGeom>
          <a:solidFill>
            <a:srgbClr val="EFF6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3" name="Shape 11"/>
          <p:cNvSpPr/>
          <p:nvPr/>
        </p:nvSpPr>
        <p:spPr>
          <a:xfrm>
            <a:off x="365760" y="3886200"/>
            <a:ext cx="64008" cy="914400"/>
          </a:xfrm>
          <a:prstGeom prst="rect">
            <a:avLst/>
          </a:prstGeom>
          <a:solidFill>
            <a:srgbClr val="0EA5E9"/>
          </a:solidFill>
          <a:ln w="12700">
            <a:solidFill>
              <a:srgbClr val="0EA5E9"/>
            </a:solidFill>
            <a:prstDash val="solid"/>
          </a:ln>
        </p:spPr>
      </p:sp>
      <p:sp>
        <p:nvSpPr>
          <p:cNvPr id="14" name="Text 12"/>
          <p:cNvSpPr/>
          <p:nvPr/>
        </p:nvSpPr>
        <p:spPr>
          <a:xfrm>
            <a:off x="594360" y="3977640"/>
            <a:ext cx="8046720" cy="731520"/>
          </a:xfrm>
          <a:prstGeom prst="rect">
            <a:avLst/>
          </a:prstGeom>
          <a:noFill/>
          <a:ln/>
        </p:spPr>
        <p:txBody>
          <a:bodyPr wrap="square" rtlCol="0" anchor="t" lIns="57600" rIns="57600" tIns="57600" bIns="57600"/>
          <a:lstStyle/>
          <a:p>
            <a:pPr indent="0" marL="0" algn="l">
              <a:lnSpc>
                <a:spcPct val="130000"/>
              </a:lnSpc>
              <a:buNone/>
            </a:pPr>
            <a:r>
              <a:rPr sz="1200" b="0" i="0">
                <a:solidFill>
                  <a:srgbClr val="1A1A1A"/>
                </a:solidFill>
                <a:latin typeface="Calibri"/>
              </a:rPr>
              <a:t>En DDA solo se fragmentan los precursores más abundantes. En DIA se cubren sistemáticamente ventanas de m/z a lo largo del gradiente, lo que permite comparaciones más robustas entre réplicas.</a:t>
            </a:r>
            <a:endParaRPr lang="en-US" sz="1200" dirty="0"/>
          </a:p>
        </p:txBody>
      </p:sp>
      <p:sp>
        <p:nvSpPr>
          <p:cNvPr id="15" name="Rectangle 14"/>
          <p:cNvSpPr/>
          <p:nvPr/>
        </p:nvSpPr>
        <p:spPr>
          <a:xfrm>
            <a:off x="576000" y="1728000"/>
            <a:ext cx="2664000" cy="792000"/>
          </a:xfrm>
          <a:prstGeom prst="rect">
            <a:avLst/>
          </a:prstGeom>
          <a:solidFill>
            <a:srgbClr val="EBF3F8"/>
          </a:solidFill>
          <a:ln w="10160">
            <a:solidFill>
              <a:srgbClr val="A8C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2000" y="2232000"/>
            <a:ext cx="28800" cy="216000"/>
          </a:xfrm>
          <a:prstGeom prst="rect">
            <a:avLst/>
          </a:prstGeom>
          <a:solidFill>
            <a:srgbClr val="A8C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71200" y="2051999"/>
            <a:ext cx="28800" cy="39600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44000" y="2160000"/>
            <a:ext cx="28800" cy="288000"/>
          </a:xfrm>
          <a:prstGeom prst="rect">
            <a:avLst/>
          </a:prstGeom>
          <a:solidFill>
            <a:srgbClr val="A8C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24000" y="1925999"/>
            <a:ext cx="28800" cy="52200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wn Arrow 19"/>
          <p:cNvSpPr/>
          <p:nvPr/>
        </p:nvSpPr>
        <p:spPr>
          <a:xfrm>
            <a:off x="856800" y="1692000"/>
            <a:ext cx="64800" cy="79200"/>
          </a:xfrm>
          <a:prstGeom prst="downArrow">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1209600" y="1692000"/>
            <a:ext cx="64800" cy="79200"/>
          </a:xfrm>
          <a:prstGeom prst="downArrow">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0000" y="1710000"/>
            <a:ext cx="648000" cy="72000"/>
          </a:xfrm>
          <a:prstGeom prst="rect">
            <a:avLst/>
          </a:prstGeom>
          <a:noFill/>
        </p:spPr>
        <p:txBody>
          <a:bodyPr wrap="square" lIns="0" rIns="0" tIns="0" bIns="0" anchor="t">
            <a:spAutoFit/>
          </a:bodyPr>
          <a:lstStyle/>
          <a:p>
            <a:pPr algn="ctr"/>
            <a:r>
              <a:rPr sz="680" b="0" i="0">
                <a:solidFill>
                  <a:srgbClr val="1B4965"/>
                </a:solidFill>
                <a:latin typeface="Calibri"/>
              </a:rPr>
              <a:t>seleccionado</a:t>
            </a:r>
          </a:p>
        </p:txBody>
      </p:sp>
      <p:sp>
        <p:nvSpPr>
          <p:cNvPr id="23" name="Rectangle 22"/>
          <p:cNvSpPr/>
          <p:nvPr/>
        </p:nvSpPr>
        <p:spPr>
          <a:xfrm>
            <a:off x="4968000" y="1728000"/>
            <a:ext cx="2664000" cy="792000"/>
          </a:xfrm>
          <a:prstGeom prst="rect">
            <a:avLst/>
          </a:prstGeom>
          <a:solidFill>
            <a:srgbClr val="EBF3F8"/>
          </a:solidFill>
          <a:ln w="1016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94000" y="2232000"/>
            <a:ext cx="28800" cy="216000"/>
          </a:xfrm>
          <a:prstGeom prst="rect">
            <a:avLst/>
          </a:prstGeom>
          <a:solidFill>
            <a:srgbClr val="A8C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63200" y="2051999"/>
            <a:ext cx="28800" cy="39600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36000" y="2160000"/>
            <a:ext cx="28800" cy="288000"/>
          </a:xfrm>
          <a:prstGeom prst="rect">
            <a:avLst/>
          </a:prstGeom>
          <a:solidFill>
            <a:srgbClr val="A8C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16000" y="1925999"/>
            <a:ext cx="28800" cy="52200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54400" y="1792799"/>
            <a:ext cx="198000" cy="662400"/>
          </a:xfrm>
          <a:prstGeom prst="rect">
            <a:avLst/>
          </a:prstGeom>
          <a:noFill/>
          <a:ln w="762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310000" y="1792799"/>
            <a:ext cx="198000" cy="662400"/>
          </a:xfrm>
          <a:prstGeom prst="rect">
            <a:avLst/>
          </a:prstGeom>
          <a:noFill/>
          <a:ln w="762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65600" y="1792799"/>
            <a:ext cx="198000" cy="662400"/>
          </a:xfrm>
          <a:prstGeom prst="rect">
            <a:avLst/>
          </a:prstGeom>
          <a:noFill/>
          <a:ln w="762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02000" y="2527200"/>
            <a:ext cx="648000" cy="72000"/>
          </a:xfrm>
          <a:prstGeom prst="rect">
            <a:avLst/>
          </a:prstGeom>
          <a:noFill/>
        </p:spPr>
        <p:txBody>
          <a:bodyPr wrap="square" lIns="0" rIns="0" tIns="0" bIns="0" anchor="t">
            <a:spAutoFit/>
          </a:bodyPr>
          <a:lstStyle/>
          <a:p>
            <a:pPr algn="ctr"/>
            <a:r>
              <a:rPr sz="650" b="0" i="0">
                <a:solidFill>
                  <a:srgbClr val="1B4965"/>
                </a:solidFill>
                <a:latin typeface="Calibri"/>
              </a:rPr>
              <a:t>fragmentación por ventanas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t" lIns="28800" rIns="28800" tIns="28800" bIns="28800"/>
          <a:lstStyle/>
          <a:p>
            <a:pPr indent="0" marL="0" algn="l">
              <a:buNone/>
            </a:pPr>
            <a:r>
              <a:rPr sz="1600" b="1" i="0">
                <a:solidFill>
                  <a:srgbClr val="1B4965"/>
                </a:solidFill>
                <a:latin typeface="Calibri"/>
              </a:rPr>
              <a:t>HIPÓTESIS Y MODELO DE TRABAJO</a:t>
            </a:r>
            <a:endParaRPr lang="en-US" sz="800" dirty="0"/>
          </a:p>
        </p:txBody>
      </p:sp>
      <p:sp>
        <p:nvSpPr>
          <p:cNvPr id="3" name="Text 1"/>
          <p:cNvSpPr/>
          <p:nvPr/>
        </p:nvSpPr>
        <p:spPr>
          <a:xfrm>
            <a:off x="457200" y="502920"/>
            <a:ext cx="8229600" cy="502920"/>
          </a:xfrm>
          <a:prstGeom prst="rect">
            <a:avLst/>
          </a:prstGeom>
          <a:noFill/>
          <a:ln/>
        </p:spPr>
        <p:txBody>
          <a:bodyPr wrap="square" rtlCol="0" anchor="t" lIns="28800" rIns="28800" tIns="28800" bIns="28800"/>
          <a:lstStyle/>
          <a:p>
            <a:pPr indent="0" marL="0" algn="l">
              <a:buNone/>
            </a:pPr>
            <a:r>
              <a:rPr sz="2400" b="1" i="0">
                <a:solidFill>
                  <a:srgbClr val="1A1A1A"/>
                </a:solidFill>
                <a:latin typeface="Calibri"/>
              </a:rPr>
              <a:t>C. glutamicum permite estudiar el efecto del etambutol en un sistema cercano a Mycobacteriales</a:t>
            </a:r>
            <a:endParaRPr lang="en-US" sz="2600" dirty="0"/>
          </a:p>
        </p:txBody>
      </p:sp>
      <p:sp>
        <p:nvSpPr>
          <p:cNvPr id="4" name="Shape 2"/>
          <p:cNvSpPr/>
          <p:nvPr/>
        </p:nvSpPr>
        <p:spPr>
          <a:xfrm>
            <a:off x="365760" y="1417320"/>
            <a:ext cx="5120640" cy="251460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Text 3"/>
          <p:cNvSpPr/>
          <p:nvPr/>
        </p:nvSpPr>
        <p:spPr>
          <a:xfrm>
            <a:off x="502920" y="1508760"/>
            <a:ext cx="4846320" cy="274320"/>
          </a:xfrm>
          <a:prstGeom prst="rect">
            <a:avLst/>
          </a:prstGeom>
          <a:noFill/>
          <a:ln/>
        </p:spPr>
        <p:txBody>
          <a:bodyPr wrap="square" rtlCol="0" anchor="t" lIns="28800" rIns="28800" tIns="28800" bIns="28800"/>
          <a:lstStyle/>
          <a:p>
            <a:pPr indent="0" marL="0" algn="l">
              <a:buNone/>
            </a:pPr>
            <a:r>
              <a:rPr sz="1400" b="1" i="0">
                <a:solidFill>
                  <a:srgbClr val="1B4965"/>
                </a:solidFill>
                <a:latin typeface="Calibri"/>
              </a:rPr>
              <a:t>Modelo: C. glutamicum</a:t>
            </a:r>
            <a:endParaRPr lang="en-US" sz="1100" dirty="0"/>
          </a:p>
        </p:txBody>
      </p:sp>
      <p:sp>
        <p:nvSpPr>
          <p:cNvPr id="6" name="Text 4"/>
          <p:cNvSpPr/>
          <p:nvPr/>
        </p:nvSpPr>
        <p:spPr>
          <a:xfrm>
            <a:off x="502920" y="1874520"/>
            <a:ext cx="4846320" cy="1920240"/>
          </a:xfrm>
          <a:prstGeom prst="rect">
            <a:avLst/>
          </a:prstGeom>
          <a:noFill/>
          <a:ln/>
        </p:spPr>
        <p:txBody>
          <a:bodyPr wrap="square" rtlCol="0" anchor="t" lIns="28800" rIns="28800" tIns="28800" bIns="28800"/>
          <a:lstStyle/>
          <a:p>
            <a:pPr marL="342900" indent="-342900" algn="l">
              <a:lnSpc>
                <a:spcPct val="135000"/>
              </a:lnSpc>
              <a:buSzPct val="100000"/>
              <a:buChar char="•"/>
            </a:pPr>
            <a:r>
              <a:rPr sz="1200" b="0" i="0">
                <a:solidFill>
                  <a:srgbClr val="1A1A1A"/>
                </a:solidFill>
                <a:latin typeface="Calibri"/>
              </a:rPr>
              <a:t>Filogenéticamente cercano a Mycobacteriales
Comparte la arquitectura de la envoltura celular
Mismas vías biosintéticas relevantes para blancos farmacológicos
Manipulación segura en BSL-1</a:t>
            </a:r>
            <a:endParaRPr lang="en-US" sz="1200" dirty="0"/>
          </a:p>
        </p:txBody>
      </p:sp>
      <p:sp>
        <p:nvSpPr>
          <p:cNvPr id="7" name="Shape 5"/>
          <p:cNvSpPr/>
          <p:nvPr/>
        </p:nvSpPr>
        <p:spPr>
          <a:xfrm>
            <a:off x="5760720" y="1417320"/>
            <a:ext cx="3017520" cy="2514600"/>
          </a:xfrm>
          <a:prstGeom prst="rect">
            <a:avLst/>
          </a:prstGeom>
          <a:solidFill>
            <a:srgbClr val="F0FDF4"/>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Text 6"/>
          <p:cNvSpPr/>
          <p:nvPr/>
        </p:nvSpPr>
        <p:spPr>
          <a:xfrm>
            <a:off x="5897880" y="1508760"/>
            <a:ext cx="2743200" cy="274320"/>
          </a:xfrm>
          <a:prstGeom prst="rect">
            <a:avLst/>
          </a:prstGeom>
          <a:noFill/>
          <a:ln/>
        </p:spPr>
        <p:txBody>
          <a:bodyPr wrap="square" rtlCol="0" anchor="t" lIns="28800" rIns="28800" tIns="28800" bIns="28800"/>
          <a:lstStyle/>
          <a:p>
            <a:pPr indent="0" marL="0" algn="l">
              <a:buNone/>
            </a:pPr>
            <a:r>
              <a:rPr sz="1400" b="1" i="0">
                <a:solidFill>
                  <a:srgbClr val="1B4965"/>
                </a:solidFill>
                <a:latin typeface="Calibri"/>
              </a:rPr>
              <a:t>Procesos esperados</a:t>
            </a:r>
            <a:endParaRPr lang="en-US" sz="1100" dirty="0"/>
          </a:p>
        </p:txBody>
      </p:sp>
      <p:sp>
        <p:nvSpPr>
          <p:cNvPr id="9" name="Text 7"/>
          <p:cNvSpPr/>
          <p:nvPr/>
        </p:nvSpPr>
        <p:spPr>
          <a:xfrm>
            <a:off x="5897880" y="1874520"/>
            <a:ext cx="2743200" cy="1920240"/>
          </a:xfrm>
          <a:prstGeom prst="rect">
            <a:avLst/>
          </a:prstGeom>
          <a:noFill/>
          <a:ln/>
        </p:spPr>
        <p:txBody>
          <a:bodyPr wrap="square" rtlCol="0" anchor="t" lIns="28800" rIns="28800" tIns="28800" bIns="28800"/>
          <a:lstStyle/>
          <a:p>
            <a:pPr indent="0" marL="0" algn="l">
              <a:lnSpc>
                <a:spcPct val="135000"/>
              </a:lnSpc>
              <a:buNone/>
            </a:pPr>
            <a:r>
              <a:rPr sz="1140" b="0" i="0">
                <a:solidFill>
                  <a:srgbClr val="1A1A1A"/>
                </a:solidFill>
                <a:latin typeface="Calibri"/>
              </a:rPr>
              <a:t>Envoltura celular
Arabinogalactano / EmbABC
Metabolismo intermediario
Procesos no caracterizados
Respiración celular
Procesos no caracterizados</a:t>
            </a:r>
            <a:endParaRPr lang="en-US" sz="1200" dirty="0"/>
          </a:p>
        </p:txBody>
      </p:sp>
      <p:sp>
        <p:nvSpPr>
          <p:cNvPr id="10" name="Shape 8"/>
          <p:cNvSpPr/>
          <p:nvPr/>
        </p:nvSpPr>
        <p:spPr>
          <a:xfrm>
            <a:off x="365760" y="4069080"/>
            <a:ext cx="8412480" cy="914400"/>
          </a:xfrm>
          <a:prstGeom prst="rect">
            <a:avLst/>
          </a:prstGeom>
          <a:solidFill>
            <a:srgbClr val="EFF6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1" name="Shape 9"/>
          <p:cNvSpPr/>
          <p:nvPr/>
        </p:nvSpPr>
        <p:spPr>
          <a:xfrm>
            <a:off x="365760" y="4069080"/>
            <a:ext cx="64008" cy="914400"/>
          </a:xfrm>
          <a:prstGeom prst="rect">
            <a:avLst/>
          </a:prstGeom>
          <a:solidFill>
            <a:srgbClr val="1B2A4A"/>
          </a:solidFill>
          <a:ln w="12700">
            <a:solidFill>
              <a:srgbClr val="1B2A4A"/>
            </a:solidFill>
            <a:prstDash val="solid"/>
          </a:ln>
        </p:spPr>
      </p:sp>
      <p:sp>
        <p:nvSpPr>
          <p:cNvPr id="12" name="Text 10"/>
          <p:cNvSpPr/>
          <p:nvPr/>
        </p:nvSpPr>
        <p:spPr>
          <a:xfrm>
            <a:off x="594360" y="4133088"/>
            <a:ext cx="8046720" cy="777240"/>
          </a:xfrm>
          <a:prstGeom prst="rect">
            <a:avLst/>
          </a:prstGeom>
          <a:noFill/>
          <a:ln/>
        </p:spPr>
        <p:txBody>
          <a:bodyPr wrap="square" rtlCol="0" anchor="t" lIns="57600" rIns="57600" tIns="57600" bIns="57600"/>
          <a:lstStyle/>
          <a:p>
            <a:pPr indent="0" marL="0" algn="l">
              <a:lnSpc>
                <a:spcPct val="130000"/>
              </a:lnSpc>
              <a:buNone/>
            </a:pPr>
            <a:pPr indent="0" marL="0">
              <a:lnSpc>
                <a:spcPct val="130000"/>
              </a:lnSpc>
              <a:buNone/>
            </a:pPr>
            <a:r>
              <a:rPr sz="1500" b="1" i="1">
                <a:solidFill>
                  <a:srgbClr val="1B4965"/>
                </a:solidFill>
                <a:latin typeface="Calibri"/>
              </a:rPr>
              <a:t>Hipótesis: la exposición a etambutol induce una reprogramación proteómica global no limitada a la envoltura celular</a:t>
            </a:r>
            <a:endParaRPr lang="en-US" sz="1200" dirty="0"/>
          </a:p>
        </p:txBody>
      </p:sp>
      <p:sp>
        <p:nvSpPr>
          <p:cNvPr id="13" name="Rounded Rectangle 12"/>
          <p:cNvSpPr/>
          <p:nvPr/>
        </p:nvSpPr>
        <p:spPr>
          <a:xfrm>
            <a:off x="3671999" y="1007999"/>
            <a:ext cx="2160000" cy="468000"/>
          </a:xfrm>
          <a:prstGeom prst="round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t" wrap="square" lIns="18000" rIns="18000" tIns="18000" bIns="18000"/>
          <a:lstStyle/>
          <a:p>
            <a:pPr algn="ctr"/>
            <a:r>
              <a:rPr sz="1300" b="1" i="0">
                <a:solidFill>
                  <a:srgbClr val="FFFFFF"/>
                </a:solidFill>
                <a:latin typeface="Calibri"/>
              </a:rPr>
              <a:t>Etambutol (subinhibitorio)</a:t>
            </a:r>
          </a:p>
          <a:p>
            <a:pPr algn="ctr"/>
            <a:r>
              <a:rPr sz="1100" b="0" i="1">
                <a:solidFill>
                  <a:srgbClr val="A8C5DA"/>
                </a:solidFill>
                <a:latin typeface="Calibri"/>
              </a:rPr>
              <a:t>C. glutamicum</a:t>
            </a:r>
          </a:p>
        </p:txBody>
      </p:sp>
      <p:sp>
        <p:nvSpPr>
          <p:cNvPr id="14" name="Down Arrow 13"/>
          <p:cNvSpPr/>
          <p:nvPr/>
        </p:nvSpPr>
        <p:spPr>
          <a:xfrm>
            <a:off x="4662000" y="1494000"/>
            <a:ext cx="180000" cy="180000"/>
          </a:xfrm>
          <a:prstGeom prst="downArrow">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t" lIns="28800" rIns="28800" tIns="28800" bIns="28800"/>
          <a:lstStyle/>
          <a:p>
            <a:pPr indent="0" marL="0" algn="l">
              <a:buNone/>
            </a:pPr>
            <a:r>
              <a:rPr sz="1600" b="1" i="0">
                <a:solidFill>
                  <a:srgbClr val="1B4965"/>
                </a:solidFill>
                <a:latin typeface="Calibri"/>
              </a:rPr>
              <a:t>OBJETIVOS</a:t>
            </a:r>
            <a:endParaRPr lang="en-US" sz="800" dirty="0"/>
          </a:p>
        </p:txBody>
      </p:sp>
      <p:sp>
        <p:nvSpPr>
          <p:cNvPr id="3" name="Text 1"/>
          <p:cNvSpPr/>
          <p:nvPr/>
        </p:nvSpPr>
        <p:spPr>
          <a:xfrm>
            <a:off x="457200" y="502920"/>
            <a:ext cx="8229600" cy="502920"/>
          </a:xfrm>
          <a:prstGeom prst="rect">
            <a:avLst/>
          </a:prstGeom>
          <a:noFill/>
          <a:ln/>
        </p:spPr>
        <p:txBody>
          <a:bodyPr wrap="square" rtlCol="0" anchor="t" lIns="28800" rIns="28800" tIns="28800" bIns="28800"/>
          <a:lstStyle/>
          <a:p>
            <a:pPr indent="0" marL="0" algn="l">
              <a:buNone/>
            </a:pPr>
            <a:r>
              <a:rPr sz="2400" b="1" i="0">
                <a:solidFill>
                  <a:srgbClr val="1A1A1A"/>
                </a:solidFill>
                <a:latin typeface="Calibri"/>
              </a:rPr>
              <a:t>Objetivo general y objetivos específicos</a:t>
            </a:r>
            <a:endParaRPr lang="en-US" sz="2600" dirty="0"/>
          </a:p>
        </p:txBody>
      </p:sp>
      <p:sp>
        <p:nvSpPr>
          <p:cNvPr id="4" name="Shape 2"/>
          <p:cNvSpPr/>
          <p:nvPr/>
        </p:nvSpPr>
        <p:spPr>
          <a:xfrm>
            <a:off x="365760" y="1417320"/>
            <a:ext cx="8412480" cy="822960"/>
          </a:xfrm>
          <a:prstGeom prst="rect">
            <a:avLst/>
          </a:prstGeom>
          <a:solidFill>
            <a:srgbClr val="EFF6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Shape 3"/>
          <p:cNvSpPr/>
          <p:nvPr/>
        </p:nvSpPr>
        <p:spPr>
          <a:xfrm>
            <a:off x="365760" y="1417320"/>
            <a:ext cx="64008" cy="822960"/>
          </a:xfrm>
          <a:prstGeom prst="rect">
            <a:avLst/>
          </a:prstGeom>
          <a:solidFill>
            <a:srgbClr val="1B2A4A"/>
          </a:solidFill>
          <a:ln w="12700">
            <a:solidFill>
              <a:srgbClr val="1B2A4A"/>
            </a:solidFill>
            <a:prstDash val="solid"/>
          </a:ln>
        </p:spPr>
      </p:sp>
      <p:sp>
        <p:nvSpPr>
          <p:cNvPr id="6" name="Text 4"/>
          <p:cNvSpPr/>
          <p:nvPr/>
        </p:nvSpPr>
        <p:spPr>
          <a:xfrm>
            <a:off x="594360" y="1481328"/>
            <a:ext cx="8046720" cy="685800"/>
          </a:xfrm>
          <a:prstGeom prst="rect">
            <a:avLst/>
          </a:prstGeom>
          <a:noFill/>
          <a:ln/>
        </p:spPr>
        <p:txBody>
          <a:bodyPr wrap="square" rtlCol="0" anchor="t" lIns="57600" rIns="57600" tIns="57600" bIns="57600"/>
          <a:lstStyle/>
          <a:p>
            <a:pPr indent="0" marL="0" algn="l">
              <a:buNone/>
            </a:pPr>
            <a:pPr indent="0" marL="0">
              <a:buNone/>
            </a:pPr>
            <a:r>
              <a:rPr sz="1300" b="0" i="0">
                <a:solidFill>
                  <a:srgbClr val="1A1A1A"/>
                </a:solidFill>
                <a:latin typeface="Calibri"/>
              </a:rPr>
              <a:t>Objetivo general: explorar efectos celulares no descritos del etambutol mediante caracterización del impacto proteómico global en C. glutamicum usando proteómica cuantitativa basada en DIA.</a:t>
            </a:r>
            <a:endParaRPr lang="en-US" sz="1200" dirty="0"/>
          </a:p>
        </p:txBody>
      </p:sp>
      <p:sp>
        <p:nvSpPr>
          <p:cNvPr id="7" name="Shape 5"/>
          <p:cNvSpPr/>
          <p:nvPr/>
        </p:nvSpPr>
        <p:spPr>
          <a:xfrm>
            <a:off x="365760" y="2395728"/>
            <a:ext cx="4114800" cy="777240"/>
          </a:xfrm>
          <a:prstGeom prst="rect">
            <a:avLst/>
          </a:prstGeom>
          <a:solidFill>
            <a:srgbClr val="ECFD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Shape 6"/>
          <p:cNvSpPr/>
          <p:nvPr/>
        </p:nvSpPr>
        <p:spPr>
          <a:xfrm>
            <a:off x="365760" y="2395728"/>
            <a:ext cx="64008" cy="777240"/>
          </a:xfrm>
          <a:prstGeom prst="rect">
            <a:avLst/>
          </a:prstGeom>
          <a:solidFill>
            <a:srgbClr val="16A34A"/>
          </a:solidFill>
          <a:ln w="12700">
            <a:solidFill>
              <a:srgbClr val="16A34A"/>
            </a:solidFill>
            <a:prstDash val="solid"/>
          </a:ln>
        </p:spPr>
      </p:sp>
      <p:sp>
        <p:nvSpPr>
          <p:cNvPr id="9" name="Text 7"/>
          <p:cNvSpPr/>
          <p:nvPr/>
        </p:nvSpPr>
        <p:spPr>
          <a:xfrm>
            <a:off x="548640" y="2487168"/>
            <a:ext cx="3840480" cy="621792"/>
          </a:xfrm>
          <a:prstGeom prst="rect">
            <a:avLst/>
          </a:prstGeom>
          <a:noFill/>
          <a:ln/>
        </p:spPr>
        <p:txBody>
          <a:bodyPr wrap="square" rtlCol="0" anchor="t" lIns="43200" rIns="43200" tIns="43200" bIns="43200"/>
          <a:lstStyle/>
          <a:p>
            <a:pPr indent="0" marL="0" algn="l">
              <a:buNone/>
            </a:pPr>
            <a:pPr indent="0" marL="0">
              <a:buNone/>
            </a:pPr>
            <a:pPr indent="0" marL="0">
              <a:buNone/>
            </a:pPr>
            <a:r>
              <a:rPr sz="1120" b="0" i="0">
                <a:solidFill>
                  <a:srgbClr val="1A1A1A"/>
                </a:solidFill>
                <a:latin typeface="Calibri"/>
              </a:rPr>
              <a:t>OE 1  ● EN CURSO  Determinar MIC y condiciones subinhibitorias de etambutol en C. glutamicum</a:t>
            </a:r>
            <a:endParaRPr lang="en-US" sz="1100" dirty="0"/>
          </a:p>
        </p:txBody>
      </p:sp>
      <p:sp>
        <p:nvSpPr>
          <p:cNvPr id="10" name="Shape 8"/>
          <p:cNvSpPr/>
          <p:nvPr/>
        </p:nvSpPr>
        <p:spPr>
          <a:xfrm>
            <a:off x="4663440" y="2395728"/>
            <a:ext cx="4114800" cy="777240"/>
          </a:xfrm>
          <a:prstGeom prst="rect">
            <a:avLst/>
          </a:prstGeom>
          <a:solidFill>
            <a:srgbClr val="ECFD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1" name="Shape 9"/>
          <p:cNvSpPr/>
          <p:nvPr/>
        </p:nvSpPr>
        <p:spPr>
          <a:xfrm>
            <a:off x="4663440" y="2395728"/>
            <a:ext cx="64008" cy="777240"/>
          </a:xfrm>
          <a:prstGeom prst="rect">
            <a:avLst/>
          </a:prstGeom>
          <a:solidFill>
            <a:srgbClr val="16A34A"/>
          </a:solidFill>
          <a:ln w="12700">
            <a:solidFill>
              <a:srgbClr val="16A34A"/>
            </a:solidFill>
            <a:prstDash val="solid"/>
          </a:ln>
        </p:spPr>
      </p:sp>
      <p:sp>
        <p:nvSpPr>
          <p:cNvPr id="12" name="Text 10"/>
          <p:cNvSpPr/>
          <p:nvPr/>
        </p:nvSpPr>
        <p:spPr>
          <a:xfrm>
            <a:off x="4846320" y="2487168"/>
            <a:ext cx="3840480" cy="621792"/>
          </a:xfrm>
          <a:prstGeom prst="rect">
            <a:avLst/>
          </a:prstGeom>
          <a:noFill/>
          <a:ln/>
        </p:spPr>
        <p:txBody>
          <a:bodyPr wrap="square" rtlCol="0" anchor="t" lIns="43200" rIns="43200" tIns="43200" bIns="43200"/>
          <a:lstStyle/>
          <a:p>
            <a:pPr indent="0" marL="0" algn="l">
              <a:buNone/>
            </a:pPr>
            <a:pPr indent="0" marL="0">
              <a:buNone/>
            </a:pPr>
            <a:pPr indent="0" marL="0">
              <a:buNone/>
            </a:pPr>
            <a:r>
              <a:rPr sz="1120" b="0" i="0">
                <a:solidFill>
                  <a:srgbClr val="1A1A1A"/>
                </a:solidFill>
                <a:latin typeface="Calibri"/>
              </a:rPr>
              <a:t>OE 2  ● EN CURSO  Implementar y validar método DIA con robustez cuantitativa</a:t>
            </a:r>
            <a:endParaRPr lang="en-US" sz="1100" dirty="0"/>
          </a:p>
        </p:txBody>
      </p:sp>
      <p:sp>
        <p:nvSpPr>
          <p:cNvPr id="13" name="Shape 11"/>
          <p:cNvSpPr/>
          <p:nvPr/>
        </p:nvSpPr>
        <p:spPr>
          <a:xfrm>
            <a:off x="365760" y="3291840"/>
            <a:ext cx="4114800" cy="7772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4" name="Shape 12"/>
          <p:cNvSpPr/>
          <p:nvPr/>
        </p:nvSpPr>
        <p:spPr>
          <a:xfrm>
            <a:off x="365760" y="3291840"/>
            <a:ext cx="64008" cy="777240"/>
          </a:xfrm>
          <a:prstGeom prst="rect">
            <a:avLst/>
          </a:prstGeom>
          <a:solidFill>
            <a:srgbClr val="CBD5E1"/>
          </a:solidFill>
          <a:ln w="12700">
            <a:solidFill>
              <a:srgbClr val="CBD5E1"/>
            </a:solidFill>
            <a:prstDash val="solid"/>
          </a:ln>
        </p:spPr>
      </p:sp>
      <p:sp>
        <p:nvSpPr>
          <p:cNvPr id="15" name="Text 13"/>
          <p:cNvSpPr/>
          <p:nvPr/>
        </p:nvSpPr>
        <p:spPr>
          <a:xfrm>
            <a:off x="548640" y="3383280"/>
            <a:ext cx="3840480" cy="621792"/>
          </a:xfrm>
          <a:prstGeom prst="rect">
            <a:avLst/>
          </a:prstGeom>
          <a:noFill/>
          <a:ln/>
        </p:spPr>
        <p:txBody>
          <a:bodyPr wrap="square" rtlCol="0" anchor="t" lIns="43200" rIns="43200" tIns="43200" bIns="43200"/>
          <a:lstStyle/>
          <a:p>
            <a:pPr indent="0" marL="0" algn="l">
              <a:buNone/>
            </a:pPr>
            <a:pPr indent="0" marL="0">
              <a:buNone/>
            </a:pPr>
            <a:pPr indent="0" marL="0">
              <a:buNone/>
            </a:pPr>
            <a:r>
              <a:rPr sz="1120" b="0" i="0">
                <a:solidFill>
                  <a:srgbClr val="1A1A1A"/>
                </a:solidFill>
                <a:latin typeface="Calibri"/>
              </a:rPr>
              <a:t>OE 3  Obtener perfiles proteómicos de células control y tratadas</a:t>
            </a:r>
            <a:endParaRPr lang="en-US" sz="1100" dirty="0"/>
          </a:p>
        </p:txBody>
      </p:sp>
      <p:sp>
        <p:nvSpPr>
          <p:cNvPr id="16" name="Shape 14"/>
          <p:cNvSpPr/>
          <p:nvPr/>
        </p:nvSpPr>
        <p:spPr>
          <a:xfrm>
            <a:off x="4663440" y="3291840"/>
            <a:ext cx="4114800" cy="7772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7" name="Shape 15"/>
          <p:cNvSpPr/>
          <p:nvPr/>
        </p:nvSpPr>
        <p:spPr>
          <a:xfrm>
            <a:off x="4663440" y="3291840"/>
            <a:ext cx="64008" cy="777240"/>
          </a:xfrm>
          <a:prstGeom prst="rect">
            <a:avLst/>
          </a:prstGeom>
          <a:solidFill>
            <a:srgbClr val="CBD5E1"/>
          </a:solidFill>
          <a:ln w="12700">
            <a:solidFill>
              <a:srgbClr val="CBD5E1"/>
            </a:solidFill>
            <a:prstDash val="solid"/>
          </a:ln>
        </p:spPr>
      </p:sp>
      <p:sp>
        <p:nvSpPr>
          <p:cNvPr id="18" name="Text 16"/>
          <p:cNvSpPr/>
          <p:nvPr/>
        </p:nvSpPr>
        <p:spPr>
          <a:xfrm>
            <a:off x="4846320" y="3383280"/>
            <a:ext cx="3840480" cy="621792"/>
          </a:xfrm>
          <a:prstGeom prst="rect">
            <a:avLst/>
          </a:prstGeom>
          <a:noFill/>
          <a:ln/>
        </p:spPr>
        <p:txBody>
          <a:bodyPr wrap="square" rtlCol="0" anchor="t" lIns="43200" rIns="43200" tIns="43200" bIns="43200"/>
          <a:lstStyle/>
          <a:p>
            <a:pPr indent="0" marL="0" algn="l">
              <a:buNone/>
            </a:pPr>
            <a:pPr indent="0" marL="0">
              <a:buNone/>
            </a:pPr>
            <a:pPr indent="0" marL="0">
              <a:buNone/>
            </a:pPr>
            <a:r>
              <a:rPr sz="1120" b="0" i="0">
                <a:solidFill>
                  <a:srgbClr val="1A1A1A"/>
                </a:solidFill>
                <a:latin typeface="Calibri"/>
              </a:rPr>
              <a:t>OE 4  Identificar proteínas diferencialmente abundantes</a:t>
            </a:r>
            <a:endParaRPr lang="en-US" sz="1100" dirty="0"/>
          </a:p>
        </p:txBody>
      </p:sp>
      <p:sp>
        <p:nvSpPr>
          <p:cNvPr id="19" name="Shape 17"/>
          <p:cNvSpPr/>
          <p:nvPr/>
        </p:nvSpPr>
        <p:spPr>
          <a:xfrm>
            <a:off x="365760" y="4187952"/>
            <a:ext cx="4114800" cy="7772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20" name="Shape 18"/>
          <p:cNvSpPr/>
          <p:nvPr/>
        </p:nvSpPr>
        <p:spPr>
          <a:xfrm>
            <a:off x="365760" y="4187952"/>
            <a:ext cx="64008" cy="777240"/>
          </a:xfrm>
          <a:prstGeom prst="rect">
            <a:avLst/>
          </a:prstGeom>
          <a:solidFill>
            <a:srgbClr val="CBD5E1"/>
          </a:solidFill>
          <a:ln w="12700">
            <a:solidFill>
              <a:srgbClr val="CBD5E1"/>
            </a:solidFill>
            <a:prstDash val="solid"/>
          </a:ln>
        </p:spPr>
      </p:sp>
      <p:sp>
        <p:nvSpPr>
          <p:cNvPr id="21" name="Text 19"/>
          <p:cNvSpPr/>
          <p:nvPr/>
        </p:nvSpPr>
        <p:spPr>
          <a:xfrm>
            <a:off x="548640" y="4279392"/>
            <a:ext cx="3840480" cy="621792"/>
          </a:xfrm>
          <a:prstGeom prst="rect">
            <a:avLst/>
          </a:prstGeom>
          <a:noFill/>
          <a:ln/>
        </p:spPr>
        <p:txBody>
          <a:bodyPr wrap="square" rtlCol="0" anchor="t" lIns="43200" rIns="43200" tIns="43200" bIns="43200"/>
          <a:lstStyle/>
          <a:p>
            <a:pPr indent="0" marL="0" algn="l">
              <a:buNone/>
            </a:pPr>
            <a:pPr indent="0" marL="0">
              <a:buNone/>
            </a:pPr>
            <a:pPr indent="0" marL="0">
              <a:buNone/>
            </a:pPr>
            <a:r>
              <a:rPr sz="1120" b="0" i="0">
                <a:solidFill>
                  <a:srgbClr val="1A1A1A"/>
                </a:solidFill>
                <a:latin typeface="Calibri"/>
              </a:rPr>
              <a:t>OE 5  Analizar funcionalmente proteínas diferencialmente abundantes</a:t>
            </a:r>
            <a:endParaRPr lang="en-US" sz="1100" dirty="0"/>
          </a:p>
        </p:txBody>
      </p:sp>
      <p:sp>
        <p:nvSpPr>
          <p:cNvPr id="22" name="Shape 20"/>
          <p:cNvSpPr/>
          <p:nvPr/>
        </p:nvSpPr>
        <p:spPr>
          <a:xfrm>
            <a:off x="4663440" y="4187952"/>
            <a:ext cx="4114800" cy="7772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23" name="Shape 21"/>
          <p:cNvSpPr/>
          <p:nvPr/>
        </p:nvSpPr>
        <p:spPr>
          <a:xfrm>
            <a:off x="4663440" y="4187952"/>
            <a:ext cx="64008" cy="777240"/>
          </a:xfrm>
          <a:prstGeom prst="rect">
            <a:avLst/>
          </a:prstGeom>
          <a:solidFill>
            <a:srgbClr val="CBD5E1"/>
          </a:solidFill>
          <a:ln w="12700">
            <a:solidFill>
              <a:srgbClr val="CBD5E1"/>
            </a:solidFill>
            <a:prstDash val="solid"/>
          </a:ln>
        </p:spPr>
      </p:sp>
      <p:sp>
        <p:nvSpPr>
          <p:cNvPr id="24" name="Text 22"/>
          <p:cNvSpPr/>
          <p:nvPr/>
        </p:nvSpPr>
        <p:spPr>
          <a:xfrm>
            <a:off x="4846320" y="4279392"/>
            <a:ext cx="3840480" cy="621792"/>
          </a:xfrm>
          <a:prstGeom prst="rect">
            <a:avLst/>
          </a:prstGeom>
          <a:noFill/>
          <a:ln/>
        </p:spPr>
        <p:txBody>
          <a:bodyPr wrap="square" rtlCol="0" anchor="t" lIns="43200" rIns="43200" tIns="43200" bIns="43200"/>
          <a:lstStyle/>
          <a:p>
            <a:pPr indent="0" marL="0" algn="l">
              <a:buNone/>
            </a:pPr>
            <a:pPr indent="0" marL="0">
              <a:buNone/>
            </a:pPr>
            <a:pPr indent="0" marL="0">
              <a:buNone/>
            </a:pPr>
            <a:r>
              <a:rPr sz="1120" b="0" i="0">
                <a:solidFill>
                  <a:srgbClr val="1A1A1A"/>
                </a:solidFill>
                <a:latin typeface="Calibri"/>
              </a:rPr>
              <a:t>OE 6  Comparar cobertura DIA vs DDA del dataset previo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ctr"/>
          <a:lstStyle/>
          <a:p>
            <a:pPr indent="0" marL="0">
              <a:buNone/>
            </a:pPr>
            <a:r>
              <a:rPr lang="en-US" sz="800" spc="200" kern="0" dirty="0">
                <a:solidFill>
                  <a:srgbClr val="64748B"/>
                </a:solidFill>
              </a:rPr>
              <a:t>CRONOGRAMA</a:t>
            </a:r>
            <a:endParaRPr lang="en-US" sz="8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Cronograma de ejecución — 12 meses</a:t>
            </a:r>
            <a:endParaRPr lang="en-US" sz="2600" dirty="0"/>
          </a:p>
        </p:txBody>
      </p:sp>
      <p:sp>
        <p:nvSpPr>
          <p:cNvPr id="4" name="Shape 2"/>
          <p:cNvSpPr/>
          <p:nvPr/>
        </p:nvSpPr>
        <p:spPr>
          <a:xfrm>
            <a:off x="347472" y="1325880"/>
            <a:ext cx="3474720" cy="251460"/>
          </a:xfrm>
          <a:prstGeom prst="rect">
            <a:avLst/>
          </a:prstGeom>
          <a:solidFill>
            <a:srgbClr val="1B2A4A"/>
          </a:solidFill>
          <a:ln w="12700">
            <a:solidFill>
              <a:srgbClr val="1B2A4A"/>
            </a:solidFill>
            <a:prstDash val="solid"/>
          </a:ln>
        </p:spPr>
      </p:sp>
      <p:sp>
        <p:nvSpPr>
          <p:cNvPr id="5" name="Text 3"/>
          <p:cNvSpPr/>
          <p:nvPr/>
        </p:nvSpPr>
        <p:spPr>
          <a:xfrm>
            <a:off x="402336" y="1325880"/>
            <a:ext cx="3383280" cy="2514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Actividad</a:t>
            </a:r>
            <a:endParaRPr lang="en-US" sz="950" dirty="0"/>
          </a:p>
        </p:txBody>
      </p:sp>
      <p:sp>
        <p:nvSpPr>
          <p:cNvPr id="6" name="Shape 4"/>
          <p:cNvSpPr/>
          <p:nvPr/>
        </p:nvSpPr>
        <p:spPr>
          <a:xfrm>
            <a:off x="3877056" y="1325880"/>
            <a:ext cx="393192" cy="251460"/>
          </a:xfrm>
          <a:prstGeom prst="rect">
            <a:avLst/>
          </a:prstGeom>
          <a:solidFill>
            <a:srgbClr val="1B2A4A"/>
          </a:solidFill>
          <a:ln w="12700">
            <a:solidFill>
              <a:srgbClr val="1B2A4A"/>
            </a:solidFill>
            <a:prstDash val="solid"/>
          </a:ln>
        </p:spPr>
      </p:sp>
      <p:sp>
        <p:nvSpPr>
          <p:cNvPr id="7" name="Text 5"/>
          <p:cNvSpPr/>
          <p:nvPr/>
        </p:nvSpPr>
        <p:spPr>
          <a:xfrm>
            <a:off x="3877056"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1</a:t>
            </a:r>
            <a:endParaRPr lang="en-US" sz="900" dirty="0"/>
          </a:p>
        </p:txBody>
      </p:sp>
      <p:sp>
        <p:nvSpPr>
          <p:cNvPr id="8" name="Shape 6"/>
          <p:cNvSpPr/>
          <p:nvPr/>
        </p:nvSpPr>
        <p:spPr>
          <a:xfrm>
            <a:off x="4270248" y="1325880"/>
            <a:ext cx="393192" cy="251460"/>
          </a:xfrm>
          <a:prstGeom prst="rect">
            <a:avLst/>
          </a:prstGeom>
          <a:solidFill>
            <a:srgbClr val="1A6B8A"/>
          </a:solidFill>
          <a:ln w="12700">
            <a:solidFill>
              <a:srgbClr val="2889AD"/>
            </a:solidFill>
            <a:prstDash val="solid"/>
          </a:ln>
        </p:spPr>
      </p:sp>
      <p:sp>
        <p:nvSpPr>
          <p:cNvPr id="9" name="Text 7"/>
          <p:cNvSpPr/>
          <p:nvPr/>
        </p:nvSpPr>
        <p:spPr>
          <a:xfrm>
            <a:off x="4270248" y="1325880"/>
            <a:ext cx="393192" cy="2514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0" name="Shape 8"/>
          <p:cNvSpPr/>
          <p:nvPr/>
        </p:nvSpPr>
        <p:spPr>
          <a:xfrm>
            <a:off x="4663440" y="1325880"/>
            <a:ext cx="393192" cy="251460"/>
          </a:xfrm>
          <a:prstGeom prst="rect">
            <a:avLst/>
          </a:prstGeom>
          <a:solidFill>
            <a:srgbClr val="1B2A4A"/>
          </a:solidFill>
          <a:ln w="12700">
            <a:solidFill>
              <a:srgbClr val="1B2A4A"/>
            </a:solidFill>
            <a:prstDash val="solid"/>
          </a:ln>
        </p:spPr>
      </p:sp>
      <p:sp>
        <p:nvSpPr>
          <p:cNvPr id="11" name="Text 9"/>
          <p:cNvSpPr/>
          <p:nvPr/>
        </p:nvSpPr>
        <p:spPr>
          <a:xfrm>
            <a:off x="4663440"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3</a:t>
            </a:r>
            <a:endParaRPr lang="en-US" sz="900" dirty="0"/>
          </a:p>
        </p:txBody>
      </p:sp>
      <p:sp>
        <p:nvSpPr>
          <p:cNvPr id="12" name="Shape 10"/>
          <p:cNvSpPr/>
          <p:nvPr/>
        </p:nvSpPr>
        <p:spPr>
          <a:xfrm>
            <a:off x="5056632" y="1325880"/>
            <a:ext cx="393192" cy="251460"/>
          </a:xfrm>
          <a:prstGeom prst="rect">
            <a:avLst/>
          </a:prstGeom>
          <a:solidFill>
            <a:srgbClr val="1B2A4A"/>
          </a:solidFill>
          <a:ln w="12700">
            <a:solidFill>
              <a:srgbClr val="1B2A4A"/>
            </a:solidFill>
            <a:prstDash val="solid"/>
          </a:ln>
        </p:spPr>
      </p:sp>
      <p:sp>
        <p:nvSpPr>
          <p:cNvPr id="13" name="Text 11"/>
          <p:cNvSpPr/>
          <p:nvPr/>
        </p:nvSpPr>
        <p:spPr>
          <a:xfrm>
            <a:off x="5056632"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4</a:t>
            </a:r>
            <a:endParaRPr lang="en-US" sz="900" dirty="0"/>
          </a:p>
        </p:txBody>
      </p:sp>
      <p:sp>
        <p:nvSpPr>
          <p:cNvPr id="14" name="Shape 12"/>
          <p:cNvSpPr/>
          <p:nvPr/>
        </p:nvSpPr>
        <p:spPr>
          <a:xfrm>
            <a:off x="5449824" y="1325880"/>
            <a:ext cx="393192" cy="251460"/>
          </a:xfrm>
          <a:prstGeom prst="rect">
            <a:avLst/>
          </a:prstGeom>
          <a:solidFill>
            <a:srgbClr val="1B2A4A"/>
          </a:solidFill>
          <a:ln w="12700">
            <a:solidFill>
              <a:srgbClr val="1B2A4A"/>
            </a:solidFill>
            <a:prstDash val="solid"/>
          </a:ln>
        </p:spPr>
      </p:sp>
      <p:sp>
        <p:nvSpPr>
          <p:cNvPr id="15" name="Text 13"/>
          <p:cNvSpPr/>
          <p:nvPr/>
        </p:nvSpPr>
        <p:spPr>
          <a:xfrm>
            <a:off x="5449824"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5</a:t>
            </a:r>
            <a:endParaRPr lang="en-US" sz="900" dirty="0"/>
          </a:p>
        </p:txBody>
      </p:sp>
      <p:sp>
        <p:nvSpPr>
          <p:cNvPr id="16" name="Shape 14"/>
          <p:cNvSpPr/>
          <p:nvPr/>
        </p:nvSpPr>
        <p:spPr>
          <a:xfrm>
            <a:off x="5843016" y="1325880"/>
            <a:ext cx="393192" cy="251460"/>
          </a:xfrm>
          <a:prstGeom prst="rect">
            <a:avLst/>
          </a:prstGeom>
          <a:solidFill>
            <a:srgbClr val="1B2A4A"/>
          </a:solidFill>
          <a:ln w="12700">
            <a:solidFill>
              <a:srgbClr val="1B2A4A"/>
            </a:solidFill>
            <a:prstDash val="solid"/>
          </a:ln>
        </p:spPr>
      </p:sp>
      <p:sp>
        <p:nvSpPr>
          <p:cNvPr id="17" name="Text 15"/>
          <p:cNvSpPr/>
          <p:nvPr/>
        </p:nvSpPr>
        <p:spPr>
          <a:xfrm>
            <a:off x="5843016"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6</a:t>
            </a:r>
            <a:endParaRPr lang="en-US" sz="900" dirty="0"/>
          </a:p>
        </p:txBody>
      </p:sp>
      <p:sp>
        <p:nvSpPr>
          <p:cNvPr id="18" name="Shape 16"/>
          <p:cNvSpPr/>
          <p:nvPr/>
        </p:nvSpPr>
        <p:spPr>
          <a:xfrm>
            <a:off x="6236208" y="1325880"/>
            <a:ext cx="393192" cy="251460"/>
          </a:xfrm>
          <a:prstGeom prst="rect">
            <a:avLst/>
          </a:prstGeom>
          <a:solidFill>
            <a:srgbClr val="1B2A4A"/>
          </a:solidFill>
          <a:ln w="12700">
            <a:solidFill>
              <a:srgbClr val="1B2A4A"/>
            </a:solidFill>
            <a:prstDash val="solid"/>
          </a:ln>
        </p:spPr>
      </p:sp>
      <p:sp>
        <p:nvSpPr>
          <p:cNvPr id="19" name="Text 17"/>
          <p:cNvSpPr/>
          <p:nvPr/>
        </p:nvSpPr>
        <p:spPr>
          <a:xfrm>
            <a:off x="6236208"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7</a:t>
            </a:r>
            <a:endParaRPr lang="en-US" sz="900" dirty="0"/>
          </a:p>
        </p:txBody>
      </p:sp>
      <p:sp>
        <p:nvSpPr>
          <p:cNvPr id="20" name="Shape 18"/>
          <p:cNvSpPr/>
          <p:nvPr/>
        </p:nvSpPr>
        <p:spPr>
          <a:xfrm>
            <a:off x="6629400" y="1325880"/>
            <a:ext cx="393192" cy="251460"/>
          </a:xfrm>
          <a:prstGeom prst="rect">
            <a:avLst/>
          </a:prstGeom>
          <a:solidFill>
            <a:srgbClr val="1B2A4A"/>
          </a:solidFill>
          <a:ln w="12700">
            <a:solidFill>
              <a:srgbClr val="1B2A4A"/>
            </a:solidFill>
            <a:prstDash val="solid"/>
          </a:ln>
        </p:spPr>
      </p:sp>
      <p:sp>
        <p:nvSpPr>
          <p:cNvPr id="21" name="Text 19"/>
          <p:cNvSpPr/>
          <p:nvPr/>
        </p:nvSpPr>
        <p:spPr>
          <a:xfrm>
            <a:off x="6629400"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8</a:t>
            </a:r>
            <a:endParaRPr lang="en-US" sz="900" dirty="0"/>
          </a:p>
        </p:txBody>
      </p:sp>
      <p:sp>
        <p:nvSpPr>
          <p:cNvPr id="22" name="Shape 20"/>
          <p:cNvSpPr/>
          <p:nvPr/>
        </p:nvSpPr>
        <p:spPr>
          <a:xfrm>
            <a:off x="7022592" y="1325880"/>
            <a:ext cx="393192" cy="251460"/>
          </a:xfrm>
          <a:prstGeom prst="rect">
            <a:avLst/>
          </a:prstGeom>
          <a:solidFill>
            <a:srgbClr val="1B2A4A"/>
          </a:solidFill>
          <a:ln w="12700">
            <a:solidFill>
              <a:srgbClr val="1B2A4A"/>
            </a:solidFill>
            <a:prstDash val="solid"/>
          </a:ln>
        </p:spPr>
      </p:sp>
      <p:sp>
        <p:nvSpPr>
          <p:cNvPr id="23" name="Text 21"/>
          <p:cNvSpPr/>
          <p:nvPr/>
        </p:nvSpPr>
        <p:spPr>
          <a:xfrm>
            <a:off x="7022592"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9</a:t>
            </a:r>
            <a:endParaRPr lang="en-US" sz="900" dirty="0"/>
          </a:p>
        </p:txBody>
      </p:sp>
      <p:sp>
        <p:nvSpPr>
          <p:cNvPr id="24" name="Shape 22"/>
          <p:cNvSpPr/>
          <p:nvPr/>
        </p:nvSpPr>
        <p:spPr>
          <a:xfrm>
            <a:off x="7415784" y="1325880"/>
            <a:ext cx="393192" cy="251460"/>
          </a:xfrm>
          <a:prstGeom prst="rect">
            <a:avLst/>
          </a:prstGeom>
          <a:solidFill>
            <a:srgbClr val="1B2A4A"/>
          </a:solidFill>
          <a:ln w="12700">
            <a:solidFill>
              <a:srgbClr val="1B2A4A"/>
            </a:solidFill>
            <a:prstDash val="solid"/>
          </a:ln>
        </p:spPr>
      </p:sp>
      <p:sp>
        <p:nvSpPr>
          <p:cNvPr id="25" name="Text 23"/>
          <p:cNvSpPr/>
          <p:nvPr/>
        </p:nvSpPr>
        <p:spPr>
          <a:xfrm>
            <a:off x="7415784"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10</a:t>
            </a:r>
            <a:endParaRPr lang="en-US" sz="900" dirty="0"/>
          </a:p>
        </p:txBody>
      </p:sp>
      <p:sp>
        <p:nvSpPr>
          <p:cNvPr id="26" name="Shape 24"/>
          <p:cNvSpPr/>
          <p:nvPr/>
        </p:nvSpPr>
        <p:spPr>
          <a:xfrm>
            <a:off x="7808976" y="1325880"/>
            <a:ext cx="393192" cy="251460"/>
          </a:xfrm>
          <a:prstGeom prst="rect">
            <a:avLst/>
          </a:prstGeom>
          <a:solidFill>
            <a:srgbClr val="1B2A4A"/>
          </a:solidFill>
          <a:ln w="12700">
            <a:solidFill>
              <a:srgbClr val="1B2A4A"/>
            </a:solidFill>
            <a:prstDash val="solid"/>
          </a:ln>
        </p:spPr>
      </p:sp>
      <p:sp>
        <p:nvSpPr>
          <p:cNvPr id="27" name="Text 25"/>
          <p:cNvSpPr/>
          <p:nvPr/>
        </p:nvSpPr>
        <p:spPr>
          <a:xfrm>
            <a:off x="7808976"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11</a:t>
            </a:r>
            <a:endParaRPr lang="en-US" sz="900" dirty="0"/>
          </a:p>
        </p:txBody>
      </p:sp>
      <p:sp>
        <p:nvSpPr>
          <p:cNvPr id="28" name="Shape 26"/>
          <p:cNvSpPr/>
          <p:nvPr/>
        </p:nvSpPr>
        <p:spPr>
          <a:xfrm>
            <a:off x="8202168" y="1325880"/>
            <a:ext cx="393192" cy="251460"/>
          </a:xfrm>
          <a:prstGeom prst="rect">
            <a:avLst/>
          </a:prstGeom>
          <a:solidFill>
            <a:srgbClr val="1B2A4A"/>
          </a:solidFill>
          <a:ln w="12700">
            <a:solidFill>
              <a:srgbClr val="1B2A4A"/>
            </a:solidFill>
            <a:prstDash val="solid"/>
          </a:ln>
        </p:spPr>
      </p:sp>
      <p:sp>
        <p:nvSpPr>
          <p:cNvPr id="29" name="Text 27"/>
          <p:cNvSpPr/>
          <p:nvPr/>
        </p:nvSpPr>
        <p:spPr>
          <a:xfrm>
            <a:off x="8202168"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12</a:t>
            </a:r>
            <a:endParaRPr lang="en-US" sz="900" dirty="0"/>
          </a:p>
        </p:txBody>
      </p:sp>
      <p:sp>
        <p:nvSpPr>
          <p:cNvPr id="30" name="Shape 28"/>
          <p:cNvSpPr/>
          <p:nvPr/>
        </p:nvSpPr>
        <p:spPr>
          <a:xfrm>
            <a:off x="347472" y="1577340"/>
            <a:ext cx="3474720" cy="251460"/>
          </a:xfrm>
          <a:prstGeom prst="rect">
            <a:avLst/>
          </a:prstGeom>
          <a:solidFill>
            <a:srgbClr val="ECFDF5"/>
          </a:solidFill>
          <a:ln w="3810">
            <a:solidFill>
              <a:srgbClr val="CBD5E1"/>
            </a:solidFill>
            <a:prstDash val="solid"/>
          </a:ln>
        </p:spPr>
      </p:sp>
      <p:sp>
        <p:nvSpPr>
          <p:cNvPr id="31" name="Text 29"/>
          <p:cNvSpPr/>
          <p:nvPr/>
        </p:nvSpPr>
        <p:spPr>
          <a:xfrm>
            <a:off x="402336" y="1577340"/>
            <a:ext cx="3383280" cy="251460"/>
          </a:xfrm>
          <a:prstGeom prst="rect">
            <a:avLst/>
          </a:prstGeom>
          <a:noFill/>
          <a:ln/>
        </p:spPr>
        <p:txBody>
          <a:bodyPr wrap="square" rtlCol="0" anchor="ctr"/>
          <a:lstStyle/>
          <a:p>
            <a:pPr indent="0" marL="0">
              <a:buNone/>
            </a:pPr>
            <a:r>
              <a:rPr lang="en-US" sz="900" b="1" dirty="0">
                <a:solidFill>
                  <a:srgbClr val="16A34A"/>
                </a:solidFill>
                <a:latin typeface="Calibri" pitchFamily="34" charset="0"/>
                <a:ea typeface="Calibri" pitchFamily="34" charset="-122"/>
                <a:cs typeface="Calibri" pitchFamily="34" charset="-120"/>
              </a:rPr>
              <a:t>● </a:t>
            </a:r>
            <a:pPr indent="0" marL="0">
              <a:buNone/>
            </a:pPr>
            <a:r>
              <a:rPr lang="en-US" sz="900" dirty="0">
                <a:solidFill>
                  <a:srgbClr val="1E293B"/>
                </a:solidFill>
                <a:latin typeface="Calibri" pitchFamily="34" charset="0"/>
                <a:ea typeface="Calibri" pitchFamily="34" charset="-122"/>
                <a:cs typeface="Calibri" pitchFamily="34" charset="-120"/>
              </a:rPr>
              <a:t>Revisión bibliográfica y diseño experimental</a:t>
            </a:r>
            <a:endParaRPr lang="en-US" sz="900" dirty="0"/>
          </a:p>
        </p:txBody>
      </p:sp>
      <p:sp>
        <p:nvSpPr>
          <p:cNvPr id="32" name="Shape 30"/>
          <p:cNvSpPr/>
          <p:nvPr/>
        </p:nvSpPr>
        <p:spPr>
          <a:xfrm>
            <a:off x="3877056" y="1577340"/>
            <a:ext cx="393192" cy="251460"/>
          </a:xfrm>
          <a:prstGeom prst="rect">
            <a:avLst/>
          </a:prstGeom>
          <a:solidFill>
            <a:srgbClr val="1A6B8A"/>
          </a:solidFill>
          <a:ln w="3810">
            <a:solidFill>
              <a:srgbClr val="CBD5E1"/>
            </a:solidFill>
            <a:prstDash val="solid"/>
          </a:ln>
        </p:spPr>
      </p:sp>
      <p:sp>
        <p:nvSpPr>
          <p:cNvPr id="33" name="Shape 31"/>
          <p:cNvSpPr/>
          <p:nvPr/>
        </p:nvSpPr>
        <p:spPr>
          <a:xfrm>
            <a:off x="4270248" y="1577340"/>
            <a:ext cx="393192" cy="251460"/>
          </a:xfrm>
          <a:prstGeom prst="rect">
            <a:avLst/>
          </a:prstGeom>
          <a:solidFill>
            <a:srgbClr val="1A6B8A"/>
          </a:solidFill>
          <a:ln w="3810">
            <a:solidFill>
              <a:srgbClr val="CBD5E1"/>
            </a:solidFill>
            <a:prstDash val="solid"/>
          </a:ln>
        </p:spPr>
      </p:sp>
      <p:sp>
        <p:nvSpPr>
          <p:cNvPr id="34" name="Shape 32"/>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35" name="Shape 33"/>
          <p:cNvSpPr/>
          <p:nvPr/>
        </p:nvSpPr>
        <p:spPr>
          <a:xfrm>
            <a:off x="4663440" y="1577340"/>
            <a:ext cx="393192" cy="251460"/>
          </a:xfrm>
          <a:prstGeom prst="rect">
            <a:avLst/>
          </a:prstGeom>
          <a:solidFill>
            <a:srgbClr val="1A6B8A"/>
          </a:solidFill>
          <a:ln w="3810">
            <a:solidFill>
              <a:srgbClr val="CBD5E1"/>
            </a:solidFill>
            <a:prstDash val="solid"/>
          </a:ln>
        </p:spPr>
      </p:sp>
      <p:sp>
        <p:nvSpPr>
          <p:cNvPr id="36" name="Shape 34"/>
          <p:cNvSpPr/>
          <p:nvPr/>
        </p:nvSpPr>
        <p:spPr>
          <a:xfrm>
            <a:off x="5056632" y="1577340"/>
            <a:ext cx="393192" cy="251460"/>
          </a:xfrm>
          <a:prstGeom prst="rect">
            <a:avLst/>
          </a:prstGeom>
          <a:solidFill>
            <a:srgbClr val="ECFDF5"/>
          </a:solidFill>
          <a:ln w="3810">
            <a:solidFill>
              <a:srgbClr val="CBD5E1"/>
            </a:solidFill>
            <a:prstDash val="solid"/>
          </a:ln>
        </p:spPr>
      </p:sp>
      <p:sp>
        <p:nvSpPr>
          <p:cNvPr id="37" name="Shape 35"/>
          <p:cNvSpPr/>
          <p:nvPr/>
        </p:nvSpPr>
        <p:spPr>
          <a:xfrm>
            <a:off x="5449824" y="1577340"/>
            <a:ext cx="393192" cy="251460"/>
          </a:xfrm>
          <a:prstGeom prst="rect">
            <a:avLst/>
          </a:prstGeom>
          <a:solidFill>
            <a:srgbClr val="ECFDF5"/>
          </a:solidFill>
          <a:ln w="3810">
            <a:solidFill>
              <a:srgbClr val="CBD5E1"/>
            </a:solidFill>
            <a:prstDash val="solid"/>
          </a:ln>
        </p:spPr>
      </p:sp>
      <p:sp>
        <p:nvSpPr>
          <p:cNvPr id="38" name="Shape 36"/>
          <p:cNvSpPr/>
          <p:nvPr/>
        </p:nvSpPr>
        <p:spPr>
          <a:xfrm>
            <a:off x="5843016" y="1577340"/>
            <a:ext cx="393192" cy="251460"/>
          </a:xfrm>
          <a:prstGeom prst="rect">
            <a:avLst/>
          </a:prstGeom>
          <a:solidFill>
            <a:srgbClr val="ECFDF5"/>
          </a:solidFill>
          <a:ln w="3810">
            <a:solidFill>
              <a:srgbClr val="CBD5E1"/>
            </a:solidFill>
            <a:prstDash val="solid"/>
          </a:ln>
        </p:spPr>
      </p:sp>
      <p:sp>
        <p:nvSpPr>
          <p:cNvPr id="39" name="Shape 37"/>
          <p:cNvSpPr/>
          <p:nvPr/>
        </p:nvSpPr>
        <p:spPr>
          <a:xfrm>
            <a:off x="6236208" y="1577340"/>
            <a:ext cx="393192" cy="251460"/>
          </a:xfrm>
          <a:prstGeom prst="rect">
            <a:avLst/>
          </a:prstGeom>
          <a:solidFill>
            <a:srgbClr val="ECFDF5"/>
          </a:solidFill>
          <a:ln w="3810">
            <a:solidFill>
              <a:srgbClr val="CBD5E1"/>
            </a:solidFill>
            <a:prstDash val="solid"/>
          </a:ln>
        </p:spPr>
      </p:sp>
      <p:sp>
        <p:nvSpPr>
          <p:cNvPr id="40" name="Shape 38"/>
          <p:cNvSpPr/>
          <p:nvPr/>
        </p:nvSpPr>
        <p:spPr>
          <a:xfrm>
            <a:off x="6629400" y="1577340"/>
            <a:ext cx="393192" cy="251460"/>
          </a:xfrm>
          <a:prstGeom prst="rect">
            <a:avLst/>
          </a:prstGeom>
          <a:solidFill>
            <a:srgbClr val="ECFDF5"/>
          </a:solidFill>
          <a:ln w="3810">
            <a:solidFill>
              <a:srgbClr val="CBD5E1"/>
            </a:solidFill>
            <a:prstDash val="solid"/>
          </a:ln>
        </p:spPr>
      </p:sp>
      <p:sp>
        <p:nvSpPr>
          <p:cNvPr id="41" name="Shape 39"/>
          <p:cNvSpPr/>
          <p:nvPr/>
        </p:nvSpPr>
        <p:spPr>
          <a:xfrm>
            <a:off x="7022592" y="1577340"/>
            <a:ext cx="393192" cy="251460"/>
          </a:xfrm>
          <a:prstGeom prst="rect">
            <a:avLst/>
          </a:prstGeom>
          <a:solidFill>
            <a:srgbClr val="ECFDF5"/>
          </a:solidFill>
          <a:ln w="3810">
            <a:solidFill>
              <a:srgbClr val="CBD5E1"/>
            </a:solidFill>
            <a:prstDash val="solid"/>
          </a:ln>
        </p:spPr>
      </p:sp>
      <p:sp>
        <p:nvSpPr>
          <p:cNvPr id="42" name="Shape 40"/>
          <p:cNvSpPr/>
          <p:nvPr/>
        </p:nvSpPr>
        <p:spPr>
          <a:xfrm>
            <a:off x="7415784" y="1577340"/>
            <a:ext cx="393192" cy="251460"/>
          </a:xfrm>
          <a:prstGeom prst="rect">
            <a:avLst/>
          </a:prstGeom>
          <a:solidFill>
            <a:srgbClr val="ECFDF5"/>
          </a:solidFill>
          <a:ln w="3810">
            <a:solidFill>
              <a:srgbClr val="CBD5E1"/>
            </a:solidFill>
            <a:prstDash val="solid"/>
          </a:ln>
        </p:spPr>
      </p:sp>
      <p:sp>
        <p:nvSpPr>
          <p:cNvPr id="43" name="Shape 41"/>
          <p:cNvSpPr/>
          <p:nvPr/>
        </p:nvSpPr>
        <p:spPr>
          <a:xfrm>
            <a:off x="7808976" y="1577340"/>
            <a:ext cx="393192" cy="251460"/>
          </a:xfrm>
          <a:prstGeom prst="rect">
            <a:avLst/>
          </a:prstGeom>
          <a:solidFill>
            <a:srgbClr val="ECFDF5"/>
          </a:solidFill>
          <a:ln w="3810">
            <a:solidFill>
              <a:srgbClr val="CBD5E1"/>
            </a:solidFill>
            <a:prstDash val="solid"/>
          </a:ln>
        </p:spPr>
      </p:sp>
      <p:sp>
        <p:nvSpPr>
          <p:cNvPr id="44" name="Shape 42"/>
          <p:cNvSpPr/>
          <p:nvPr/>
        </p:nvSpPr>
        <p:spPr>
          <a:xfrm>
            <a:off x="8202168" y="1577340"/>
            <a:ext cx="393192" cy="251460"/>
          </a:xfrm>
          <a:prstGeom prst="rect">
            <a:avLst/>
          </a:prstGeom>
          <a:solidFill>
            <a:srgbClr val="ECFDF5"/>
          </a:solidFill>
          <a:ln w="3810">
            <a:solidFill>
              <a:srgbClr val="CBD5E1"/>
            </a:solidFill>
            <a:prstDash val="solid"/>
          </a:ln>
        </p:spPr>
      </p:sp>
      <p:sp>
        <p:nvSpPr>
          <p:cNvPr id="45" name="Shape 43"/>
          <p:cNvSpPr/>
          <p:nvPr/>
        </p:nvSpPr>
        <p:spPr>
          <a:xfrm>
            <a:off x="347472" y="1828800"/>
            <a:ext cx="3474720" cy="251460"/>
          </a:xfrm>
          <a:prstGeom prst="rect">
            <a:avLst/>
          </a:prstGeom>
          <a:solidFill>
            <a:srgbClr val="ECFDF5"/>
          </a:solidFill>
          <a:ln w="3810">
            <a:solidFill>
              <a:srgbClr val="CBD5E1"/>
            </a:solidFill>
            <a:prstDash val="solid"/>
          </a:ln>
        </p:spPr>
      </p:sp>
      <p:sp>
        <p:nvSpPr>
          <p:cNvPr id="46" name="Text 44"/>
          <p:cNvSpPr/>
          <p:nvPr/>
        </p:nvSpPr>
        <p:spPr>
          <a:xfrm>
            <a:off x="402336" y="1828800"/>
            <a:ext cx="3383280" cy="251460"/>
          </a:xfrm>
          <a:prstGeom prst="rect">
            <a:avLst/>
          </a:prstGeom>
          <a:noFill/>
          <a:ln/>
        </p:spPr>
        <p:txBody>
          <a:bodyPr wrap="square" rtlCol="0" anchor="ctr"/>
          <a:lstStyle/>
          <a:p>
            <a:pPr indent="0" marL="0">
              <a:buNone/>
            </a:pPr>
            <a:r>
              <a:rPr lang="en-US" sz="900" b="1" dirty="0">
                <a:solidFill>
                  <a:srgbClr val="16A34A"/>
                </a:solidFill>
                <a:latin typeface="Calibri" pitchFamily="34" charset="0"/>
                <a:ea typeface="Calibri" pitchFamily="34" charset="-122"/>
                <a:cs typeface="Calibri" pitchFamily="34" charset="-120"/>
              </a:rPr>
              <a:t>● </a:t>
            </a:r>
            <a:pPr indent="0" marL="0">
              <a:buNone/>
            </a:pPr>
            <a:r>
              <a:rPr lang="en-US" sz="900" dirty="0">
                <a:solidFill>
                  <a:srgbClr val="1E293B"/>
                </a:solidFill>
                <a:latin typeface="Calibri" pitchFamily="34" charset="0"/>
                <a:ea typeface="Calibri" pitchFamily="34" charset="-122"/>
                <a:cs typeface="Calibri" pitchFamily="34" charset="-120"/>
              </a:rPr>
              <a:t>Determinación de MIC y condiciones subinhibitorias</a:t>
            </a:r>
            <a:endParaRPr lang="en-US" sz="900" dirty="0"/>
          </a:p>
        </p:txBody>
      </p:sp>
      <p:sp>
        <p:nvSpPr>
          <p:cNvPr id="47" name="Shape 45"/>
          <p:cNvSpPr/>
          <p:nvPr/>
        </p:nvSpPr>
        <p:spPr>
          <a:xfrm>
            <a:off x="3877056" y="1828800"/>
            <a:ext cx="393192" cy="251460"/>
          </a:xfrm>
          <a:prstGeom prst="rect">
            <a:avLst/>
          </a:prstGeom>
          <a:solidFill>
            <a:srgbClr val="ECFDF5"/>
          </a:solidFill>
          <a:ln w="3810">
            <a:solidFill>
              <a:srgbClr val="CBD5E1"/>
            </a:solidFill>
            <a:prstDash val="solid"/>
          </a:ln>
        </p:spPr>
      </p:sp>
      <p:sp>
        <p:nvSpPr>
          <p:cNvPr id="48" name="Shape 46"/>
          <p:cNvSpPr/>
          <p:nvPr/>
        </p:nvSpPr>
        <p:spPr>
          <a:xfrm>
            <a:off x="4270248" y="1828800"/>
            <a:ext cx="393192" cy="251460"/>
          </a:xfrm>
          <a:prstGeom prst="rect">
            <a:avLst/>
          </a:prstGeom>
          <a:solidFill>
            <a:srgbClr val="ECFDF5"/>
          </a:solidFill>
          <a:ln w="3810">
            <a:solidFill>
              <a:srgbClr val="CBD5E1"/>
            </a:solidFill>
            <a:prstDash val="solid"/>
          </a:ln>
        </p:spPr>
      </p:sp>
      <p:sp>
        <p:nvSpPr>
          <p:cNvPr id="49" name="Shape 47"/>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50" name="Shape 48"/>
          <p:cNvSpPr/>
          <p:nvPr/>
        </p:nvSpPr>
        <p:spPr>
          <a:xfrm>
            <a:off x="4663440" y="1828800"/>
            <a:ext cx="393192" cy="251460"/>
          </a:xfrm>
          <a:prstGeom prst="rect">
            <a:avLst/>
          </a:prstGeom>
          <a:solidFill>
            <a:srgbClr val="ECFDF5"/>
          </a:solidFill>
          <a:ln w="3810">
            <a:solidFill>
              <a:srgbClr val="CBD5E1"/>
            </a:solidFill>
            <a:prstDash val="solid"/>
          </a:ln>
        </p:spPr>
      </p:sp>
      <p:sp>
        <p:nvSpPr>
          <p:cNvPr id="51" name="Shape 49"/>
          <p:cNvSpPr/>
          <p:nvPr/>
        </p:nvSpPr>
        <p:spPr>
          <a:xfrm>
            <a:off x="5056632" y="1828800"/>
            <a:ext cx="393192" cy="251460"/>
          </a:xfrm>
          <a:prstGeom prst="rect">
            <a:avLst/>
          </a:prstGeom>
          <a:solidFill>
            <a:srgbClr val="1A6B8A"/>
          </a:solidFill>
          <a:ln w="3810">
            <a:solidFill>
              <a:srgbClr val="CBD5E1"/>
            </a:solidFill>
            <a:prstDash val="solid"/>
          </a:ln>
        </p:spPr>
      </p:sp>
      <p:sp>
        <p:nvSpPr>
          <p:cNvPr id="52" name="Shape 50"/>
          <p:cNvSpPr/>
          <p:nvPr/>
        </p:nvSpPr>
        <p:spPr>
          <a:xfrm>
            <a:off x="5449824" y="1828800"/>
            <a:ext cx="393192" cy="251460"/>
          </a:xfrm>
          <a:prstGeom prst="rect">
            <a:avLst/>
          </a:prstGeom>
          <a:solidFill>
            <a:srgbClr val="1A6B8A"/>
          </a:solidFill>
          <a:ln w="3810">
            <a:solidFill>
              <a:srgbClr val="CBD5E1"/>
            </a:solidFill>
            <a:prstDash val="solid"/>
          </a:ln>
        </p:spPr>
      </p:sp>
      <p:sp>
        <p:nvSpPr>
          <p:cNvPr id="53" name="Shape 51"/>
          <p:cNvSpPr/>
          <p:nvPr/>
        </p:nvSpPr>
        <p:spPr>
          <a:xfrm>
            <a:off x="5843016" y="1828800"/>
            <a:ext cx="393192" cy="251460"/>
          </a:xfrm>
          <a:prstGeom prst="rect">
            <a:avLst/>
          </a:prstGeom>
          <a:solidFill>
            <a:srgbClr val="ECFDF5"/>
          </a:solidFill>
          <a:ln w="3810">
            <a:solidFill>
              <a:srgbClr val="CBD5E1"/>
            </a:solidFill>
            <a:prstDash val="solid"/>
          </a:ln>
        </p:spPr>
      </p:sp>
      <p:sp>
        <p:nvSpPr>
          <p:cNvPr id="54" name="Shape 52"/>
          <p:cNvSpPr/>
          <p:nvPr/>
        </p:nvSpPr>
        <p:spPr>
          <a:xfrm>
            <a:off x="6236208" y="1828800"/>
            <a:ext cx="393192" cy="251460"/>
          </a:xfrm>
          <a:prstGeom prst="rect">
            <a:avLst/>
          </a:prstGeom>
          <a:solidFill>
            <a:srgbClr val="ECFDF5"/>
          </a:solidFill>
          <a:ln w="3810">
            <a:solidFill>
              <a:srgbClr val="CBD5E1"/>
            </a:solidFill>
            <a:prstDash val="solid"/>
          </a:ln>
        </p:spPr>
      </p:sp>
      <p:sp>
        <p:nvSpPr>
          <p:cNvPr id="55" name="Shape 53"/>
          <p:cNvSpPr/>
          <p:nvPr/>
        </p:nvSpPr>
        <p:spPr>
          <a:xfrm>
            <a:off x="6629400" y="1828800"/>
            <a:ext cx="393192" cy="251460"/>
          </a:xfrm>
          <a:prstGeom prst="rect">
            <a:avLst/>
          </a:prstGeom>
          <a:solidFill>
            <a:srgbClr val="ECFDF5"/>
          </a:solidFill>
          <a:ln w="3810">
            <a:solidFill>
              <a:srgbClr val="CBD5E1"/>
            </a:solidFill>
            <a:prstDash val="solid"/>
          </a:ln>
        </p:spPr>
      </p:sp>
      <p:sp>
        <p:nvSpPr>
          <p:cNvPr id="56" name="Shape 54"/>
          <p:cNvSpPr/>
          <p:nvPr/>
        </p:nvSpPr>
        <p:spPr>
          <a:xfrm>
            <a:off x="7022592" y="1828800"/>
            <a:ext cx="393192" cy="251460"/>
          </a:xfrm>
          <a:prstGeom prst="rect">
            <a:avLst/>
          </a:prstGeom>
          <a:solidFill>
            <a:srgbClr val="ECFDF5"/>
          </a:solidFill>
          <a:ln w="3810">
            <a:solidFill>
              <a:srgbClr val="CBD5E1"/>
            </a:solidFill>
            <a:prstDash val="solid"/>
          </a:ln>
        </p:spPr>
      </p:sp>
      <p:sp>
        <p:nvSpPr>
          <p:cNvPr id="57" name="Shape 55"/>
          <p:cNvSpPr/>
          <p:nvPr/>
        </p:nvSpPr>
        <p:spPr>
          <a:xfrm>
            <a:off x="7415784" y="1828800"/>
            <a:ext cx="393192" cy="251460"/>
          </a:xfrm>
          <a:prstGeom prst="rect">
            <a:avLst/>
          </a:prstGeom>
          <a:solidFill>
            <a:srgbClr val="ECFDF5"/>
          </a:solidFill>
          <a:ln w="3810">
            <a:solidFill>
              <a:srgbClr val="CBD5E1"/>
            </a:solidFill>
            <a:prstDash val="solid"/>
          </a:ln>
        </p:spPr>
      </p:sp>
      <p:sp>
        <p:nvSpPr>
          <p:cNvPr id="58" name="Shape 56"/>
          <p:cNvSpPr/>
          <p:nvPr/>
        </p:nvSpPr>
        <p:spPr>
          <a:xfrm>
            <a:off x="7808976" y="1828800"/>
            <a:ext cx="393192" cy="251460"/>
          </a:xfrm>
          <a:prstGeom prst="rect">
            <a:avLst/>
          </a:prstGeom>
          <a:solidFill>
            <a:srgbClr val="ECFDF5"/>
          </a:solidFill>
          <a:ln w="3810">
            <a:solidFill>
              <a:srgbClr val="CBD5E1"/>
            </a:solidFill>
            <a:prstDash val="solid"/>
          </a:ln>
        </p:spPr>
      </p:sp>
      <p:sp>
        <p:nvSpPr>
          <p:cNvPr id="59" name="Shape 57"/>
          <p:cNvSpPr/>
          <p:nvPr/>
        </p:nvSpPr>
        <p:spPr>
          <a:xfrm>
            <a:off x="8202168" y="1828800"/>
            <a:ext cx="393192" cy="251460"/>
          </a:xfrm>
          <a:prstGeom prst="rect">
            <a:avLst/>
          </a:prstGeom>
          <a:solidFill>
            <a:srgbClr val="ECFDF5"/>
          </a:solidFill>
          <a:ln w="3810">
            <a:solidFill>
              <a:srgbClr val="CBD5E1"/>
            </a:solidFill>
            <a:prstDash val="solid"/>
          </a:ln>
        </p:spPr>
      </p:sp>
      <p:sp>
        <p:nvSpPr>
          <p:cNvPr id="60" name="Shape 58"/>
          <p:cNvSpPr/>
          <p:nvPr/>
        </p:nvSpPr>
        <p:spPr>
          <a:xfrm>
            <a:off x="347472" y="2080260"/>
            <a:ext cx="3474720" cy="251460"/>
          </a:xfrm>
          <a:prstGeom prst="rect">
            <a:avLst/>
          </a:prstGeom>
          <a:solidFill>
            <a:srgbClr val="FFFFFF"/>
          </a:solidFill>
          <a:ln w="3810">
            <a:solidFill>
              <a:srgbClr val="CBD5E1"/>
            </a:solidFill>
            <a:prstDash val="solid"/>
          </a:ln>
        </p:spPr>
      </p:sp>
      <p:sp>
        <p:nvSpPr>
          <p:cNvPr id="61" name="Text 59"/>
          <p:cNvSpPr/>
          <p:nvPr/>
        </p:nvSpPr>
        <p:spPr>
          <a:xfrm>
            <a:off x="402336" y="208026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Optimización de extracción proteica</a:t>
            </a:r>
            <a:endParaRPr lang="en-US" sz="900" dirty="0"/>
          </a:p>
        </p:txBody>
      </p:sp>
      <p:sp>
        <p:nvSpPr>
          <p:cNvPr id="62" name="Shape 60"/>
          <p:cNvSpPr/>
          <p:nvPr/>
        </p:nvSpPr>
        <p:spPr>
          <a:xfrm>
            <a:off x="3877056" y="2080260"/>
            <a:ext cx="393192" cy="251460"/>
          </a:xfrm>
          <a:prstGeom prst="rect">
            <a:avLst/>
          </a:prstGeom>
          <a:solidFill>
            <a:srgbClr val="FFFFFF"/>
          </a:solidFill>
          <a:ln w="3810">
            <a:solidFill>
              <a:srgbClr val="CBD5E1"/>
            </a:solidFill>
            <a:prstDash val="solid"/>
          </a:ln>
        </p:spPr>
      </p:sp>
      <p:sp>
        <p:nvSpPr>
          <p:cNvPr id="63" name="Shape 61"/>
          <p:cNvSpPr/>
          <p:nvPr/>
        </p:nvSpPr>
        <p:spPr>
          <a:xfrm>
            <a:off x="4270248" y="2080260"/>
            <a:ext cx="393192" cy="251460"/>
          </a:xfrm>
          <a:prstGeom prst="rect">
            <a:avLst/>
          </a:prstGeom>
          <a:solidFill>
            <a:srgbClr val="FFFFFF"/>
          </a:solidFill>
          <a:ln w="3810">
            <a:solidFill>
              <a:srgbClr val="CBD5E1"/>
            </a:solidFill>
            <a:prstDash val="solid"/>
          </a:ln>
        </p:spPr>
      </p:sp>
      <p:sp>
        <p:nvSpPr>
          <p:cNvPr id="64" name="Shape 62"/>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65" name="Shape 63"/>
          <p:cNvSpPr/>
          <p:nvPr/>
        </p:nvSpPr>
        <p:spPr>
          <a:xfrm>
            <a:off x="4663440" y="2080260"/>
            <a:ext cx="393192" cy="251460"/>
          </a:xfrm>
          <a:prstGeom prst="rect">
            <a:avLst/>
          </a:prstGeom>
          <a:solidFill>
            <a:srgbClr val="FFFFFF"/>
          </a:solidFill>
          <a:ln w="3810">
            <a:solidFill>
              <a:srgbClr val="CBD5E1"/>
            </a:solidFill>
            <a:prstDash val="solid"/>
          </a:ln>
        </p:spPr>
      </p:sp>
      <p:sp>
        <p:nvSpPr>
          <p:cNvPr id="66" name="Shape 64"/>
          <p:cNvSpPr/>
          <p:nvPr/>
        </p:nvSpPr>
        <p:spPr>
          <a:xfrm>
            <a:off x="5056632" y="2080260"/>
            <a:ext cx="393192" cy="251460"/>
          </a:xfrm>
          <a:prstGeom prst="rect">
            <a:avLst/>
          </a:prstGeom>
          <a:solidFill>
            <a:srgbClr val="FFFFFF"/>
          </a:solidFill>
          <a:ln w="3810">
            <a:solidFill>
              <a:srgbClr val="CBD5E1"/>
            </a:solidFill>
            <a:prstDash val="solid"/>
          </a:ln>
        </p:spPr>
      </p:sp>
      <p:sp>
        <p:nvSpPr>
          <p:cNvPr id="67" name="Shape 65"/>
          <p:cNvSpPr/>
          <p:nvPr/>
        </p:nvSpPr>
        <p:spPr>
          <a:xfrm>
            <a:off x="5449824" y="2080260"/>
            <a:ext cx="393192" cy="251460"/>
          </a:xfrm>
          <a:prstGeom prst="rect">
            <a:avLst/>
          </a:prstGeom>
          <a:solidFill>
            <a:srgbClr val="FFFFFF"/>
          </a:solidFill>
          <a:ln w="3810">
            <a:solidFill>
              <a:srgbClr val="CBD5E1"/>
            </a:solidFill>
            <a:prstDash val="solid"/>
          </a:ln>
        </p:spPr>
      </p:sp>
      <p:sp>
        <p:nvSpPr>
          <p:cNvPr id="68" name="Shape 66"/>
          <p:cNvSpPr/>
          <p:nvPr/>
        </p:nvSpPr>
        <p:spPr>
          <a:xfrm>
            <a:off x="5843016" y="2080260"/>
            <a:ext cx="393192" cy="251460"/>
          </a:xfrm>
          <a:prstGeom prst="rect">
            <a:avLst/>
          </a:prstGeom>
          <a:solidFill>
            <a:srgbClr val="94A3B8"/>
          </a:solidFill>
          <a:ln w="3810">
            <a:solidFill>
              <a:srgbClr val="CBD5E1"/>
            </a:solidFill>
            <a:prstDash val="solid"/>
          </a:ln>
        </p:spPr>
      </p:sp>
      <p:sp>
        <p:nvSpPr>
          <p:cNvPr id="69" name="Shape 67"/>
          <p:cNvSpPr/>
          <p:nvPr/>
        </p:nvSpPr>
        <p:spPr>
          <a:xfrm>
            <a:off x="6236208" y="2080260"/>
            <a:ext cx="393192" cy="251460"/>
          </a:xfrm>
          <a:prstGeom prst="rect">
            <a:avLst/>
          </a:prstGeom>
          <a:solidFill>
            <a:srgbClr val="94A3B8"/>
          </a:solidFill>
          <a:ln w="3810">
            <a:solidFill>
              <a:srgbClr val="CBD5E1"/>
            </a:solidFill>
            <a:prstDash val="solid"/>
          </a:ln>
        </p:spPr>
      </p:sp>
      <p:sp>
        <p:nvSpPr>
          <p:cNvPr id="70" name="Shape 68"/>
          <p:cNvSpPr/>
          <p:nvPr/>
        </p:nvSpPr>
        <p:spPr>
          <a:xfrm>
            <a:off x="6629400" y="2080260"/>
            <a:ext cx="393192" cy="251460"/>
          </a:xfrm>
          <a:prstGeom prst="rect">
            <a:avLst/>
          </a:prstGeom>
          <a:solidFill>
            <a:srgbClr val="FFFFFF"/>
          </a:solidFill>
          <a:ln w="3810">
            <a:solidFill>
              <a:srgbClr val="CBD5E1"/>
            </a:solidFill>
            <a:prstDash val="solid"/>
          </a:ln>
        </p:spPr>
      </p:sp>
      <p:sp>
        <p:nvSpPr>
          <p:cNvPr id="71" name="Shape 69"/>
          <p:cNvSpPr/>
          <p:nvPr/>
        </p:nvSpPr>
        <p:spPr>
          <a:xfrm>
            <a:off x="7022592" y="2080260"/>
            <a:ext cx="393192" cy="251460"/>
          </a:xfrm>
          <a:prstGeom prst="rect">
            <a:avLst/>
          </a:prstGeom>
          <a:solidFill>
            <a:srgbClr val="FFFFFF"/>
          </a:solidFill>
          <a:ln w="3810">
            <a:solidFill>
              <a:srgbClr val="CBD5E1"/>
            </a:solidFill>
            <a:prstDash val="solid"/>
          </a:ln>
        </p:spPr>
      </p:sp>
      <p:sp>
        <p:nvSpPr>
          <p:cNvPr id="72" name="Shape 70"/>
          <p:cNvSpPr/>
          <p:nvPr/>
        </p:nvSpPr>
        <p:spPr>
          <a:xfrm>
            <a:off x="7415784" y="2080260"/>
            <a:ext cx="393192" cy="251460"/>
          </a:xfrm>
          <a:prstGeom prst="rect">
            <a:avLst/>
          </a:prstGeom>
          <a:solidFill>
            <a:srgbClr val="FFFFFF"/>
          </a:solidFill>
          <a:ln w="3810">
            <a:solidFill>
              <a:srgbClr val="CBD5E1"/>
            </a:solidFill>
            <a:prstDash val="solid"/>
          </a:ln>
        </p:spPr>
      </p:sp>
      <p:sp>
        <p:nvSpPr>
          <p:cNvPr id="73" name="Shape 71"/>
          <p:cNvSpPr/>
          <p:nvPr/>
        </p:nvSpPr>
        <p:spPr>
          <a:xfrm>
            <a:off x="7808976" y="2080260"/>
            <a:ext cx="393192" cy="251460"/>
          </a:xfrm>
          <a:prstGeom prst="rect">
            <a:avLst/>
          </a:prstGeom>
          <a:solidFill>
            <a:srgbClr val="FFFFFF"/>
          </a:solidFill>
          <a:ln w="3810">
            <a:solidFill>
              <a:srgbClr val="CBD5E1"/>
            </a:solidFill>
            <a:prstDash val="solid"/>
          </a:ln>
        </p:spPr>
      </p:sp>
      <p:sp>
        <p:nvSpPr>
          <p:cNvPr id="74" name="Shape 72"/>
          <p:cNvSpPr/>
          <p:nvPr/>
        </p:nvSpPr>
        <p:spPr>
          <a:xfrm>
            <a:off x="8202168" y="2080260"/>
            <a:ext cx="393192" cy="251460"/>
          </a:xfrm>
          <a:prstGeom prst="rect">
            <a:avLst/>
          </a:prstGeom>
          <a:solidFill>
            <a:srgbClr val="FFFFFF"/>
          </a:solidFill>
          <a:ln w="3810">
            <a:solidFill>
              <a:srgbClr val="CBD5E1"/>
            </a:solidFill>
            <a:prstDash val="solid"/>
          </a:ln>
        </p:spPr>
      </p:sp>
      <p:sp>
        <p:nvSpPr>
          <p:cNvPr id="75" name="Shape 73"/>
          <p:cNvSpPr/>
          <p:nvPr/>
        </p:nvSpPr>
        <p:spPr>
          <a:xfrm>
            <a:off x="347472" y="2331720"/>
            <a:ext cx="3474720" cy="251460"/>
          </a:xfrm>
          <a:prstGeom prst="rect">
            <a:avLst/>
          </a:prstGeom>
          <a:solidFill>
            <a:srgbClr val="ECFDF5"/>
          </a:solidFill>
          <a:ln w="3810">
            <a:solidFill>
              <a:srgbClr val="CBD5E1"/>
            </a:solidFill>
            <a:prstDash val="solid"/>
          </a:ln>
        </p:spPr>
      </p:sp>
      <p:sp>
        <p:nvSpPr>
          <p:cNvPr id="76" name="Text 74"/>
          <p:cNvSpPr/>
          <p:nvPr/>
        </p:nvSpPr>
        <p:spPr>
          <a:xfrm>
            <a:off x="402336" y="2331720"/>
            <a:ext cx="3383280" cy="251460"/>
          </a:xfrm>
          <a:prstGeom prst="rect">
            <a:avLst/>
          </a:prstGeom>
          <a:noFill/>
          <a:ln/>
        </p:spPr>
        <p:txBody>
          <a:bodyPr wrap="square" rtlCol="0" anchor="ctr"/>
          <a:lstStyle/>
          <a:p>
            <a:pPr indent="0" marL="0">
              <a:buNone/>
            </a:pPr>
            <a:r>
              <a:rPr lang="en-US" sz="900" b="1" dirty="0">
                <a:solidFill>
                  <a:srgbClr val="16A34A"/>
                </a:solidFill>
                <a:latin typeface="Calibri" pitchFamily="34" charset="0"/>
                <a:ea typeface="Calibri" pitchFamily="34" charset="-122"/>
                <a:cs typeface="Calibri" pitchFamily="34" charset="-120"/>
              </a:rPr>
              <a:t>● </a:t>
            </a:r>
            <a:pPr indent="0" marL="0">
              <a:buNone/>
            </a:pPr>
            <a:r>
              <a:rPr lang="en-US" sz="900" dirty="0">
                <a:solidFill>
                  <a:srgbClr val="1E293B"/>
                </a:solidFill>
                <a:latin typeface="Calibri" pitchFamily="34" charset="0"/>
                <a:ea typeface="Calibri" pitchFamily="34" charset="-122"/>
                <a:cs typeface="Calibri" pitchFamily="34" charset="-120"/>
              </a:rPr>
              <a:t>Puesta a punto estrategia DIA</a:t>
            </a:r>
            <a:endParaRPr lang="en-US" sz="900" dirty="0"/>
          </a:p>
        </p:txBody>
      </p:sp>
      <p:sp>
        <p:nvSpPr>
          <p:cNvPr id="77" name="Shape 75"/>
          <p:cNvSpPr/>
          <p:nvPr/>
        </p:nvSpPr>
        <p:spPr>
          <a:xfrm>
            <a:off x="3877056" y="2331720"/>
            <a:ext cx="393192" cy="251460"/>
          </a:xfrm>
          <a:prstGeom prst="rect">
            <a:avLst/>
          </a:prstGeom>
          <a:solidFill>
            <a:srgbClr val="ECFDF5"/>
          </a:solidFill>
          <a:ln w="3810">
            <a:solidFill>
              <a:srgbClr val="CBD5E1"/>
            </a:solidFill>
            <a:prstDash val="solid"/>
          </a:ln>
        </p:spPr>
      </p:sp>
      <p:sp>
        <p:nvSpPr>
          <p:cNvPr id="78" name="Shape 76"/>
          <p:cNvSpPr/>
          <p:nvPr/>
        </p:nvSpPr>
        <p:spPr>
          <a:xfrm>
            <a:off x="4270248" y="2331720"/>
            <a:ext cx="393192" cy="251460"/>
          </a:xfrm>
          <a:prstGeom prst="rect">
            <a:avLst/>
          </a:prstGeom>
          <a:solidFill>
            <a:srgbClr val="ECFDF5"/>
          </a:solidFill>
          <a:ln w="3810">
            <a:solidFill>
              <a:srgbClr val="CBD5E1"/>
            </a:solidFill>
            <a:prstDash val="solid"/>
          </a:ln>
        </p:spPr>
      </p:sp>
      <p:sp>
        <p:nvSpPr>
          <p:cNvPr id="79" name="Shape 77"/>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80" name="Shape 78"/>
          <p:cNvSpPr/>
          <p:nvPr/>
        </p:nvSpPr>
        <p:spPr>
          <a:xfrm>
            <a:off x="4663440" y="2331720"/>
            <a:ext cx="393192" cy="251460"/>
          </a:xfrm>
          <a:prstGeom prst="rect">
            <a:avLst/>
          </a:prstGeom>
          <a:solidFill>
            <a:srgbClr val="ECFDF5"/>
          </a:solidFill>
          <a:ln w="3810">
            <a:solidFill>
              <a:srgbClr val="CBD5E1"/>
            </a:solidFill>
            <a:prstDash val="solid"/>
          </a:ln>
        </p:spPr>
      </p:sp>
      <p:sp>
        <p:nvSpPr>
          <p:cNvPr id="81" name="Shape 79"/>
          <p:cNvSpPr/>
          <p:nvPr/>
        </p:nvSpPr>
        <p:spPr>
          <a:xfrm>
            <a:off x="5056632" y="2331720"/>
            <a:ext cx="393192" cy="251460"/>
          </a:xfrm>
          <a:prstGeom prst="rect">
            <a:avLst/>
          </a:prstGeom>
          <a:solidFill>
            <a:srgbClr val="ECFDF5"/>
          </a:solidFill>
          <a:ln w="3810">
            <a:solidFill>
              <a:srgbClr val="CBD5E1"/>
            </a:solidFill>
            <a:prstDash val="solid"/>
          </a:ln>
        </p:spPr>
      </p:sp>
      <p:sp>
        <p:nvSpPr>
          <p:cNvPr id="82" name="Shape 80"/>
          <p:cNvSpPr/>
          <p:nvPr/>
        </p:nvSpPr>
        <p:spPr>
          <a:xfrm>
            <a:off x="5449824" y="2331720"/>
            <a:ext cx="393192" cy="251460"/>
          </a:xfrm>
          <a:prstGeom prst="rect">
            <a:avLst/>
          </a:prstGeom>
          <a:solidFill>
            <a:srgbClr val="ECFDF5"/>
          </a:solidFill>
          <a:ln w="3810">
            <a:solidFill>
              <a:srgbClr val="CBD5E1"/>
            </a:solidFill>
            <a:prstDash val="solid"/>
          </a:ln>
        </p:spPr>
      </p:sp>
      <p:sp>
        <p:nvSpPr>
          <p:cNvPr id="83" name="Shape 81"/>
          <p:cNvSpPr/>
          <p:nvPr/>
        </p:nvSpPr>
        <p:spPr>
          <a:xfrm>
            <a:off x="5843016" y="2331720"/>
            <a:ext cx="393192" cy="251460"/>
          </a:xfrm>
          <a:prstGeom prst="rect">
            <a:avLst/>
          </a:prstGeom>
          <a:solidFill>
            <a:srgbClr val="ECFDF5"/>
          </a:solidFill>
          <a:ln w="3810">
            <a:solidFill>
              <a:srgbClr val="CBD5E1"/>
            </a:solidFill>
            <a:prstDash val="solid"/>
          </a:ln>
        </p:spPr>
      </p:sp>
      <p:sp>
        <p:nvSpPr>
          <p:cNvPr id="84" name="Shape 82"/>
          <p:cNvSpPr/>
          <p:nvPr/>
        </p:nvSpPr>
        <p:spPr>
          <a:xfrm>
            <a:off x="6236208" y="2331720"/>
            <a:ext cx="393192" cy="251460"/>
          </a:xfrm>
          <a:prstGeom prst="rect">
            <a:avLst/>
          </a:prstGeom>
          <a:solidFill>
            <a:srgbClr val="ECFDF5"/>
          </a:solidFill>
          <a:ln w="3810">
            <a:solidFill>
              <a:srgbClr val="CBD5E1"/>
            </a:solidFill>
            <a:prstDash val="solid"/>
          </a:ln>
        </p:spPr>
      </p:sp>
      <p:sp>
        <p:nvSpPr>
          <p:cNvPr id="85" name="Shape 83"/>
          <p:cNvSpPr/>
          <p:nvPr/>
        </p:nvSpPr>
        <p:spPr>
          <a:xfrm>
            <a:off x="6629400" y="2331720"/>
            <a:ext cx="393192" cy="251460"/>
          </a:xfrm>
          <a:prstGeom prst="rect">
            <a:avLst/>
          </a:prstGeom>
          <a:solidFill>
            <a:srgbClr val="1A6B8A"/>
          </a:solidFill>
          <a:ln w="3810">
            <a:solidFill>
              <a:srgbClr val="CBD5E1"/>
            </a:solidFill>
            <a:prstDash val="solid"/>
          </a:ln>
        </p:spPr>
      </p:sp>
      <p:sp>
        <p:nvSpPr>
          <p:cNvPr id="86" name="Shape 84"/>
          <p:cNvSpPr/>
          <p:nvPr/>
        </p:nvSpPr>
        <p:spPr>
          <a:xfrm>
            <a:off x="7022592" y="2331720"/>
            <a:ext cx="393192" cy="251460"/>
          </a:xfrm>
          <a:prstGeom prst="rect">
            <a:avLst/>
          </a:prstGeom>
          <a:solidFill>
            <a:srgbClr val="1A6B8A"/>
          </a:solidFill>
          <a:ln w="3810">
            <a:solidFill>
              <a:srgbClr val="CBD5E1"/>
            </a:solidFill>
            <a:prstDash val="solid"/>
          </a:ln>
        </p:spPr>
      </p:sp>
      <p:sp>
        <p:nvSpPr>
          <p:cNvPr id="87" name="Shape 85"/>
          <p:cNvSpPr/>
          <p:nvPr/>
        </p:nvSpPr>
        <p:spPr>
          <a:xfrm>
            <a:off x="7415784" y="2331720"/>
            <a:ext cx="393192" cy="251460"/>
          </a:xfrm>
          <a:prstGeom prst="rect">
            <a:avLst/>
          </a:prstGeom>
          <a:solidFill>
            <a:srgbClr val="1A6B8A"/>
          </a:solidFill>
          <a:ln w="3810">
            <a:solidFill>
              <a:srgbClr val="CBD5E1"/>
            </a:solidFill>
            <a:prstDash val="solid"/>
          </a:ln>
        </p:spPr>
      </p:sp>
      <p:sp>
        <p:nvSpPr>
          <p:cNvPr id="88" name="Shape 86"/>
          <p:cNvSpPr/>
          <p:nvPr/>
        </p:nvSpPr>
        <p:spPr>
          <a:xfrm>
            <a:off x="7808976" y="2331720"/>
            <a:ext cx="393192" cy="251460"/>
          </a:xfrm>
          <a:prstGeom prst="rect">
            <a:avLst/>
          </a:prstGeom>
          <a:solidFill>
            <a:srgbClr val="ECFDF5"/>
          </a:solidFill>
          <a:ln w="3810">
            <a:solidFill>
              <a:srgbClr val="CBD5E1"/>
            </a:solidFill>
            <a:prstDash val="solid"/>
          </a:ln>
        </p:spPr>
      </p:sp>
      <p:sp>
        <p:nvSpPr>
          <p:cNvPr id="89" name="Shape 87"/>
          <p:cNvSpPr/>
          <p:nvPr/>
        </p:nvSpPr>
        <p:spPr>
          <a:xfrm>
            <a:off x="8202168" y="2331720"/>
            <a:ext cx="393192" cy="251460"/>
          </a:xfrm>
          <a:prstGeom prst="rect">
            <a:avLst/>
          </a:prstGeom>
          <a:solidFill>
            <a:srgbClr val="ECFDF5"/>
          </a:solidFill>
          <a:ln w="3810">
            <a:solidFill>
              <a:srgbClr val="CBD5E1"/>
            </a:solidFill>
            <a:prstDash val="solid"/>
          </a:ln>
        </p:spPr>
      </p:sp>
      <p:sp>
        <p:nvSpPr>
          <p:cNvPr id="90" name="Shape 88"/>
          <p:cNvSpPr/>
          <p:nvPr/>
        </p:nvSpPr>
        <p:spPr>
          <a:xfrm>
            <a:off x="347472" y="2583180"/>
            <a:ext cx="3474720" cy="251460"/>
          </a:xfrm>
          <a:prstGeom prst="rect">
            <a:avLst/>
          </a:prstGeom>
          <a:solidFill>
            <a:srgbClr val="FFFFFF"/>
          </a:solidFill>
          <a:ln w="3810">
            <a:solidFill>
              <a:srgbClr val="CBD5E1"/>
            </a:solidFill>
            <a:prstDash val="solid"/>
          </a:ln>
        </p:spPr>
      </p:sp>
      <p:sp>
        <p:nvSpPr>
          <p:cNvPr id="91" name="Text 89"/>
          <p:cNvSpPr/>
          <p:nvPr/>
        </p:nvSpPr>
        <p:spPr>
          <a:xfrm>
            <a:off x="402336" y="258318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Generación de muestras biológicas</a:t>
            </a:r>
            <a:endParaRPr lang="en-US" sz="900" dirty="0"/>
          </a:p>
        </p:txBody>
      </p:sp>
      <p:sp>
        <p:nvSpPr>
          <p:cNvPr id="92" name="Shape 90"/>
          <p:cNvSpPr/>
          <p:nvPr/>
        </p:nvSpPr>
        <p:spPr>
          <a:xfrm>
            <a:off x="3877056" y="2583180"/>
            <a:ext cx="393192" cy="251460"/>
          </a:xfrm>
          <a:prstGeom prst="rect">
            <a:avLst/>
          </a:prstGeom>
          <a:solidFill>
            <a:srgbClr val="FFFFFF"/>
          </a:solidFill>
          <a:ln w="3810">
            <a:solidFill>
              <a:srgbClr val="CBD5E1"/>
            </a:solidFill>
            <a:prstDash val="solid"/>
          </a:ln>
        </p:spPr>
      </p:sp>
      <p:sp>
        <p:nvSpPr>
          <p:cNvPr id="93" name="Shape 91"/>
          <p:cNvSpPr/>
          <p:nvPr/>
        </p:nvSpPr>
        <p:spPr>
          <a:xfrm>
            <a:off x="4270248" y="2583180"/>
            <a:ext cx="393192" cy="251460"/>
          </a:xfrm>
          <a:prstGeom prst="rect">
            <a:avLst/>
          </a:prstGeom>
          <a:solidFill>
            <a:srgbClr val="FFFFFF"/>
          </a:solidFill>
          <a:ln w="3810">
            <a:solidFill>
              <a:srgbClr val="CBD5E1"/>
            </a:solidFill>
            <a:prstDash val="solid"/>
          </a:ln>
        </p:spPr>
      </p:sp>
      <p:sp>
        <p:nvSpPr>
          <p:cNvPr id="94" name="Shape 92"/>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95" name="Shape 93"/>
          <p:cNvSpPr/>
          <p:nvPr/>
        </p:nvSpPr>
        <p:spPr>
          <a:xfrm>
            <a:off x="4663440" y="2583180"/>
            <a:ext cx="393192" cy="251460"/>
          </a:xfrm>
          <a:prstGeom prst="rect">
            <a:avLst/>
          </a:prstGeom>
          <a:solidFill>
            <a:srgbClr val="FFFFFF"/>
          </a:solidFill>
          <a:ln w="3810">
            <a:solidFill>
              <a:srgbClr val="CBD5E1"/>
            </a:solidFill>
            <a:prstDash val="solid"/>
          </a:ln>
        </p:spPr>
      </p:sp>
      <p:sp>
        <p:nvSpPr>
          <p:cNvPr id="96" name="Shape 94"/>
          <p:cNvSpPr/>
          <p:nvPr/>
        </p:nvSpPr>
        <p:spPr>
          <a:xfrm>
            <a:off x="5056632" y="2583180"/>
            <a:ext cx="393192" cy="251460"/>
          </a:xfrm>
          <a:prstGeom prst="rect">
            <a:avLst/>
          </a:prstGeom>
          <a:solidFill>
            <a:srgbClr val="FFFFFF"/>
          </a:solidFill>
          <a:ln w="3810">
            <a:solidFill>
              <a:srgbClr val="CBD5E1"/>
            </a:solidFill>
            <a:prstDash val="solid"/>
          </a:ln>
        </p:spPr>
      </p:sp>
      <p:sp>
        <p:nvSpPr>
          <p:cNvPr id="97" name="Shape 95"/>
          <p:cNvSpPr/>
          <p:nvPr/>
        </p:nvSpPr>
        <p:spPr>
          <a:xfrm>
            <a:off x="5449824" y="2583180"/>
            <a:ext cx="393192" cy="251460"/>
          </a:xfrm>
          <a:prstGeom prst="rect">
            <a:avLst/>
          </a:prstGeom>
          <a:solidFill>
            <a:srgbClr val="FFFFFF"/>
          </a:solidFill>
          <a:ln w="3810">
            <a:solidFill>
              <a:srgbClr val="CBD5E1"/>
            </a:solidFill>
            <a:prstDash val="solid"/>
          </a:ln>
        </p:spPr>
      </p:sp>
      <p:sp>
        <p:nvSpPr>
          <p:cNvPr id="98" name="Shape 96"/>
          <p:cNvSpPr/>
          <p:nvPr/>
        </p:nvSpPr>
        <p:spPr>
          <a:xfrm>
            <a:off x="5843016" y="2583180"/>
            <a:ext cx="393192" cy="251460"/>
          </a:xfrm>
          <a:prstGeom prst="rect">
            <a:avLst/>
          </a:prstGeom>
          <a:solidFill>
            <a:srgbClr val="FFFFFF"/>
          </a:solidFill>
          <a:ln w="3810">
            <a:solidFill>
              <a:srgbClr val="CBD5E1"/>
            </a:solidFill>
            <a:prstDash val="solid"/>
          </a:ln>
        </p:spPr>
      </p:sp>
      <p:sp>
        <p:nvSpPr>
          <p:cNvPr id="99" name="Shape 97"/>
          <p:cNvSpPr/>
          <p:nvPr/>
        </p:nvSpPr>
        <p:spPr>
          <a:xfrm>
            <a:off x="6236208" y="2583180"/>
            <a:ext cx="393192" cy="251460"/>
          </a:xfrm>
          <a:prstGeom prst="rect">
            <a:avLst/>
          </a:prstGeom>
          <a:solidFill>
            <a:srgbClr val="FFFFFF"/>
          </a:solidFill>
          <a:ln w="3810">
            <a:solidFill>
              <a:srgbClr val="CBD5E1"/>
            </a:solidFill>
            <a:prstDash val="solid"/>
          </a:ln>
        </p:spPr>
      </p:sp>
      <p:sp>
        <p:nvSpPr>
          <p:cNvPr id="100" name="Shape 98"/>
          <p:cNvSpPr/>
          <p:nvPr/>
        </p:nvSpPr>
        <p:spPr>
          <a:xfrm>
            <a:off x="6629400" y="2583180"/>
            <a:ext cx="393192" cy="251460"/>
          </a:xfrm>
          <a:prstGeom prst="rect">
            <a:avLst/>
          </a:prstGeom>
          <a:solidFill>
            <a:srgbClr val="FFFFFF"/>
          </a:solidFill>
          <a:ln w="3810">
            <a:solidFill>
              <a:srgbClr val="CBD5E1"/>
            </a:solidFill>
            <a:prstDash val="solid"/>
          </a:ln>
        </p:spPr>
      </p:sp>
      <p:sp>
        <p:nvSpPr>
          <p:cNvPr id="101" name="Shape 99"/>
          <p:cNvSpPr/>
          <p:nvPr/>
        </p:nvSpPr>
        <p:spPr>
          <a:xfrm>
            <a:off x="7022592" y="2583180"/>
            <a:ext cx="393192" cy="251460"/>
          </a:xfrm>
          <a:prstGeom prst="rect">
            <a:avLst/>
          </a:prstGeom>
          <a:solidFill>
            <a:srgbClr val="94A3B8"/>
          </a:solidFill>
          <a:ln w="3810">
            <a:solidFill>
              <a:srgbClr val="CBD5E1"/>
            </a:solidFill>
            <a:prstDash val="solid"/>
          </a:ln>
        </p:spPr>
      </p:sp>
      <p:sp>
        <p:nvSpPr>
          <p:cNvPr id="102" name="Shape 100"/>
          <p:cNvSpPr/>
          <p:nvPr/>
        </p:nvSpPr>
        <p:spPr>
          <a:xfrm>
            <a:off x="7415784" y="2583180"/>
            <a:ext cx="393192" cy="251460"/>
          </a:xfrm>
          <a:prstGeom prst="rect">
            <a:avLst/>
          </a:prstGeom>
          <a:solidFill>
            <a:srgbClr val="94A3B8"/>
          </a:solidFill>
          <a:ln w="3810">
            <a:solidFill>
              <a:srgbClr val="CBD5E1"/>
            </a:solidFill>
            <a:prstDash val="solid"/>
          </a:ln>
        </p:spPr>
      </p:sp>
      <p:sp>
        <p:nvSpPr>
          <p:cNvPr id="103" name="Shape 101"/>
          <p:cNvSpPr/>
          <p:nvPr/>
        </p:nvSpPr>
        <p:spPr>
          <a:xfrm>
            <a:off x="7808976" y="2583180"/>
            <a:ext cx="393192" cy="251460"/>
          </a:xfrm>
          <a:prstGeom prst="rect">
            <a:avLst/>
          </a:prstGeom>
          <a:solidFill>
            <a:srgbClr val="FFFFFF"/>
          </a:solidFill>
          <a:ln w="3810">
            <a:solidFill>
              <a:srgbClr val="CBD5E1"/>
            </a:solidFill>
            <a:prstDash val="solid"/>
          </a:ln>
        </p:spPr>
      </p:sp>
      <p:sp>
        <p:nvSpPr>
          <p:cNvPr id="104" name="Shape 102"/>
          <p:cNvSpPr/>
          <p:nvPr/>
        </p:nvSpPr>
        <p:spPr>
          <a:xfrm>
            <a:off x="8202168" y="2583180"/>
            <a:ext cx="393192" cy="251460"/>
          </a:xfrm>
          <a:prstGeom prst="rect">
            <a:avLst/>
          </a:prstGeom>
          <a:solidFill>
            <a:srgbClr val="FFFFFF"/>
          </a:solidFill>
          <a:ln w="3810">
            <a:solidFill>
              <a:srgbClr val="CBD5E1"/>
            </a:solidFill>
            <a:prstDash val="solid"/>
          </a:ln>
        </p:spPr>
      </p:sp>
      <p:sp>
        <p:nvSpPr>
          <p:cNvPr id="105" name="Shape 103"/>
          <p:cNvSpPr/>
          <p:nvPr/>
        </p:nvSpPr>
        <p:spPr>
          <a:xfrm>
            <a:off x="347472" y="2834640"/>
            <a:ext cx="3474720" cy="251460"/>
          </a:xfrm>
          <a:prstGeom prst="rect">
            <a:avLst/>
          </a:prstGeom>
          <a:solidFill>
            <a:srgbClr val="E8F0F5"/>
          </a:solidFill>
          <a:ln w="3810">
            <a:solidFill>
              <a:srgbClr val="CBD5E1"/>
            </a:solidFill>
            <a:prstDash val="solid"/>
          </a:ln>
        </p:spPr>
      </p:sp>
      <p:sp>
        <p:nvSpPr>
          <p:cNvPr id="106" name="Text 104"/>
          <p:cNvSpPr/>
          <p:nvPr/>
        </p:nvSpPr>
        <p:spPr>
          <a:xfrm>
            <a:off x="402336" y="283464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Adquisición LC-MS/MS en modo DIA</a:t>
            </a:r>
            <a:endParaRPr lang="en-US" sz="900" dirty="0"/>
          </a:p>
        </p:txBody>
      </p:sp>
      <p:sp>
        <p:nvSpPr>
          <p:cNvPr id="107" name="Shape 105"/>
          <p:cNvSpPr/>
          <p:nvPr/>
        </p:nvSpPr>
        <p:spPr>
          <a:xfrm>
            <a:off x="3877056" y="2834640"/>
            <a:ext cx="393192" cy="251460"/>
          </a:xfrm>
          <a:prstGeom prst="rect">
            <a:avLst/>
          </a:prstGeom>
          <a:solidFill>
            <a:srgbClr val="E8F0F5"/>
          </a:solidFill>
          <a:ln w="3810">
            <a:solidFill>
              <a:srgbClr val="CBD5E1"/>
            </a:solidFill>
            <a:prstDash val="solid"/>
          </a:ln>
        </p:spPr>
      </p:sp>
      <p:sp>
        <p:nvSpPr>
          <p:cNvPr id="108" name="Shape 106"/>
          <p:cNvSpPr/>
          <p:nvPr/>
        </p:nvSpPr>
        <p:spPr>
          <a:xfrm>
            <a:off x="4270248" y="2834640"/>
            <a:ext cx="393192" cy="251460"/>
          </a:xfrm>
          <a:prstGeom prst="rect">
            <a:avLst/>
          </a:prstGeom>
          <a:solidFill>
            <a:srgbClr val="E8F0F5"/>
          </a:solidFill>
          <a:ln w="3810">
            <a:solidFill>
              <a:srgbClr val="CBD5E1"/>
            </a:solidFill>
            <a:prstDash val="solid"/>
          </a:ln>
        </p:spPr>
      </p:sp>
      <p:sp>
        <p:nvSpPr>
          <p:cNvPr id="109" name="Shape 107"/>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110" name="Shape 108"/>
          <p:cNvSpPr/>
          <p:nvPr/>
        </p:nvSpPr>
        <p:spPr>
          <a:xfrm>
            <a:off x="4663440" y="2834640"/>
            <a:ext cx="393192" cy="251460"/>
          </a:xfrm>
          <a:prstGeom prst="rect">
            <a:avLst/>
          </a:prstGeom>
          <a:solidFill>
            <a:srgbClr val="E8F0F5"/>
          </a:solidFill>
          <a:ln w="3810">
            <a:solidFill>
              <a:srgbClr val="CBD5E1"/>
            </a:solidFill>
            <a:prstDash val="solid"/>
          </a:ln>
        </p:spPr>
      </p:sp>
      <p:sp>
        <p:nvSpPr>
          <p:cNvPr id="111" name="Shape 109"/>
          <p:cNvSpPr/>
          <p:nvPr/>
        </p:nvSpPr>
        <p:spPr>
          <a:xfrm>
            <a:off x="5056632" y="2834640"/>
            <a:ext cx="393192" cy="251460"/>
          </a:xfrm>
          <a:prstGeom prst="rect">
            <a:avLst/>
          </a:prstGeom>
          <a:solidFill>
            <a:srgbClr val="E8F0F5"/>
          </a:solidFill>
          <a:ln w="3810">
            <a:solidFill>
              <a:srgbClr val="CBD5E1"/>
            </a:solidFill>
            <a:prstDash val="solid"/>
          </a:ln>
        </p:spPr>
      </p:sp>
      <p:sp>
        <p:nvSpPr>
          <p:cNvPr id="112" name="Shape 110"/>
          <p:cNvSpPr/>
          <p:nvPr/>
        </p:nvSpPr>
        <p:spPr>
          <a:xfrm>
            <a:off x="5449824" y="2834640"/>
            <a:ext cx="393192" cy="251460"/>
          </a:xfrm>
          <a:prstGeom prst="rect">
            <a:avLst/>
          </a:prstGeom>
          <a:solidFill>
            <a:srgbClr val="E8F0F5"/>
          </a:solidFill>
          <a:ln w="3810">
            <a:solidFill>
              <a:srgbClr val="CBD5E1"/>
            </a:solidFill>
            <a:prstDash val="solid"/>
          </a:ln>
        </p:spPr>
      </p:sp>
      <p:sp>
        <p:nvSpPr>
          <p:cNvPr id="113" name="Shape 111"/>
          <p:cNvSpPr/>
          <p:nvPr/>
        </p:nvSpPr>
        <p:spPr>
          <a:xfrm>
            <a:off x="5843016" y="2834640"/>
            <a:ext cx="393192" cy="251460"/>
          </a:xfrm>
          <a:prstGeom prst="rect">
            <a:avLst/>
          </a:prstGeom>
          <a:solidFill>
            <a:srgbClr val="E8F0F5"/>
          </a:solidFill>
          <a:ln w="3810">
            <a:solidFill>
              <a:srgbClr val="CBD5E1"/>
            </a:solidFill>
            <a:prstDash val="solid"/>
          </a:ln>
        </p:spPr>
      </p:sp>
      <p:sp>
        <p:nvSpPr>
          <p:cNvPr id="114" name="Shape 112"/>
          <p:cNvSpPr/>
          <p:nvPr/>
        </p:nvSpPr>
        <p:spPr>
          <a:xfrm>
            <a:off x="6236208" y="2834640"/>
            <a:ext cx="393192" cy="251460"/>
          </a:xfrm>
          <a:prstGeom prst="rect">
            <a:avLst/>
          </a:prstGeom>
          <a:solidFill>
            <a:srgbClr val="E8F0F5"/>
          </a:solidFill>
          <a:ln w="3810">
            <a:solidFill>
              <a:srgbClr val="CBD5E1"/>
            </a:solidFill>
            <a:prstDash val="solid"/>
          </a:ln>
        </p:spPr>
      </p:sp>
      <p:sp>
        <p:nvSpPr>
          <p:cNvPr id="115" name="Shape 113"/>
          <p:cNvSpPr/>
          <p:nvPr/>
        </p:nvSpPr>
        <p:spPr>
          <a:xfrm>
            <a:off x="6629400" y="2834640"/>
            <a:ext cx="393192" cy="251460"/>
          </a:xfrm>
          <a:prstGeom prst="rect">
            <a:avLst/>
          </a:prstGeom>
          <a:solidFill>
            <a:srgbClr val="E8F0F5"/>
          </a:solidFill>
          <a:ln w="3810">
            <a:solidFill>
              <a:srgbClr val="CBD5E1"/>
            </a:solidFill>
            <a:prstDash val="solid"/>
          </a:ln>
        </p:spPr>
      </p:sp>
      <p:sp>
        <p:nvSpPr>
          <p:cNvPr id="116" name="Shape 114"/>
          <p:cNvSpPr/>
          <p:nvPr/>
        </p:nvSpPr>
        <p:spPr>
          <a:xfrm>
            <a:off x="7022592" y="2834640"/>
            <a:ext cx="393192" cy="251460"/>
          </a:xfrm>
          <a:prstGeom prst="rect">
            <a:avLst/>
          </a:prstGeom>
          <a:solidFill>
            <a:srgbClr val="E8F0F5"/>
          </a:solidFill>
          <a:ln w="3810">
            <a:solidFill>
              <a:srgbClr val="CBD5E1"/>
            </a:solidFill>
            <a:prstDash val="solid"/>
          </a:ln>
        </p:spPr>
      </p:sp>
      <p:sp>
        <p:nvSpPr>
          <p:cNvPr id="117" name="Shape 115"/>
          <p:cNvSpPr/>
          <p:nvPr/>
        </p:nvSpPr>
        <p:spPr>
          <a:xfrm>
            <a:off x="7415784" y="2834640"/>
            <a:ext cx="393192" cy="251460"/>
          </a:xfrm>
          <a:prstGeom prst="rect">
            <a:avLst/>
          </a:prstGeom>
          <a:solidFill>
            <a:srgbClr val="E8F0F5"/>
          </a:solidFill>
          <a:ln w="3810">
            <a:solidFill>
              <a:srgbClr val="CBD5E1"/>
            </a:solidFill>
            <a:prstDash val="solid"/>
          </a:ln>
        </p:spPr>
      </p:sp>
      <p:sp>
        <p:nvSpPr>
          <p:cNvPr id="118" name="Shape 116"/>
          <p:cNvSpPr/>
          <p:nvPr/>
        </p:nvSpPr>
        <p:spPr>
          <a:xfrm>
            <a:off x="7808976" y="2834640"/>
            <a:ext cx="393192" cy="251460"/>
          </a:xfrm>
          <a:prstGeom prst="rect">
            <a:avLst/>
          </a:prstGeom>
          <a:solidFill>
            <a:srgbClr val="94A3B8"/>
          </a:solidFill>
          <a:ln w="3810">
            <a:solidFill>
              <a:srgbClr val="CBD5E1"/>
            </a:solidFill>
            <a:prstDash val="solid"/>
          </a:ln>
        </p:spPr>
      </p:sp>
      <p:sp>
        <p:nvSpPr>
          <p:cNvPr id="119" name="Shape 117"/>
          <p:cNvSpPr/>
          <p:nvPr/>
        </p:nvSpPr>
        <p:spPr>
          <a:xfrm>
            <a:off x="8202168" y="2834640"/>
            <a:ext cx="393192" cy="251460"/>
          </a:xfrm>
          <a:prstGeom prst="rect">
            <a:avLst/>
          </a:prstGeom>
          <a:solidFill>
            <a:srgbClr val="94A3B8"/>
          </a:solidFill>
          <a:ln w="3810">
            <a:solidFill>
              <a:srgbClr val="CBD5E1"/>
            </a:solidFill>
            <a:prstDash val="solid"/>
          </a:ln>
        </p:spPr>
      </p:sp>
      <p:sp>
        <p:nvSpPr>
          <p:cNvPr id="120" name="Shape 118"/>
          <p:cNvSpPr/>
          <p:nvPr/>
        </p:nvSpPr>
        <p:spPr>
          <a:xfrm>
            <a:off x="347472" y="3086100"/>
            <a:ext cx="3474720" cy="251460"/>
          </a:xfrm>
          <a:prstGeom prst="rect">
            <a:avLst/>
          </a:prstGeom>
          <a:solidFill>
            <a:srgbClr val="FFFFFF"/>
          </a:solidFill>
          <a:ln w="3810">
            <a:solidFill>
              <a:srgbClr val="CBD5E1"/>
            </a:solidFill>
            <a:prstDash val="solid"/>
          </a:ln>
        </p:spPr>
      </p:sp>
      <p:sp>
        <p:nvSpPr>
          <p:cNvPr id="121" name="Text 119"/>
          <p:cNvSpPr/>
          <p:nvPr/>
        </p:nvSpPr>
        <p:spPr>
          <a:xfrm>
            <a:off x="402336" y="308610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Procesamiento y cuantificación</a:t>
            </a:r>
            <a:endParaRPr lang="en-US" sz="900" dirty="0"/>
          </a:p>
        </p:txBody>
      </p:sp>
      <p:sp>
        <p:nvSpPr>
          <p:cNvPr id="122" name="Shape 120"/>
          <p:cNvSpPr/>
          <p:nvPr/>
        </p:nvSpPr>
        <p:spPr>
          <a:xfrm>
            <a:off x="3877056" y="3086100"/>
            <a:ext cx="393192" cy="251460"/>
          </a:xfrm>
          <a:prstGeom prst="rect">
            <a:avLst/>
          </a:prstGeom>
          <a:solidFill>
            <a:srgbClr val="FFFFFF"/>
          </a:solidFill>
          <a:ln w="3810">
            <a:solidFill>
              <a:srgbClr val="CBD5E1"/>
            </a:solidFill>
            <a:prstDash val="solid"/>
          </a:ln>
        </p:spPr>
      </p:sp>
      <p:sp>
        <p:nvSpPr>
          <p:cNvPr id="123" name="Shape 121"/>
          <p:cNvSpPr/>
          <p:nvPr/>
        </p:nvSpPr>
        <p:spPr>
          <a:xfrm>
            <a:off x="4270248" y="3086100"/>
            <a:ext cx="393192" cy="251460"/>
          </a:xfrm>
          <a:prstGeom prst="rect">
            <a:avLst/>
          </a:prstGeom>
          <a:solidFill>
            <a:srgbClr val="FFFFFF"/>
          </a:solidFill>
          <a:ln w="3810">
            <a:solidFill>
              <a:srgbClr val="CBD5E1"/>
            </a:solidFill>
            <a:prstDash val="solid"/>
          </a:ln>
        </p:spPr>
      </p:sp>
      <p:sp>
        <p:nvSpPr>
          <p:cNvPr id="124" name="Shape 122"/>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125" name="Shape 123"/>
          <p:cNvSpPr/>
          <p:nvPr/>
        </p:nvSpPr>
        <p:spPr>
          <a:xfrm>
            <a:off x="4663440" y="3086100"/>
            <a:ext cx="393192" cy="251460"/>
          </a:xfrm>
          <a:prstGeom prst="rect">
            <a:avLst/>
          </a:prstGeom>
          <a:solidFill>
            <a:srgbClr val="FFFFFF"/>
          </a:solidFill>
          <a:ln w="3810">
            <a:solidFill>
              <a:srgbClr val="CBD5E1"/>
            </a:solidFill>
            <a:prstDash val="solid"/>
          </a:ln>
        </p:spPr>
      </p:sp>
      <p:sp>
        <p:nvSpPr>
          <p:cNvPr id="126" name="Shape 124"/>
          <p:cNvSpPr/>
          <p:nvPr/>
        </p:nvSpPr>
        <p:spPr>
          <a:xfrm>
            <a:off x="5056632" y="3086100"/>
            <a:ext cx="393192" cy="251460"/>
          </a:xfrm>
          <a:prstGeom prst="rect">
            <a:avLst/>
          </a:prstGeom>
          <a:solidFill>
            <a:srgbClr val="FFFFFF"/>
          </a:solidFill>
          <a:ln w="3810">
            <a:solidFill>
              <a:srgbClr val="CBD5E1"/>
            </a:solidFill>
            <a:prstDash val="solid"/>
          </a:ln>
        </p:spPr>
      </p:sp>
      <p:sp>
        <p:nvSpPr>
          <p:cNvPr id="127" name="Shape 125"/>
          <p:cNvSpPr/>
          <p:nvPr/>
        </p:nvSpPr>
        <p:spPr>
          <a:xfrm>
            <a:off x="5449824" y="3086100"/>
            <a:ext cx="393192" cy="251460"/>
          </a:xfrm>
          <a:prstGeom prst="rect">
            <a:avLst/>
          </a:prstGeom>
          <a:solidFill>
            <a:srgbClr val="FFFFFF"/>
          </a:solidFill>
          <a:ln w="3810">
            <a:solidFill>
              <a:srgbClr val="CBD5E1"/>
            </a:solidFill>
            <a:prstDash val="solid"/>
          </a:ln>
        </p:spPr>
      </p:sp>
      <p:sp>
        <p:nvSpPr>
          <p:cNvPr id="128" name="Shape 126"/>
          <p:cNvSpPr/>
          <p:nvPr/>
        </p:nvSpPr>
        <p:spPr>
          <a:xfrm>
            <a:off x="5843016" y="3086100"/>
            <a:ext cx="393192" cy="251460"/>
          </a:xfrm>
          <a:prstGeom prst="rect">
            <a:avLst/>
          </a:prstGeom>
          <a:solidFill>
            <a:srgbClr val="FFFFFF"/>
          </a:solidFill>
          <a:ln w="3810">
            <a:solidFill>
              <a:srgbClr val="CBD5E1"/>
            </a:solidFill>
            <a:prstDash val="solid"/>
          </a:ln>
        </p:spPr>
      </p:sp>
      <p:sp>
        <p:nvSpPr>
          <p:cNvPr id="129" name="Shape 127"/>
          <p:cNvSpPr/>
          <p:nvPr/>
        </p:nvSpPr>
        <p:spPr>
          <a:xfrm>
            <a:off x="6236208" y="3086100"/>
            <a:ext cx="393192" cy="251460"/>
          </a:xfrm>
          <a:prstGeom prst="rect">
            <a:avLst/>
          </a:prstGeom>
          <a:solidFill>
            <a:srgbClr val="FFFFFF"/>
          </a:solidFill>
          <a:ln w="3810">
            <a:solidFill>
              <a:srgbClr val="CBD5E1"/>
            </a:solidFill>
            <a:prstDash val="solid"/>
          </a:ln>
        </p:spPr>
      </p:sp>
      <p:sp>
        <p:nvSpPr>
          <p:cNvPr id="130" name="Shape 128"/>
          <p:cNvSpPr/>
          <p:nvPr/>
        </p:nvSpPr>
        <p:spPr>
          <a:xfrm>
            <a:off x="6629400" y="3086100"/>
            <a:ext cx="393192" cy="251460"/>
          </a:xfrm>
          <a:prstGeom prst="rect">
            <a:avLst/>
          </a:prstGeom>
          <a:solidFill>
            <a:srgbClr val="FFFFFF"/>
          </a:solidFill>
          <a:ln w="3810">
            <a:solidFill>
              <a:srgbClr val="CBD5E1"/>
            </a:solidFill>
            <a:prstDash val="solid"/>
          </a:ln>
        </p:spPr>
      </p:sp>
      <p:sp>
        <p:nvSpPr>
          <p:cNvPr id="131" name="Shape 129"/>
          <p:cNvSpPr/>
          <p:nvPr/>
        </p:nvSpPr>
        <p:spPr>
          <a:xfrm>
            <a:off x="7022592" y="3086100"/>
            <a:ext cx="393192" cy="251460"/>
          </a:xfrm>
          <a:prstGeom prst="rect">
            <a:avLst/>
          </a:prstGeom>
          <a:solidFill>
            <a:srgbClr val="FFFFFF"/>
          </a:solidFill>
          <a:ln w="3810">
            <a:solidFill>
              <a:srgbClr val="CBD5E1"/>
            </a:solidFill>
            <a:prstDash val="solid"/>
          </a:ln>
        </p:spPr>
      </p:sp>
      <p:sp>
        <p:nvSpPr>
          <p:cNvPr id="132" name="Shape 130"/>
          <p:cNvSpPr/>
          <p:nvPr/>
        </p:nvSpPr>
        <p:spPr>
          <a:xfrm>
            <a:off x="7415784" y="3086100"/>
            <a:ext cx="393192" cy="251460"/>
          </a:xfrm>
          <a:prstGeom prst="rect">
            <a:avLst/>
          </a:prstGeom>
          <a:solidFill>
            <a:srgbClr val="FFFFFF"/>
          </a:solidFill>
          <a:ln w="3810">
            <a:solidFill>
              <a:srgbClr val="CBD5E1"/>
            </a:solidFill>
            <a:prstDash val="solid"/>
          </a:ln>
        </p:spPr>
      </p:sp>
      <p:sp>
        <p:nvSpPr>
          <p:cNvPr id="133" name="Shape 131"/>
          <p:cNvSpPr/>
          <p:nvPr/>
        </p:nvSpPr>
        <p:spPr>
          <a:xfrm>
            <a:off x="7808976" y="3086100"/>
            <a:ext cx="393192" cy="251460"/>
          </a:xfrm>
          <a:prstGeom prst="rect">
            <a:avLst/>
          </a:prstGeom>
          <a:solidFill>
            <a:srgbClr val="94A3B8"/>
          </a:solidFill>
          <a:ln w="3810">
            <a:solidFill>
              <a:srgbClr val="CBD5E1"/>
            </a:solidFill>
            <a:prstDash val="solid"/>
          </a:ln>
        </p:spPr>
      </p:sp>
      <p:sp>
        <p:nvSpPr>
          <p:cNvPr id="134" name="Shape 132"/>
          <p:cNvSpPr/>
          <p:nvPr/>
        </p:nvSpPr>
        <p:spPr>
          <a:xfrm>
            <a:off x="8202168" y="3086100"/>
            <a:ext cx="393192" cy="251460"/>
          </a:xfrm>
          <a:prstGeom prst="rect">
            <a:avLst/>
          </a:prstGeom>
          <a:solidFill>
            <a:srgbClr val="94A3B8"/>
          </a:solidFill>
          <a:ln w="3810">
            <a:solidFill>
              <a:srgbClr val="CBD5E1"/>
            </a:solidFill>
            <a:prstDash val="solid"/>
          </a:ln>
        </p:spPr>
      </p:sp>
      <p:sp>
        <p:nvSpPr>
          <p:cNvPr id="135" name="Shape 133"/>
          <p:cNvSpPr/>
          <p:nvPr/>
        </p:nvSpPr>
        <p:spPr>
          <a:xfrm>
            <a:off x="347472" y="3337560"/>
            <a:ext cx="3474720" cy="251460"/>
          </a:xfrm>
          <a:prstGeom prst="rect">
            <a:avLst/>
          </a:prstGeom>
          <a:solidFill>
            <a:srgbClr val="E8F0F5"/>
          </a:solidFill>
          <a:ln w="3810">
            <a:solidFill>
              <a:srgbClr val="CBD5E1"/>
            </a:solidFill>
            <a:prstDash val="solid"/>
          </a:ln>
        </p:spPr>
      </p:sp>
      <p:sp>
        <p:nvSpPr>
          <p:cNvPr id="136" name="Text 134"/>
          <p:cNvSpPr/>
          <p:nvPr/>
        </p:nvSpPr>
        <p:spPr>
          <a:xfrm>
            <a:off x="402336" y="333756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Comparación DIA vs DDA previo</a:t>
            </a:r>
            <a:endParaRPr lang="en-US" sz="900" dirty="0"/>
          </a:p>
        </p:txBody>
      </p:sp>
      <p:sp>
        <p:nvSpPr>
          <p:cNvPr id="137" name="Shape 135"/>
          <p:cNvSpPr/>
          <p:nvPr/>
        </p:nvSpPr>
        <p:spPr>
          <a:xfrm>
            <a:off x="3877056" y="3337560"/>
            <a:ext cx="393192" cy="251460"/>
          </a:xfrm>
          <a:prstGeom prst="rect">
            <a:avLst/>
          </a:prstGeom>
          <a:solidFill>
            <a:srgbClr val="E8F0F5"/>
          </a:solidFill>
          <a:ln w="3810">
            <a:solidFill>
              <a:srgbClr val="CBD5E1"/>
            </a:solidFill>
            <a:prstDash val="solid"/>
          </a:ln>
        </p:spPr>
      </p:sp>
      <p:sp>
        <p:nvSpPr>
          <p:cNvPr id="138" name="Shape 136"/>
          <p:cNvSpPr/>
          <p:nvPr/>
        </p:nvSpPr>
        <p:spPr>
          <a:xfrm>
            <a:off x="4270248" y="3337560"/>
            <a:ext cx="393192" cy="251460"/>
          </a:xfrm>
          <a:prstGeom prst="rect">
            <a:avLst/>
          </a:prstGeom>
          <a:solidFill>
            <a:srgbClr val="E8F0F5"/>
          </a:solidFill>
          <a:ln w="3810">
            <a:solidFill>
              <a:srgbClr val="CBD5E1"/>
            </a:solidFill>
            <a:prstDash val="solid"/>
          </a:ln>
        </p:spPr>
      </p:sp>
      <p:sp>
        <p:nvSpPr>
          <p:cNvPr id="139" name="Shape 137"/>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140" name="Shape 138"/>
          <p:cNvSpPr/>
          <p:nvPr/>
        </p:nvSpPr>
        <p:spPr>
          <a:xfrm>
            <a:off x="4663440" y="3337560"/>
            <a:ext cx="393192" cy="251460"/>
          </a:xfrm>
          <a:prstGeom prst="rect">
            <a:avLst/>
          </a:prstGeom>
          <a:solidFill>
            <a:srgbClr val="E8F0F5"/>
          </a:solidFill>
          <a:ln w="3810">
            <a:solidFill>
              <a:srgbClr val="CBD5E1"/>
            </a:solidFill>
            <a:prstDash val="solid"/>
          </a:ln>
        </p:spPr>
      </p:sp>
      <p:sp>
        <p:nvSpPr>
          <p:cNvPr id="141" name="Shape 139"/>
          <p:cNvSpPr/>
          <p:nvPr/>
        </p:nvSpPr>
        <p:spPr>
          <a:xfrm>
            <a:off x="5056632" y="3337560"/>
            <a:ext cx="393192" cy="251460"/>
          </a:xfrm>
          <a:prstGeom prst="rect">
            <a:avLst/>
          </a:prstGeom>
          <a:solidFill>
            <a:srgbClr val="E8F0F5"/>
          </a:solidFill>
          <a:ln w="3810">
            <a:solidFill>
              <a:srgbClr val="CBD5E1"/>
            </a:solidFill>
            <a:prstDash val="solid"/>
          </a:ln>
        </p:spPr>
      </p:sp>
      <p:sp>
        <p:nvSpPr>
          <p:cNvPr id="142" name="Shape 140"/>
          <p:cNvSpPr/>
          <p:nvPr/>
        </p:nvSpPr>
        <p:spPr>
          <a:xfrm>
            <a:off x="5449824" y="3337560"/>
            <a:ext cx="393192" cy="251460"/>
          </a:xfrm>
          <a:prstGeom prst="rect">
            <a:avLst/>
          </a:prstGeom>
          <a:solidFill>
            <a:srgbClr val="E8F0F5"/>
          </a:solidFill>
          <a:ln w="3810">
            <a:solidFill>
              <a:srgbClr val="CBD5E1"/>
            </a:solidFill>
            <a:prstDash val="solid"/>
          </a:ln>
        </p:spPr>
      </p:sp>
      <p:sp>
        <p:nvSpPr>
          <p:cNvPr id="143" name="Shape 141"/>
          <p:cNvSpPr/>
          <p:nvPr/>
        </p:nvSpPr>
        <p:spPr>
          <a:xfrm>
            <a:off x="5843016" y="3337560"/>
            <a:ext cx="393192" cy="251460"/>
          </a:xfrm>
          <a:prstGeom prst="rect">
            <a:avLst/>
          </a:prstGeom>
          <a:solidFill>
            <a:srgbClr val="E8F0F5"/>
          </a:solidFill>
          <a:ln w="3810">
            <a:solidFill>
              <a:srgbClr val="CBD5E1"/>
            </a:solidFill>
            <a:prstDash val="solid"/>
          </a:ln>
        </p:spPr>
      </p:sp>
      <p:sp>
        <p:nvSpPr>
          <p:cNvPr id="144" name="Shape 142"/>
          <p:cNvSpPr/>
          <p:nvPr/>
        </p:nvSpPr>
        <p:spPr>
          <a:xfrm>
            <a:off x="6236208" y="3337560"/>
            <a:ext cx="393192" cy="251460"/>
          </a:xfrm>
          <a:prstGeom prst="rect">
            <a:avLst/>
          </a:prstGeom>
          <a:solidFill>
            <a:srgbClr val="E8F0F5"/>
          </a:solidFill>
          <a:ln w="3810">
            <a:solidFill>
              <a:srgbClr val="CBD5E1"/>
            </a:solidFill>
            <a:prstDash val="solid"/>
          </a:ln>
        </p:spPr>
      </p:sp>
      <p:sp>
        <p:nvSpPr>
          <p:cNvPr id="145" name="Shape 143"/>
          <p:cNvSpPr/>
          <p:nvPr/>
        </p:nvSpPr>
        <p:spPr>
          <a:xfrm>
            <a:off x="6629400" y="3337560"/>
            <a:ext cx="393192" cy="251460"/>
          </a:xfrm>
          <a:prstGeom prst="rect">
            <a:avLst/>
          </a:prstGeom>
          <a:solidFill>
            <a:srgbClr val="E8F0F5"/>
          </a:solidFill>
          <a:ln w="3810">
            <a:solidFill>
              <a:srgbClr val="CBD5E1"/>
            </a:solidFill>
            <a:prstDash val="solid"/>
          </a:ln>
        </p:spPr>
      </p:sp>
      <p:sp>
        <p:nvSpPr>
          <p:cNvPr id="146" name="Shape 144"/>
          <p:cNvSpPr/>
          <p:nvPr/>
        </p:nvSpPr>
        <p:spPr>
          <a:xfrm>
            <a:off x="7022592" y="3337560"/>
            <a:ext cx="393192" cy="251460"/>
          </a:xfrm>
          <a:prstGeom prst="rect">
            <a:avLst/>
          </a:prstGeom>
          <a:solidFill>
            <a:srgbClr val="E8F0F5"/>
          </a:solidFill>
          <a:ln w="3810">
            <a:solidFill>
              <a:srgbClr val="CBD5E1"/>
            </a:solidFill>
            <a:prstDash val="solid"/>
          </a:ln>
        </p:spPr>
      </p:sp>
      <p:sp>
        <p:nvSpPr>
          <p:cNvPr id="147" name="Shape 145"/>
          <p:cNvSpPr/>
          <p:nvPr/>
        </p:nvSpPr>
        <p:spPr>
          <a:xfrm>
            <a:off x="7415784" y="3337560"/>
            <a:ext cx="393192" cy="251460"/>
          </a:xfrm>
          <a:prstGeom prst="rect">
            <a:avLst/>
          </a:prstGeom>
          <a:solidFill>
            <a:srgbClr val="E8F0F5"/>
          </a:solidFill>
          <a:ln w="3810">
            <a:solidFill>
              <a:srgbClr val="CBD5E1"/>
            </a:solidFill>
            <a:prstDash val="solid"/>
          </a:ln>
        </p:spPr>
      </p:sp>
      <p:sp>
        <p:nvSpPr>
          <p:cNvPr id="148" name="Shape 146"/>
          <p:cNvSpPr/>
          <p:nvPr/>
        </p:nvSpPr>
        <p:spPr>
          <a:xfrm>
            <a:off x="7808976" y="3337560"/>
            <a:ext cx="393192" cy="251460"/>
          </a:xfrm>
          <a:prstGeom prst="rect">
            <a:avLst/>
          </a:prstGeom>
          <a:solidFill>
            <a:srgbClr val="94A3B8"/>
          </a:solidFill>
          <a:ln w="3810">
            <a:solidFill>
              <a:srgbClr val="CBD5E1"/>
            </a:solidFill>
            <a:prstDash val="solid"/>
          </a:ln>
        </p:spPr>
      </p:sp>
      <p:sp>
        <p:nvSpPr>
          <p:cNvPr id="149" name="Shape 147"/>
          <p:cNvSpPr/>
          <p:nvPr/>
        </p:nvSpPr>
        <p:spPr>
          <a:xfrm>
            <a:off x="8202168" y="3337560"/>
            <a:ext cx="393192" cy="251460"/>
          </a:xfrm>
          <a:prstGeom prst="rect">
            <a:avLst/>
          </a:prstGeom>
          <a:solidFill>
            <a:srgbClr val="E8F0F5"/>
          </a:solidFill>
          <a:ln w="3810">
            <a:solidFill>
              <a:srgbClr val="CBD5E1"/>
            </a:solidFill>
            <a:prstDash val="solid"/>
          </a:ln>
        </p:spPr>
      </p:sp>
      <p:sp>
        <p:nvSpPr>
          <p:cNvPr id="150" name="Shape 148"/>
          <p:cNvSpPr/>
          <p:nvPr/>
        </p:nvSpPr>
        <p:spPr>
          <a:xfrm>
            <a:off x="347472" y="3589020"/>
            <a:ext cx="3474720" cy="251460"/>
          </a:xfrm>
          <a:prstGeom prst="rect">
            <a:avLst/>
          </a:prstGeom>
          <a:solidFill>
            <a:srgbClr val="FFFFFF"/>
          </a:solidFill>
          <a:ln w="3810">
            <a:solidFill>
              <a:srgbClr val="CBD5E1"/>
            </a:solidFill>
            <a:prstDash val="solid"/>
          </a:ln>
        </p:spPr>
      </p:sp>
      <p:sp>
        <p:nvSpPr>
          <p:cNvPr id="151" name="Text 149"/>
          <p:cNvSpPr/>
          <p:nvPr/>
        </p:nvSpPr>
        <p:spPr>
          <a:xfrm>
            <a:off x="402336" y="358902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Análisis estadístico y funcional</a:t>
            </a:r>
            <a:endParaRPr lang="en-US" sz="900" dirty="0"/>
          </a:p>
        </p:txBody>
      </p:sp>
      <p:sp>
        <p:nvSpPr>
          <p:cNvPr id="152" name="Shape 150"/>
          <p:cNvSpPr/>
          <p:nvPr/>
        </p:nvSpPr>
        <p:spPr>
          <a:xfrm>
            <a:off x="3877056" y="3589020"/>
            <a:ext cx="393192" cy="251460"/>
          </a:xfrm>
          <a:prstGeom prst="rect">
            <a:avLst/>
          </a:prstGeom>
          <a:solidFill>
            <a:srgbClr val="FFFFFF"/>
          </a:solidFill>
          <a:ln w="3810">
            <a:solidFill>
              <a:srgbClr val="CBD5E1"/>
            </a:solidFill>
            <a:prstDash val="solid"/>
          </a:ln>
        </p:spPr>
      </p:sp>
      <p:sp>
        <p:nvSpPr>
          <p:cNvPr id="153" name="Shape 151"/>
          <p:cNvSpPr/>
          <p:nvPr/>
        </p:nvSpPr>
        <p:spPr>
          <a:xfrm>
            <a:off x="4270248" y="3589020"/>
            <a:ext cx="393192" cy="251460"/>
          </a:xfrm>
          <a:prstGeom prst="rect">
            <a:avLst/>
          </a:prstGeom>
          <a:solidFill>
            <a:srgbClr val="FFFFFF"/>
          </a:solidFill>
          <a:ln w="3810">
            <a:solidFill>
              <a:srgbClr val="CBD5E1"/>
            </a:solidFill>
            <a:prstDash val="solid"/>
          </a:ln>
        </p:spPr>
      </p:sp>
      <p:sp>
        <p:nvSpPr>
          <p:cNvPr id="154" name="Shape 152"/>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155" name="Shape 153"/>
          <p:cNvSpPr/>
          <p:nvPr/>
        </p:nvSpPr>
        <p:spPr>
          <a:xfrm>
            <a:off x="4663440" y="3589020"/>
            <a:ext cx="393192" cy="251460"/>
          </a:xfrm>
          <a:prstGeom prst="rect">
            <a:avLst/>
          </a:prstGeom>
          <a:solidFill>
            <a:srgbClr val="FFFFFF"/>
          </a:solidFill>
          <a:ln w="3810">
            <a:solidFill>
              <a:srgbClr val="CBD5E1"/>
            </a:solidFill>
            <a:prstDash val="solid"/>
          </a:ln>
        </p:spPr>
      </p:sp>
      <p:sp>
        <p:nvSpPr>
          <p:cNvPr id="156" name="Shape 154"/>
          <p:cNvSpPr/>
          <p:nvPr/>
        </p:nvSpPr>
        <p:spPr>
          <a:xfrm>
            <a:off x="5056632" y="3589020"/>
            <a:ext cx="393192" cy="251460"/>
          </a:xfrm>
          <a:prstGeom prst="rect">
            <a:avLst/>
          </a:prstGeom>
          <a:solidFill>
            <a:srgbClr val="FFFFFF"/>
          </a:solidFill>
          <a:ln w="3810">
            <a:solidFill>
              <a:srgbClr val="CBD5E1"/>
            </a:solidFill>
            <a:prstDash val="solid"/>
          </a:ln>
        </p:spPr>
      </p:sp>
      <p:sp>
        <p:nvSpPr>
          <p:cNvPr id="157" name="Shape 155"/>
          <p:cNvSpPr/>
          <p:nvPr/>
        </p:nvSpPr>
        <p:spPr>
          <a:xfrm>
            <a:off x="5449824" y="3589020"/>
            <a:ext cx="393192" cy="251460"/>
          </a:xfrm>
          <a:prstGeom prst="rect">
            <a:avLst/>
          </a:prstGeom>
          <a:solidFill>
            <a:srgbClr val="FFFFFF"/>
          </a:solidFill>
          <a:ln w="3810">
            <a:solidFill>
              <a:srgbClr val="CBD5E1"/>
            </a:solidFill>
            <a:prstDash val="solid"/>
          </a:ln>
        </p:spPr>
      </p:sp>
      <p:sp>
        <p:nvSpPr>
          <p:cNvPr id="158" name="Shape 156"/>
          <p:cNvSpPr/>
          <p:nvPr/>
        </p:nvSpPr>
        <p:spPr>
          <a:xfrm>
            <a:off x="5843016" y="3589020"/>
            <a:ext cx="393192" cy="251460"/>
          </a:xfrm>
          <a:prstGeom prst="rect">
            <a:avLst/>
          </a:prstGeom>
          <a:solidFill>
            <a:srgbClr val="FFFFFF"/>
          </a:solidFill>
          <a:ln w="3810">
            <a:solidFill>
              <a:srgbClr val="CBD5E1"/>
            </a:solidFill>
            <a:prstDash val="solid"/>
          </a:ln>
        </p:spPr>
      </p:sp>
      <p:sp>
        <p:nvSpPr>
          <p:cNvPr id="159" name="Shape 157"/>
          <p:cNvSpPr/>
          <p:nvPr/>
        </p:nvSpPr>
        <p:spPr>
          <a:xfrm>
            <a:off x="6236208" y="3589020"/>
            <a:ext cx="393192" cy="251460"/>
          </a:xfrm>
          <a:prstGeom prst="rect">
            <a:avLst/>
          </a:prstGeom>
          <a:solidFill>
            <a:srgbClr val="FFFFFF"/>
          </a:solidFill>
          <a:ln w="3810">
            <a:solidFill>
              <a:srgbClr val="CBD5E1"/>
            </a:solidFill>
            <a:prstDash val="solid"/>
          </a:ln>
        </p:spPr>
      </p:sp>
      <p:sp>
        <p:nvSpPr>
          <p:cNvPr id="160" name="Shape 158"/>
          <p:cNvSpPr/>
          <p:nvPr/>
        </p:nvSpPr>
        <p:spPr>
          <a:xfrm>
            <a:off x="6629400" y="3589020"/>
            <a:ext cx="393192" cy="251460"/>
          </a:xfrm>
          <a:prstGeom prst="rect">
            <a:avLst/>
          </a:prstGeom>
          <a:solidFill>
            <a:srgbClr val="FFFFFF"/>
          </a:solidFill>
          <a:ln w="3810">
            <a:solidFill>
              <a:srgbClr val="CBD5E1"/>
            </a:solidFill>
            <a:prstDash val="solid"/>
          </a:ln>
        </p:spPr>
      </p:sp>
      <p:sp>
        <p:nvSpPr>
          <p:cNvPr id="161" name="Shape 159"/>
          <p:cNvSpPr/>
          <p:nvPr/>
        </p:nvSpPr>
        <p:spPr>
          <a:xfrm>
            <a:off x="7022592" y="3589020"/>
            <a:ext cx="393192" cy="251460"/>
          </a:xfrm>
          <a:prstGeom prst="rect">
            <a:avLst/>
          </a:prstGeom>
          <a:solidFill>
            <a:srgbClr val="FFFFFF"/>
          </a:solidFill>
          <a:ln w="3810">
            <a:solidFill>
              <a:srgbClr val="CBD5E1"/>
            </a:solidFill>
            <a:prstDash val="solid"/>
          </a:ln>
        </p:spPr>
      </p:sp>
      <p:sp>
        <p:nvSpPr>
          <p:cNvPr id="162" name="Shape 160"/>
          <p:cNvSpPr/>
          <p:nvPr/>
        </p:nvSpPr>
        <p:spPr>
          <a:xfrm>
            <a:off x="7415784" y="3589020"/>
            <a:ext cx="393192" cy="251460"/>
          </a:xfrm>
          <a:prstGeom prst="rect">
            <a:avLst/>
          </a:prstGeom>
          <a:solidFill>
            <a:srgbClr val="FFFFFF"/>
          </a:solidFill>
          <a:ln w="3810">
            <a:solidFill>
              <a:srgbClr val="CBD5E1"/>
            </a:solidFill>
            <a:prstDash val="solid"/>
          </a:ln>
        </p:spPr>
      </p:sp>
      <p:sp>
        <p:nvSpPr>
          <p:cNvPr id="163" name="Shape 161"/>
          <p:cNvSpPr/>
          <p:nvPr/>
        </p:nvSpPr>
        <p:spPr>
          <a:xfrm>
            <a:off x="7808976" y="3589020"/>
            <a:ext cx="393192" cy="251460"/>
          </a:xfrm>
          <a:prstGeom prst="rect">
            <a:avLst/>
          </a:prstGeom>
          <a:solidFill>
            <a:srgbClr val="94A3B8"/>
          </a:solidFill>
          <a:ln w="3810">
            <a:solidFill>
              <a:srgbClr val="CBD5E1"/>
            </a:solidFill>
            <a:prstDash val="solid"/>
          </a:ln>
        </p:spPr>
      </p:sp>
      <p:sp>
        <p:nvSpPr>
          <p:cNvPr id="164" name="Shape 162"/>
          <p:cNvSpPr/>
          <p:nvPr/>
        </p:nvSpPr>
        <p:spPr>
          <a:xfrm>
            <a:off x="8202168" y="3589020"/>
            <a:ext cx="393192" cy="251460"/>
          </a:xfrm>
          <a:prstGeom prst="rect">
            <a:avLst/>
          </a:prstGeom>
          <a:solidFill>
            <a:srgbClr val="94A3B8"/>
          </a:solidFill>
          <a:ln w="3810">
            <a:solidFill>
              <a:srgbClr val="CBD5E1"/>
            </a:solidFill>
            <a:prstDash val="solid"/>
          </a:ln>
        </p:spPr>
      </p:sp>
      <p:sp>
        <p:nvSpPr>
          <p:cNvPr id="165" name="Shape 163"/>
          <p:cNvSpPr/>
          <p:nvPr/>
        </p:nvSpPr>
        <p:spPr>
          <a:xfrm>
            <a:off x="347472" y="3840480"/>
            <a:ext cx="3474720" cy="251460"/>
          </a:xfrm>
          <a:prstGeom prst="rect">
            <a:avLst/>
          </a:prstGeom>
          <a:solidFill>
            <a:srgbClr val="E8F0F5"/>
          </a:solidFill>
          <a:ln w="3810">
            <a:solidFill>
              <a:srgbClr val="CBD5E1"/>
            </a:solidFill>
            <a:prstDash val="solid"/>
          </a:ln>
        </p:spPr>
      </p:sp>
      <p:sp>
        <p:nvSpPr>
          <p:cNvPr id="166" name="Text 164"/>
          <p:cNvSpPr/>
          <p:nvPr/>
        </p:nvSpPr>
        <p:spPr>
          <a:xfrm>
            <a:off x="402336" y="384048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Integración e interpretación biológica</a:t>
            </a:r>
            <a:endParaRPr lang="en-US" sz="900" dirty="0"/>
          </a:p>
        </p:txBody>
      </p:sp>
      <p:sp>
        <p:nvSpPr>
          <p:cNvPr id="167" name="Shape 165"/>
          <p:cNvSpPr/>
          <p:nvPr/>
        </p:nvSpPr>
        <p:spPr>
          <a:xfrm>
            <a:off x="3877056" y="3840480"/>
            <a:ext cx="393192" cy="251460"/>
          </a:xfrm>
          <a:prstGeom prst="rect">
            <a:avLst/>
          </a:prstGeom>
          <a:solidFill>
            <a:srgbClr val="E8F0F5"/>
          </a:solidFill>
          <a:ln w="3810">
            <a:solidFill>
              <a:srgbClr val="CBD5E1"/>
            </a:solidFill>
            <a:prstDash val="solid"/>
          </a:ln>
        </p:spPr>
      </p:sp>
      <p:sp>
        <p:nvSpPr>
          <p:cNvPr id="168" name="Shape 166"/>
          <p:cNvSpPr/>
          <p:nvPr/>
        </p:nvSpPr>
        <p:spPr>
          <a:xfrm>
            <a:off x="4270248" y="3840480"/>
            <a:ext cx="393192" cy="251460"/>
          </a:xfrm>
          <a:prstGeom prst="rect">
            <a:avLst/>
          </a:prstGeom>
          <a:solidFill>
            <a:srgbClr val="E8F0F5"/>
          </a:solidFill>
          <a:ln w="3810">
            <a:solidFill>
              <a:srgbClr val="CBD5E1"/>
            </a:solidFill>
            <a:prstDash val="solid"/>
          </a:ln>
        </p:spPr>
      </p:sp>
      <p:sp>
        <p:nvSpPr>
          <p:cNvPr id="169" name="Shape 167"/>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170" name="Shape 168"/>
          <p:cNvSpPr/>
          <p:nvPr/>
        </p:nvSpPr>
        <p:spPr>
          <a:xfrm>
            <a:off x="4663440" y="3840480"/>
            <a:ext cx="393192" cy="251460"/>
          </a:xfrm>
          <a:prstGeom prst="rect">
            <a:avLst/>
          </a:prstGeom>
          <a:solidFill>
            <a:srgbClr val="E8F0F5"/>
          </a:solidFill>
          <a:ln w="3810">
            <a:solidFill>
              <a:srgbClr val="CBD5E1"/>
            </a:solidFill>
            <a:prstDash val="solid"/>
          </a:ln>
        </p:spPr>
      </p:sp>
      <p:sp>
        <p:nvSpPr>
          <p:cNvPr id="171" name="Shape 169"/>
          <p:cNvSpPr/>
          <p:nvPr/>
        </p:nvSpPr>
        <p:spPr>
          <a:xfrm>
            <a:off x="5056632" y="3840480"/>
            <a:ext cx="393192" cy="251460"/>
          </a:xfrm>
          <a:prstGeom prst="rect">
            <a:avLst/>
          </a:prstGeom>
          <a:solidFill>
            <a:srgbClr val="E8F0F5"/>
          </a:solidFill>
          <a:ln w="3810">
            <a:solidFill>
              <a:srgbClr val="CBD5E1"/>
            </a:solidFill>
            <a:prstDash val="solid"/>
          </a:ln>
        </p:spPr>
      </p:sp>
      <p:sp>
        <p:nvSpPr>
          <p:cNvPr id="172" name="Shape 170"/>
          <p:cNvSpPr/>
          <p:nvPr/>
        </p:nvSpPr>
        <p:spPr>
          <a:xfrm>
            <a:off x="5449824" y="3840480"/>
            <a:ext cx="393192" cy="251460"/>
          </a:xfrm>
          <a:prstGeom prst="rect">
            <a:avLst/>
          </a:prstGeom>
          <a:solidFill>
            <a:srgbClr val="E8F0F5"/>
          </a:solidFill>
          <a:ln w="3810">
            <a:solidFill>
              <a:srgbClr val="CBD5E1"/>
            </a:solidFill>
            <a:prstDash val="solid"/>
          </a:ln>
        </p:spPr>
      </p:sp>
      <p:sp>
        <p:nvSpPr>
          <p:cNvPr id="173" name="Shape 171"/>
          <p:cNvSpPr/>
          <p:nvPr/>
        </p:nvSpPr>
        <p:spPr>
          <a:xfrm>
            <a:off x="5843016" y="3840480"/>
            <a:ext cx="393192" cy="251460"/>
          </a:xfrm>
          <a:prstGeom prst="rect">
            <a:avLst/>
          </a:prstGeom>
          <a:solidFill>
            <a:srgbClr val="E8F0F5"/>
          </a:solidFill>
          <a:ln w="3810">
            <a:solidFill>
              <a:srgbClr val="CBD5E1"/>
            </a:solidFill>
            <a:prstDash val="solid"/>
          </a:ln>
        </p:spPr>
      </p:sp>
      <p:sp>
        <p:nvSpPr>
          <p:cNvPr id="174" name="Shape 172"/>
          <p:cNvSpPr/>
          <p:nvPr/>
        </p:nvSpPr>
        <p:spPr>
          <a:xfrm>
            <a:off x="6236208" y="3840480"/>
            <a:ext cx="393192" cy="251460"/>
          </a:xfrm>
          <a:prstGeom prst="rect">
            <a:avLst/>
          </a:prstGeom>
          <a:solidFill>
            <a:srgbClr val="E8F0F5"/>
          </a:solidFill>
          <a:ln w="3810">
            <a:solidFill>
              <a:srgbClr val="CBD5E1"/>
            </a:solidFill>
            <a:prstDash val="solid"/>
          </a:ln>
        </p:spPr>
      </p:sp>
      <p:sp>
        <p:nvSpPr>
          <p:cNvPr id="175" name="Shape 173"/>
          <p:cNvSpPr/>
          <p:nvPr/>
        </p:nvSpPr>
        <p:spPr>
          <a:xfrm>
            <a:off x="6629400" y="3840480"/>
            <a:ext cx="393192" cy="251460"/>
          </a:xfrm>
          <a:prstGeom prst="rect">
            <a:avLst/>
          </a:prstGeom>
          <a:solidFill>
            <a:srgbClr val="E8F0F5"/>
          </a:solidFill>
          <a:ln w="3810">
            <a:solidFill>
              <a:srgbClr val="CBD5E1"/>
            </a:solidFill>
            <a:prstDash val="solid"/>
          </a:ln>
        </p:spPr>
      </p:sp>
      <p:sp>
        <p:nvSpPr>
          <p:cNvPr id="176" name="Shape 174"/>
          <p:cNvSpPr/>
          <p:nvPr/>
        </p:nvSpPr>
        <p:spPr>
          <a:xfrm>
            <a:off x="7022592" y="3840480"/>
            <a:ext cx="393192" cy="251460"/>
          </a:xfrm>
          <a:prstGeom prst="rect">
            <a:avLst/>
          </a:prstGeom>
          <a:solidFill>
            <a:srgbClr val="E8F0F5"/>
          </a:solidFill>
          <a:ln w="3810">
            <a:solidFill>
              <a:srgbClr val="CBD5E1"/>
            </a:solidFill>
            <a:prstDash val="solid"/>
          </a:ln>
        </p:spPr>
      </p:sp>
      <p:sp>
        <p:nvSpPr>
          <p:cNvPr id="177" name="Shape 175"/>
          <p:cNvSpPr/>
          <p:nvPr/>
        </p:nvSpPr>
        <p:spPr>
          <a:xfrm>
            <a:off x="7415784" y="3840480"/>
            <a:ext cx="393192" cy="251460"/>
          </a:xfrm>
          <a:prstGeom prst="rect">
            <a:avLst/>
          </a:prstGeom>
          <a:solidFill>
            <a:srgbClr val="E8F0F5"/>
          </a:solidFill>
          <a:ln w="3810">
            <a:solidFill>
              <a:srgbClr val="CBD5E1"/>
            </a:solidFill>
            <a:prstDash val="solid"/>
          </a:ln>
        </p:spPr>
      </p:sp>
      <p:sp>
        <p:nvSpPr>
          <p:cNvPr id="178" name="Shape 176"/>
          <p:cNvSpPr/>
          <p:nvPr/>
        </p:nvSpPr>
        <p:spPr>
          <a:xfrm>
            <a:off x="7808976" y="3840480"/>
            <a:ext cx="393192" cy="251460"/>
          </a:xfrm>
          <a:prstGeom prst="rect">
            <a:avLst/>
          </a:prstGeom>
          <a:solidFill>
            <a:srgbClr val="94A3B8"/>
          </a:solidFill>
          <a:ln w="3810">
            <a:solidFill>
              <a:srgbClr val="CBD5E1"/>
            </a:solidFill>
            <a:prstDash val="solid"/>
          </a:ln>
        </p:spPr>
      </p:sp>
      <p:sp>
        <p:nvSpPr>
          <p:cNvPr id="179" name="Shape 177"/>
          <p:cNvSpPr/>
          <p:nvPr/>
        </p:nvSpPr>
        <p:spPr>
          <a:xfrm>
            <a:off x="8202168" y="3840480"/>
            <a:ext cx="393192" cy="251460"/>
          </a:xfrm>
          <a:prstGeom prst="rect">
            <a:avLst/>
          </a:prstGeom>
          <a:solidFill>
            <a:srgbClr val="94A3B8"/>
          </a:solidFill>
          <a:ln w="3810">
            <a:solidFill>
              <a:srgbClr val="CBD5E1"/>
            </a:solidFill>
            <a:prstDash val="solid"/>
          </a:ln>
        </p:spPr>
      </p:sp>
      <p:sp>
        <p:nvSpPr>
          <p:cNvPr id="180" name="Shape 178"/>
          <p:cNvSpPr/>
          <p:nvPr/>
        </p:nvSpPr>
        <p:spPr>
          <a:xfrm>
            <a:off x="347472" y="4091940"/>
            <a:ext cx="3474720" cy="251460"/>
          </a:xfrm>
          <a:prstGeom prst="rect">
            <a:avLst/>
          </a:prstGeom>
          <a:solidFill>
            <a:srgbClr val="FFFFFF"/>
          </a:solidFill>
          <a:ln w="3810">
            <a:solidFill>
              <a:srgbClr val="CBD5E1"/>
            </a:solidFill>
            <a:prstDash val="solid"/>
          </a:ln>
        </p:spPr>
      </p:sp>
      <p:sp>
        <p:nvSpPr>
          <p:cNvPr id="181" name="Text 179"/>
          <p:cNvSpPr/>
          <p:nvPr/>
        </p:nvSpPr>
        <p:spPr>
          <a:xfrm>
            <a:off x="402336" y="409194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Redacción de tesis</a:t>
            </a:r>
            <a:endParaRPr lang="en-US" sz="900" dirty="0"/>
          </a:p>
        </p:txBody>
      </p:sp>
      <p:sp>
        <p:nvSpPr>
          <p:cNvPr id="182" name="Shape 180"/>
          <p:cNvSpPr/>
          <p:nvPr/>
        </p:nvSpPr>
        <p:spPr>
          <a:xfrm>
            <a:off x="3877056" y="4091940"/>
            <a:ext cx="393192" cy="251460"/>
          </a:xfrm>
          <a:prstGeom prst="rect">
            <a:avLst/>
          </a:prstGeom>
          <a:solidFill>
            <a:srgbClr val="FFFFFF"/>
          </a:solidFill>
          <a:ln w="3810">
            <a:solidFill>
              <a:srgbClr val="CBD5E1"/>
            </a:solidFill>
            <a:prstDash val="solid"/>
          </a:ln>
        </p:spPr>
      </p:sp>
      <p:sp>
        <p:nvSpPr>
          <p:cNvPr id="183" name="Shape 181"/>
          <p:cNvSpPr/>
          <p:nvPr/>
        </p:nvSpPr>
        <p:spPr>
          <a:xfrm>
            <a:off x="4270248" y="4091940"/>
            <a:ext cx="393192" cy="251460"/>
          </a:xfrm>
          <a:prstGeom prst="rect">
            <a:avLst/>
          </a:prstGeom>
          <a:solidFill>
            <a:srgbClr val="FFFFFF"/>
          </a:solidFill>
          <a:ln w="3810">
            <a:solidFill>
              <a:srgbClr val="CBD5E1"/>
            </a:solidFill>
            <a:prstDash val="solid"/>
          </a:ln>
        </p:spPr>
      </p:sp>
      <p:sp>
        <p:nvSpPr>
          <p:cNvPr id="184" name="Shape 182"/>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185" name="Shape 183"/>
          <p:cNvSpPr/>
          <p:nvPr/>
        </p:nvSpPr>
        <p:spPr>
          <a:xfrm>
            <a:off x="4663440" y="4091940"/>
            <a:ext cx="393192" cy="251460"/>
          </a:xfrm>
          <a:prstGeom prst="rect">
            <a:avLst/>
          </a:prstGeom>
          <a:solidFill>
            <a:srgbClr val="FFFFFF"/>
          </a:solidFill>
          <a:ln w="3810">
            <a:solidFill>
              <a:srgbClr val="CBD5E1"/>
            </a:solidFill>
            <a:prstDash val="solid"/>
          </a:ln>
        </p:spPr>
      </p:sp>
      <p:sp>
        <p:nvSpPr>
          <p:cNvPr id="186" name="Shape 184"/>
          <p:cNvSpPr/>
          <p:nvPr/>
        </p:nvSpPr>
        <p:spPr>
          <a:xfrm>
            <a:off x="5056632" y="4091940"/>
            <a:ext cx="393192" cy="251460"/>
          </a:xfrm>
          <a:prstGeom prst="rect">
            <a:avLst/>
          </a:prstGeom>
          <a:solidFill>
            <a:srgbClr val="FFFFFF"/>
          </a:solidFill>
          <a:ln w="3810">
            <a:solidFill>
              <a:srgbClr val="CBD5E1"/>
            </a:solidFill>
            <a:prstDash val="solid"/>
          </a:ln>
        </p:spPr>
      </p:sp>
      <p:sp>
        <p:nvSpPr>
          <p:cNvPr id="187" name="Shape 185"/>
          <p:cNvSpPr/>
          <p:nvPr/>
        </p:nvSpPr>
        <p:spPr>
          <a:xfrm>
            <a:off x="5449824" y="4091940"/>
            <a:ext cx="393192" cy="251460"/>
          </a:xfrm>
          <a:prstGeom prst="rect">
            <a:avLst/>
          </a:prstGeom>
          <a:solidFill>
            <a:srgbClr val="FFFFFF"/>
          </a:solidFill>
          <a:ln w="3810">
            <a:solidFill>
              <a:srgbClr val="CBD5E1"/>
            </a:solidFill>
            <a:prstDash val="solid"/>
          </a:ln>
        </p:spPr>
      </p:sp>
      <p:sp>
        <p:nvSpPr>
          <p:cNvPr id="188" name="Shape 186"/>
          <p:cNvSpPr/>
          <p:nvPr/>
        </p:nvSpPr>
        <p:spPr>
          <a:xfrm>
            <a:off x="5843016" y="4091940"/>
            <a:ext cx="393192" cy="251460"/>
          </a:xfrm>
          <a:prstGeom prst="rect">
            <a:avLst/>
          </a:prstGeom>
          <a:solidFill>
            <a:srgbClr val="FFFFFF"/>
          </a:solidFill>
          <a:ln w="3810">
            <a:solidFill>
              <a:srgbClr val="CBD5E1"/>
            </a:solidFill>
            <a:prstDash val="solid"/>
          </a:ln>
        </p:spPr>
      </p:sp>
      <p:sp>
        <p:nvSpPr>
          <p:cNvPr id="189" name="Shape 187"/>
          <p:cNvSpPr/>
          <p:nvPr/>
        </p:nvSpPr>
        <p:spPr>
          <a:xfrm>
            <a:off x="6236208" y="4091940"/>
            <a:ext cx="393192" cy="251460"/>
          </a:xfrm>
          <a:prstGeom prst="rect">
            <a:avLst/>
          </a:prstGeom>
          <a:solidFill>
            <a:srgbClr val="FFFFFF"/>
          </a:solidFill>
          <a:ln w="3810">
            <a:solidFill>
              <a:srgbClr val="CBD5E1"/>
            </a:solidFill>
            <a:prstDash val="solid"/>
          </a:ln>
        </p:spPr>
      </p:sp>
      <p:sp>
        <p:nvSpPr>
          <p:cNvPr id="190" name="Shape 188"/>
          <p:cNvSpPr/>
          <p:nvPr/>
        </p:nvSpPr>
        <p:spPr>
          <a:xfrm>
            <a:off x="6629400" y="4091940"/>
            <a:ext cx="393192" cy="251460"/>
          </a:xfrm>
          <a:prstGeom prst="rect">
            <a:avLst/>
          </a:prstGeom>
          <a:solidFill>
            <a:srgbClr val="FFFFFF"/>
          </a:solidFill>
          <a:ln w="3810">
            <a:solidFill>
              <a:srgbClr val="CBD5E1"/>
            </a:solidFill>
            <a:prstDash val="solid"/>
          </a:ln>
        </p:spPr>
      </p:sp>
      <p:sp>
        <p:nvSpPr>
          <p:cNvPr id="191" name="Shape 189"/>
          <p:cNvSpPr/>
          <p:nvPr/>
        </p:nvSpPr>
        <p:spPr>
          <a:xfrm>
            <a:off x="7022592" y="4091940"/>
            <a:ext cx="393192" cy="251460"/>
          </a:xfrm>
          <a:prstGeom prst="rect">
            <a:avLst/>
          </a:prstGeom>
          <a:solidFill>
            <a:srgbClr val="FFFFFF"/>
          </a:solidFill>
          <a:ln w="3810">
            <a:solidFill>
              <a:srgbClr val="CBD5E1"/>
            </a:solidFill>
            <a:prstDash val="solid"/>
          </a:ln>
        </p:spPr>
      </p:sp>
      <p:sp>
        <p:nvSpPr>
          <p:cNvPr id="192" name="Shape 190"/>
          <p:cNvSpPr/>
          <p:nvPr/>
        </p:nvSpPr>
        <p:spPr>
          <a:xfrm>
            <a:off x="7415784" y="4091940"/>
            <a:ext cx="393192" cy="251460"/>
          </a:xfrm>
          <a:prstGeom prst="rect">
            <a:avLst/>
          </a:prstGeom>
          <a:solidFill>
            <a:srgbClr val="FFFFFF"/>
          </a:solidFill>
          <a:ln w="3810">
            <a:solidFill>
              <a:srgbClr val="CBD5E1"/>
            </a:solidFill>
            <a:prstDash val="solid"/>
          </a:ln>
        </p:spPr>
      </p:sp>
      <p:sp>
        <p:nvSpPr>
          <p:cNvPr id="193" name="Shape 191"/>
          <p:cNvSpPr/>
          <p:nvPr/>
        </p:nvSpPr>
        <p:spPr>
          <a:xfrm>
            <a:off x="7808976" y="4091940"/>
            <a:ext cx="393192" cy="251460"/>
          </a:xfrm>
          <a:prstGeom prst="rect">
            <a:avLst/>
          </a:prstGeom>
          <a:solidFill>
            <a:srgbClr val="94A3B8"/>
          </a:solidFill>
          <a:ln w="3810">
            <a:solidFill>
              <a:srgbClr val="CBD5E1"/>
            </a:solidFill>
            <a:prstDash val="solid"/>
          </a:ln>
        </p:spPr>
      </p:sp>
      <p:sp>
        <p:nvSpPr>
          <p:cNvPr id="194" name="Shape 192"/>
          <p:cNvSpPr/>
          <p:nvPr/>
        </p:nvSpPr>
        <p:spPr>
          <a:xfrm>
            <a:off x="8202168" y="4091940"/>
            <a:ext cx="393192" cy="251460"/>
          </a:xfrm>
          <a:prstGeom prst="rect">
            <a:avLst/>
          </a:prstGeom>
          <a:solidFill>
            <a:srgbClr val="94A3B8"/>
          </a:solidFill>
          <a:ln w="3810">
            <a:solidFill>
              <a:srgbClr val="CBD5E1"/>
            </a:solidFill>
            <a:prstDash val="solid"/>
          </a:ln>
        </p:spPr>
      </p:sp>
      <p:sp>
        <p:nvSpPr>
          <p:cNvPr id="195" name="Shape 193"/>
          <p:cNvSpPr/>
          <p:nvPr/>
        </p:nvSpPr>
        <p:spPr>
          <a:xfrm>
            <a:off x="347472" y="4343400"/>
            <a:ext cx="3474720" cy="251460"/>
          </a:xfrm>
          <a:prstGeom prst="rect">
            <a:avLst/>
          </a:prstGeom>
          <a:solidFill>
            <a:srgbClr val="E8F0F5"/>
          </a:solidFill>
          <a:ln w="3810">
            <a:solidFill>
              <a:srgbClr val="CBD5E1"/>
            </a:solidFill>
            <a:prstDash val="solid"/>
          </a:ln>
        </p:spPr>
      </p:sp>
      <p:sp>
        <p:nvSpPr>
          <p:cNvPr id="196" name="Text 194"/>
          <p:cNvSpPr/>
          <p:nvPr/>
        </p:nvSpPr>
        <p:spPr>
          <a:xfrm>
            <a:off x="402336" y="434340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Correcciones y defensa</a:t>
            </a:r>
            <a:endParaRPr lang="en-US" sz="900" dirty="0"/>
          </a:p>
        </p:txBody>
      </p:sp>
      <p:sp>
        <p:nvSpPr>
          <p:cNvPr id="197" name="Shape 195"/>
          <p:cNvSpPr/>
          <p:nvPr/>
        </p:nvSpPr>
        <p:spPr>
          <a:xfrm>
            <a:off x="3877056" y="4343400"/>
            <a:ext cx="393192" cy="251460"/>
          </a:xfrm>
          <a:prstGeom prst="rect">
            <a:avLst/>
          </a:prstGeom>
          <a:solidFill>
            <a:srgbClr val="E8F0F5"/>
          </a:solidFill>
          <a:ln w="3810">
            <a:solidFill>
              <a:srgbClr val="CBD5E1"/>
            </a:solidFill>
            <a:prstDash val="solid"/>
          </a:ln>
        </p:spPr>
      </p:sp>
      <p:sp>
        <p:nvSpPr>
          <p:cNvPr id="198" name="Shape 196"/>
          <p:cNvSpPr/>
          <p:nvPr/>
        </p:nvSpPr>
        <p:spPr>
          <a:xfrm>
            <a:off x="4270248" y="4343400"/>
            <a:ext cx="393192" cy="251460"/>
          </a:xfrm>
          <a:prstGeom prst="rect">
            <a:avLst/>
          </a:prstGeom>
          <a:solidFill>
            <a:srgbClr val="E8F0F5"/>
          </a:solidFill>
          <a:ln w="3810">
            <a:solidFill>
              <a:srgbClr val="CBD5E1"/>
            </a:solidFill>
            <a:prstDash val="solid"/>
          </a:ln>
        </p:spPr>
      </p:sp>
      <p:sp>
        <p:nvSpPr>
          <p:cNvPr id="199" name="Shape 197"/>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200" name="Shape 198"/>
          <p:cNvSpPr/>
          <p:nvPr/>
        </p:nvSpPr>
        <p:spPr>
          <a:xfrm>
            <a:off x="4663440" y="4343400"/>
            <a:ext cx="393192" cy="251460"/>
          </a:xfrm>
          <a:prstGeom prst="rect">
            <a:avLst/>
          </a:prstGeom>
          <a:solidFill>
            <a:srgbClr val="E8F0F5"/>
          </a:solidFill>
          <a:ln w="3810">
            <a:solidFill>
              <a:srgbClr val="CBD5E1"/>
            </a:solidFill>
            <a:prstDash val="solid"/>
          </a:ln>
        </p:spPr>
      </p:sp>
      <p:sp>
        <p:nvSpPr>
          <p:cNvPr id="201" name="Shape 199"/>
          <p:cNvSpPr/>
          <p:nvPr/>
        </p:nvSpPr>
        <p:spPr>
          <a:xfrm>
            <a:off x="5056632" y="4343400"/>
            <a:ext cx="393192" cy="251460"/>
          </a:xfrm>
          <a:prstGeom prst="rect">
            <a:avLst/>
          </a:prstGeom>
          <a:solidFill>
            <a:srgbClr val="E8F0F5"/>
          </a:solidFill>
          <a:ln w="3810">
            <a:solidFill>
              <a:srgbClr val="CBD5E1"/>
            </a:solidFill>
            <a:prstDash val="solid"/>
          </a:ln>
        </p:spPr>
      </p:sp>
      <p:sp>
        <p:nvSpPr>
          <p:cNvPr id="202" name="Shape 200"/>
          <p:cNvSpPr/>
          <p:nvPr/>
        </p:nvSpPr>
        <p:spPr>
          <a:xfrm>
            <a:off x="5449824" y="4343400"/>
            <a:ext cx="393192" cy="251460"/>
          </a:xfrm>
          <a:prstGeom prst="rect">
            <a:avLst/>
          </a:prstGeom>
          <a:solidFill>
            <a:srgbClr val="E8F0F5"/>
          </a:solidFill>
          <a:ln w="3810">
            <a:solidFill>
              <a:srgbClr val="CBD5E1"/>
            </a:solidFill>
            <a:prstDash val="solid"/>
          </a:ln>
        </p:spPr>
      </p:sp>
      <p:sp>
        <p:nvSpPr>
          <p:cNvPr id="203" name="Shape 201"/>
          <p:cNvSpPr/>
          <p:nvPr/>
        </p:nvSpPr>
        <p:spPr>
          <a:xfrm>
            <a:off x="5843016" y="4343400"/>
            <a:ext cx="393192" cy="251460"/>
          </a:xfrm>
          <a:prstGeom prst="rect">
            <a:avLst/>
          </a:prstGeom>
          <a:solidFill>
            <a:srgbClr val="E8F0F5"/>
          </a:solidFill>
          <a:ln w="3810">
            <a:solidFill>
              <a:srgbClr val="CBD5E1"/>
            </a:solidFill>
            <a:prstDash val="solid"/>
          </a:ln>
        </p:spPr>
      </p:sp>
      <p:sp>
        <p:nvSpPr>
          <p:cNvPr id="204" name="Shape 202"/>
          <p:cNvSpPr/>
          <p:nvPr/>
        </p:nvSpPr>
        <p:spPr>
          <a:xfrm>
            <a:off x="6236208" y="4343400"/>
            <a:ext cx="393192" cy="251460"/>
          </a:xfrm>
          <a:prstGeom prst="rect">
            <a:avLst/>
          </a:prstGeom>
          <a:solidFill>
            <a:srgbClr val="E8F0F5"/>
          </a:solidFill>
          <a:ln w="3810">
            <a:solidFill>
              <a:srgbClr val="CBD5E1"/>
            </a:solidFill>
            <a:prstDash val="solid"/>
          </a:ln>
        </p:spPr>
      </p:sp>
      <p:sp>
        <p:nvSpPr>
          <p:cNvPr id="205" name="Shape 203"/>
          <p:cNvSpPr/>
          <p:nvPr/>
        </p:nvSpPr>
        <p:spPr>
          <a:xfrm>
            <a:off x="6629400" y="4343400"/>
            <a:ext cx="393192" cy="251460"/>
          </a:xfrm>
          <a:prstGeom prst="rect">
            <a:avLst/>
          </a:prstGeom>
          <a:solidFill>
            <a:srgbClr val="E8F0F5"/>
          </a:solidFill>
          <a:ln w="3810">
            <a:solidFill>
              <a:srgbClr val="CBD5E1"/>
            </a:solidFill>
            <a:prstDash val="solid"/>
          </a:ln>
        </p:spPr>
      </p:sp>
      <p:sp>
        <p:nvSpPr>
          <p:cNvPr id="206" name="Shape 204"/>
          <p:cNvSpPr/>
          <p:nvPr/>
        </p:nvSpPr>
        <p:spPr>
          <a:xfrm>
            <a:off x="7022592" y="4343400"/>
            <a:ext cx="393192" cy="251460"/>
          </a:xfrm>
          <a:prstGeom prst="rect">
            <a:avLst/>
          </a:prstGeom>
          <a:solidFill>
            <a:srgbClr val="E8F0F5"/>
          </a:solidFill>
          <a:ln w="3810">
            <a:solidFill>
              <a:srgbClr val="CBD5E1"/>
            </a:solidFill>
            <a:prstDash val="solid"/>
          </a:ln>
        </p:spPr>
      </p:sp>
      <p:sp>
        <p:nvSpPr>
          <p:cNvPr id="207" name="Shape 205"/>
          <p:cNvSpPr/>
          <p:nvPr/>
        </p:nvSpPr>
        <p:spPr>
          <a:xfrm>
            <a:off x="7415784" y="4343400"/>
            <a:ext cx="393192" cy="251460"/>
          </a:xfrm>
          <a:prstGeom prst="rect">
            <a:avLst/>
          </a:prstGeom>
          <a:solidFill>
            <a:srgbClr val="E8F0F5"/>
          </a:solidFill>
          <a:ln w="3810">
            <a:solidFill>
              <a:srgbClr val="CBD5E1"/>
            </a:solidFill>
            <a:prstDash val="solid"/>
          </a:ln>
        </p:spPr>
      </p:sp>
      <p:sp>
        <p:nvSpPr>
          <p:cNvPr id="208" name="Shape 206"/>
          <p:cNvSpPr/>
          <p:nvPr/>
        </p:nvSpPr>
        <p:spPr>
          <a:xfrm>
            <a:off x="7808976" y="4343400"/>
            <a:ext cx="393192" cy="251460"/>
          </a:xfrm>
          <a:prstGeom prst="rect">
            <a:avLst/>
          </a:prstGeom>
          <a:solidFill>
            <a:srgbClr val="E8F0F5"/>
          </a:solidFill>
          <a:ln w="3810">
            <a:solidFill>
              <a:srgbClr val="CBD5E1"/>
            </a:solidFill>
            <a:prstDash val="solid"/>
          </a:ln>
        </p:spPr>
      </p:sp>
      <p:sp>
        <p:nvSpPr>
          <p:cNvPr id="209" name="Shape 207"/>
          <p:cNvSpPr/>
          <p:nvPr/>
        </p:nvSpPr>
        <p:spPr>
          <a:xfrm>
            <a:off x="8202168" y="4343400"/>
            <a:ext cx="393192" cy="251460"/>
          </a:xfrm>
          <a:prstGeom prst="rect">
            <a:avLst/>
          </a:prstGeom>
          <a:solidFill>
            <a:srgbClr val="94A3B8"/>
          </a:solidFill>
          <a:ln w="3810">
            <a:solidFill>
              <a:srgbClr val="CBD5E1"/>
            </a:solidFill>
            <a:prstDash val="solid"/>
          </a:ln>
        </p:spPr>
      </p:sp>
      <p:sp>
        <p:nvSpPr>
          <p:cNvPr id="210" name="Shape 208"/>
          <p:cNvSpPr/>
          <p:nvPr/>
        </p:nvSpPr>
        <p:spPr>
          <a:xfrm>
            <a:off x="347472" y="4736592"/>
            <a:ext cx="182880" cy="118872"/>
          </a:xfrm>
          <a:prstGeom prst="rect">
            <a:avLst/>
          </a:prstGeom>
          <a:solidFill>
            <a:srgbClr val="1A6B8A"/>
          </a:solidFill>
          <a:ln w="12700">
            <a:solidFill>
              <a:srgbClr val="1A6B8A"/>
            </a:solidFill>
            <a:prstDash val="solid"/>
          </a:ln>
        </p:spPr>
      </p:sp>
      <p:sp>
        <p:nvSpPr>
          <p:cNvPr id="211" name="Text 209"/>
          <p:cNvSpPr/>
          <p:nvPr/>
        </p:nvSpPr>
        <p:spPr>
          <a:xfrm>
            <a:off x="576072" y="4700016"/>
            <a:ext cx="109728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Activo</a:t>
            </a:r>
            <a:endParaRPr lang="en-US" sz="900" dirty="0"/>
          </a:p>
        </p:txBody>
      </p:sp>
      <p:sp>
        <p:nvSpPr>
          <p:cNvPr id="212" name="Shape 210"/>
          <p:cNvSpPr/>
          <p:nvPr/>
        </p:nvSpPr>
        <p:spPr>
          <a:xfrm>
            <a:off x="1463040" y="4736592"/>
            <a:ext cx="182880" cy="118872"/>
          </a:xfrm>
          <a:prstGeom prst="rect">
            <a:avLst/>
          </a:prstGeom>
          <a:solidFill>
            <a:srgbClr val="94A3B8"/>
          </a:solidFill>
          <a:ln w="12700">
            <a:solidFill>
              <a:srgbClr val="94A3B8"/>
            </a:solidFill>
            <a:prstDash val="solid"/>
          </a:ln>
        </p:spPr>
      </p:sp>
      <p:sp>
        <p:nvSpPr>
          <p:cNvPr id="213" name="Text 211"/>
          <p:cNvSpPr/>
          <p:nvPr/>
        </p:nvSpPr>
        <p:spPr>
          <a:xfrm>
            <a:off x="1691640" y="4700016"/>
            <a:ext cx="137160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Pendiente</a:t>
            </a:r>
            <a:endParaRPr lang="en-US" sz="900" dirty="0"/>
          </a:p>
        </p:txBody>
      </p:sp>
      <p:sp>
        <p:nvSpPr>
          <p:cNvPr id="214" name="Shape 212"/>
          <p:cNvSpPr/>
          <p:nvPr/>
        </p:nvSpPr>
        <p:spPr>
          <a:xfrm>
            <a:off x="2834640" y="4736592"/>
            <a:ext cx="182880" cy="118872"/>
          </a:xfrm>
          <a:prstGeom prst="rect">
            <a:avLst/>
          </a:prstGeom>
          <a:solidFill>
            <a:srgbClr val="1A6B8A">
              <a:alpha val="70000"/>
            </a:srgbClr>
          </a:solidFill>
          <a:ln w="12700">
            <a:solidFill>
              <a:srgbClr val="1A6B8A"/>
            </a:solidFill>
            <a:prstDash val="solid"/>
          </a:ln>
        </p:spPr>
      </p:sp>
      <p:sp>
        <p:nvSpPr>
          <p:cNvPr id="215" name="Text 213"/>
          <p:cNvSpPr/>
          <p:nvPr/>
        </p:nvSpPr>
        <p:spPr>
          <a:xfrm>
            <a:off x="3063240" y="4700016"/>
            <a:ext cx="182880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Mes actual (2)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t" lIns="28800" rIns="28800" tIns="28800" bIns="28800"/>
          <a:lstStyle/>
          <a:p>
            <a:pPr indent="0" marL="0" algn="l">
              <a:buNone/>
            </a:pPr>
            <a:r>
              <a:rPr sz="1600" b="1" i="0">
                <a:solidFill>
                  <a:srgbClr val="1B4965"/>
                </a:solidFill>
                <a:latin typeface="Calibri"/>
              </a:rPr>
              <a:t>OE1 – DETERMINACIÓN DE MIC Y CONDICIONES SUBINHIBITORIAS</a:t>
            </a:r>
            <a:endParaRPr lang="en-US" sz="800" dirty="0"/>
          </a:p>
        </p:txBody>
      </p:sp>
      <p:sp>
        <p:nvSpPr>
          <p:cNvPr id="3" name="Text 1"/>
          <p:cNvSpPr/>
          <p:nvPr/>
        </p:nvSpPr>
        <p:spPr>
          <a:xfrm>
            <a:off x="457200" y="502920"/>
            <a:ext cx="8229600" cy="502920"/>
          </a:xfrm>
          <a:prstGeom prst="rect">
            <a:avLst/>
          </a:prstGeom>
          <a:noFill/>
          <a:ln/>
        </p:spPr>
        <p:txBody>
          <a:bodyPr wrap="square" rtlCol="0" anchor="t" lIns="28800" rIns="28800" tIns="28800" bIns="28800"/>
          <a:lstStyle/>
          <a:p>
            <a:pPr indent="0" marL="0" algn="l">
              <a:buNone/>
            </a:pPr>
            <a:r>
              <a:rPr sz="2400" b="1" i="0">
                <a:solidFill>
                  <a:srgbClr val="1A1A1A"/>
                </a:solidFill>
                <a:latin typeface="Calibri"/>
              </a:rPr>
              <a:t>Determinación de MIC en BHI y CGXII: estado actual del ensayo</a:t>
            </a:r>
            <a:endParaRPr lang="en-US" sz="2600" dirty="0"/>
          </a:p>
        </p:txBody>
      </p:sp>
      <p:sp>
        <p:nvSpPr>
          <p:cNvPr id="4" name="Shape 2"/>
          <p:cNvSpPr/>
          <p:nvPr/>
        </p:nvSpPr>
        <p:spPr>
          <a:xfrm>
            <a:off x="365760" y="1417320"/>
            <a:ext cx="2834640" cy="35204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Text 3"/>
          <p:cNvSpPr/>
          <p:nvPr/>
        </p:nvSpPr>
        <p:spPr>
          <a:xfrm>
            <a:off x="502920" y="1508760"/>
            <a:ext cx="2560320" cy="274320"/>
          </a:xfrm>
          <a:prstGeom prst="rect">
            <a:avLst/>
          </a:prstGeom>
          <a:noFill/>
          <a:ln/>
        </p:spPr>
        <p:txBody>
          <a:bodyPr wrap="square" rtlCol="0" anchor="t" lIns="28800" rIns="28800" tIns="28800" bIns="28800"/>
          <a:lstStyle/>
          <a:p>
            <a:pPr indent="0" marL="0" algn="l">
              <a:buNone/>
            </a:pPr>
            <a:r>
              <a:rPr sz="1400" b="1" i="0">
                <a:solidFill>
                  <a:srgbClr val="1B4965"/>
                </a:solidFill>
                <a:latin typeface="Calibri"/>
              </a:rPr>
              <a:t>Condiciones del ensayo</a:t>
            </a:r>
            <a:endParaRPr lang="en-US" sz="1100" dirty="0"/>
          </a:p>
        </p:txBody>
      </p:sp>
      <p:sp>
        <p:nvSpPr>
          <p:cNvPr id="6" name="Text 4"/>
          <p:cNvSpPr/>
          <p:nvPr/>
        </p:nvSpPr>
        <p:spPr>
          <a:xfrm>
            <a:off x="502920" y="1828800"/>
            <a:ext cx="2560320" cy="2971800"/>
          </a:xfrm>
          <a:prstGeom prst="rect">
            <a:avLst/>
          </a:prstGeom>
          <a:noFill/>
          <a:ln/>
        </p:spPr>
        <p:txBody>
          <a:bodyPr wrap="square" rtlCol="0" anchor="t" lIns="50400" rIns="50400" tIns="50400" bIns="50400"/>
          <a:lstStyle/>
          <a:p>
            <a:pPr marL="342900" indent="-342900" algn="l">
              <a:lnSpc>
                <a:spcPct val="135000"/>
              </a:lnSpc>
              <a:buSzPct val="100000"/>
              <a:buChar char="•"/>
            </a:pPr>
            <a:r>
              <a:rPr sz="1100" b="0" i="0">
                <a:solidFill>
                  <a:srgbClr val="1A1A1A"/>
                </a:solidFill>
                <a:latin typeface="Calibri"/>
              </a:rPr>
              <a:t>Medios: BHI y CGXII-sucrose
Rango: 0,25 a 512 µg/mL (diluciones seriadas 1:2)
Incubación: 16 h | Lectura: OD600
Triplicado biológico</a:t>
            </a:r>
            <a:endParaRPr lang="en-US" sz="1100" dirty="0"/>
          </a:p>
        </p:txBody>
      </p:sp>
      <p:sp>
        <p:nvSpPr>
          <p:cNvPr id="8" name="Shape 5"/>
          <p:cNvSpPr/>
          <p:nvPr/>
        </p:nvSpPr>
        <p:spPr>
          <a:xfrm>
            <a:off x="3383280" y="3840480"/>
            <a:ext cx="5394960" cy="685800"/>
          </a:xfrm>
          <a:prstGeom prst="rect">
            <a:avLst/>
          </a:prstGeom>
          <a:solidFill>
            <a:srgbClr val="FFF7ED"/>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9" name="Shape 6"/>
          <p:cNvSpPr/>
          <p:nvPr/>
        </p:nvSpPr>
        <p:spPr>
          <a:xfrm>
            <a:off x="3383280" y="3840480"/>
            <a:ext cx="5394960" cy="64008"/>
          </a:xfrm>
          <a:prstGeom prst="rect">
            <a:avLst/>
          </a:prstGeom>
          <a:solidFill>
            <a:srgbClr val="D97706"/>
          </a:solidFill>
          <a:ln w="12700">
            <a:solidFill>
              <a:srgbClr val="D97706"/>
            </a:solidFill>
            <a:prstDash val="solid"/>
          </a:ln>
        </p:spPr>
      </p:sp>
      <p:sp>
        <p:nvSpPr>
          <p:cNvPr id="10" name="Text 7"/>
          <p:cNvSpPr/>
          <p:nvPr/>
        </p:nvSpPr>
        <p:spPr>
          <a:xfrm>
            <a:off x="3520440" y="3904488"/>
            <a:ext cx="5120640" cy="566928"/>
          </a:xfrm>
          <a:prstGeom prst="rect">
            <a:avLst/>
          </a:prstGeom>
          <a:noFill/>
          <a:ln/>
        </p:spPr>
        <p:txBody>
          <a:bodyPr wrap="square" rtlCol="0" anchor="t" lIns="72000" rIns="72000" tIns="72000" bIns="72000"/>
          <a:lstStyle/>
          <a:p>
            <a:pPr indent="0" marL="0" algn="l">
              <a:buNone/>
            </a:pPr>
            <a:pPr indent="0" marL="0">
              <a:buNone/>
            </a:pPr>
            <a:pPr indent="0" marL="0">
              <a:buNone/>
            </a:pPr>
            <a:pPr indent="0" marL="0">
              <a:buNone/>
            </a:pPr>
            <a:r>
              <a:rPr sz="1030" b="0" i="0">
                <a:solidFill>
                  <a:srgbClr val="1A1A1A"/>
                </a:solidFill>
                <a:latin typeface="Calibri"/>
              </a:rPr>
              <a:t>Resultado: en BHI se observó inhibición dependiente de concentración y una zona de transición definida, pero la curva quedó incompleta porque no se alcanzó el plateau superior. En CGXII no hubo crecimiento suficiente en la ventana esperada.</a:t>
            </a:r>
            <a:endParaRPr lang="en-US" sz="1100" dirty="0"/>
          </a:p>
        </p:txBody>
      </p:sp>
      <p:sp>
        <p:nvSpPr>
          <p:cNvPr id="11" name="Shape 8"/>
          <p:cNvSpPr/>
          <p:nvPr/>
        </p:nvSpPr>
        <p:spPr>
          <a:xfrm>
            <a:off x="365760" y="4617720"/>
            <a:ext cx="8412480" cy="411480"/>
          </a:xfrm>
          <a:prstGeom prst="rect">
            <a:avLst/>
          </a:prstGeom>
          <a:solidFill>
            <a:srgbClr val="F0F9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2" name="Shape 9"/>
          <p:cNvSpPr/>
          <p:nvPr/>
        </p:nvSpPr>
        <p:spPr>
          <a:xfrm>
            <a:off x="365760" y="4617720"/>
            <a:ext cx="64008" cy="411480"/>
          </a:xfrm>
          <a:prstGeom prst="rect">
            <a:avLst/>
          </a:prstGeom>
          <a:solidFill>
            <a:srgbClr val="0EA5E9"/>
          </a:solidFill>
          <a:ln w="12700">
            <a:solidFill>
              <a:srgbClr val="0EA5E9"/>
            </a:solidFill>
            <a:prstDash val="solid"/>
          </a:ln>
        </p:spPr>
      </p:sp>
      <p:sp>
        <p:nvSpPr>
          <p:cNvPr id="13" name="Text 10"/>
          <p:cNvSpPr/>
          <p:nvPr/>
        </p:nvSpPr>
        <p:spPr>
          <a:xfrm>
            <a:off x="594360" y="4645152"/>
            <a:ext cx="8046720" cy="347472"/>
          </a:xfrm>
          <a:prstGeom prst="rect">
            <a:avLst/>
          </a:prstGeom>
          <a:noFill/>
          <a:ln/>
        </p:spPr>
        <p:txBody>
          <a:bodyPr wrap="square" rtlCol="0" anchor="t" lIns="72000" rIns="72000" tIns="72000" bIns="72000"/>
          <a:lstStyle/>
          <a:p>
            <a:pPr indent="0" marL="0" algn="l">
              <a:buNone/>
            </a:pPr>
            <a:r>
              <a:rPr sz="1060" b="0" i="0">
                <a:solidFill>
                  <a:srgbClr val="1A1A1A"/>
                </a:solidFill>
                <a:latin typeface="Calibri"/>
              </a:rPr>
              <a:t>Próximo paso: repetir con rango extendido por debajo de 0,25 µg/mL → validar MIC en BHI → repetir en CGXII con mejor aireación → definir concentración subinhibitoria operativa.</a:t>
            </a:r>
            <a:endParaRPr lang="en-US" sz="1100" dirty="0"/>
          </a:p>
        </p:txBody>
      </p:sp>
      <p:graphicFrame>
        <p:nvGraphicFramePr>
          <p:cNvPr id="14" name="Chart 13"/>
          <p:cNvGraphicFramePr>
            <a:graphicFrameLocks noGrp="1"/>
          </p:cNvGraphicFramePr>
          <p:nvPr/>
        </p:nvGraphicFramePr>
        <p:xfrm>
          <a:off x="3383280" y="1325880"/>
          <a:ext cx="5394960" cy="2560320"/>
        </p:xfrm>
        <a:graphic>
          <a:graphicData uri="http://schemas.openxmlformats.org/drawingml/2006/chart">
            <c:chart xmlns:c="http://schemas.openxmlformats.org/drawingml/2006/chart" r:id="rId4"/>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t" lIns="28800" rIns="28800" tIns="28800" bIns="28800"/>
          <a:lstStyle/>
          <a:p>
            <a:pPr indent="0" marL="0" algn="l">
              <a:buNone/>
            </a:pPr>
            <a:r>
              <a:rPr sz="1600" b="1" i="0">
                <a:solidFill>
                  <a:srgbClr val="1B4965"/>
                </a:solidFill>
                <a:latin typeface="Calibri"/>
              </a:rPr>
              <a:t>OE2 – OPTIMIZACIÓN DEL MÉTODO DIA</a:t>
            </a:r>
            <a:endParaRPr lang="en-US" sz="800" dirty="0"/>
          </a:p>
        </p:txBody>
      </p:sp>
      <p:sp>
        <p:nvSpPr>
          <p:cNvPr id="3" name="Text 1"/>
          <p:cNvSpPr/>
          <p:nvPr/>
        </p:nvSpPr>
        <p:spPr>
          <a:xfrm>
            <a:off x="457200" y="502920"/>
            <a:ext cx="8229600" cy="502920"/>
          </a:xfrm>
          <a:prstGeom prst="rect">
            <a:avLst/>
          </a:prstGeom>
          <a:noFill/>
          <a:ln/>
        </p:spPr>
        <p:txBody>
          <a:bodyPr wrap="square" rtlCol="0" anchor="t" lIns="28800" rIns="28800" tIns="28800" bIns="28800"/>
          <a:lstStyle/>
          <a:p>
            <a:pPr indent="0" marL="0" algn="l">
              <a:buNone/>
            </a:pPr>
            <a:r>
              <a:rPr sz="2400" b="1" i="0">
                <a:solidFill>
                  <a:srgbClr val="1A1A1A"/>
                </a:solidFill>
                <a:latin typeface="Calibri"/>
              </a:rPr>
              <a:t>Benchmark cuantitativo con estándar mixto para ajustar el método antes de trasladarlo a DIA</a:t>
            </a:r>
            <a:endParaRPr lang="en-US" sz="2600" dirty="0"/>
          </a:p>
        </p:txBody>
      </p:sp>
      <p:sp>
        <p:nvSpPr>
          <p:cNvPr id="4" name="Shape 2"/>
          <p:cNvSpPr/>
          <p:nvPr/>
        </p:nvSpPr>
        <p:spPr>
          <a:xfrm>
            <a:off x="365760" y="1417320"/>
            <a:ext cx="8412480" cy="960120"/>
          </a:xfrm>
          <a:prstGeom prst="rect">
            <a:avLst/>
          </a:prstGeom>
          <a:solidFill>
            <a:srgbClr val="EFF6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Shape 3"/>
          <p:cNvSpPr/>
          <p:nvPr/>
        </p:nvSpPr>
        <p:spPr>
          <a:xfrm>
            <a:off x="365760" y="1417320"/>
            <a:ext cx="64008" cy="960120"/>
          </a:xfrm>
          <a:prstGeom prst="rect">
            <a:avLst/>
          </a:prstGeom>
          <a:solidFill>
            <a:srgbClr val="1B2A4A"/>
          </a:solidFill>
          <a:ln w="12700">
            <a:solidFill>
              <a:srgbClr val="1B2A4A"/>
            </a:solidFill>
            <a:prstDash val="solid"/>
          </a:ln>
        </p:spPr>
      </p:sp>
      <p:sp>
        <p:nvSpPr>
          <p:cNvPr id="6" name="Text 4"/>
          <p:cNvSpPr/>
          <p:nvPr/>
        </p:nvSpPr>
        <p:spPr>
          <a:xfrm>
            <a:off x="594360" y="1481328"/>
            <a:ext cx="8046720" cy="822960"/>
          </a:xfrm>
          <a:prstGeom prst="rect">
            <a:avLst/>
          </a:prstGeom>
          <a:noFill/>
          <a:ln/>
        </p:spPr>
        <p:txBody>
          <a:bodyPr wrap="square" rtlCol="0" anchor="t" lIns="72000" rIns="72000" tIns="72000" bIns="72000"/>
          <a:lstStyle/>
          <a:p>
            <a:pPr indent="0" marL="0" algn="l">
              <a:lnSpc>
                <a:spcPct val="130000"/>
              </a:lnSpc>
              <a:buNone/>
            </a:pPr>
            <a:r>
              <a:rPr sz="1080" b="0" i="0">
                <a:solidFill>
                  <a:srgbClr val="1A1A1A"/>
                </a:solidFill>
                <a:latin typeface="Calibri"/>
              </a:rPr>
              <a:t>Para optimizar la estrategia DIA se está implementando un estándar mixto con proporciones conocidas, siguiendo un enfoque de benchmark cuantitativo que permite comparar desempeño antes de aplicarlo al sistema biológico final.</a:t>
            </a:r>
            <a:endParaRPr lang="en-US" sz="1200" dirty="0"/>
          </a:p>
        </p:txBody>
      </p:sp>
      <p:sp>
        <p:nvSpPr>
          <p:cNvPr id="7" name="Shape 5"/>
          <p:cNvSpPr/>
          <p:nvPr/>
        </p:nvSpPr>
        <p:spPr>
          <a:xfrm>
            <a:off x="365760" y="2514600"/>
            <a:ext cx="3931920" cy="187452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Text 6"/>
          <p:cNvSpPr/>
          <p:nvPr/>
        </p:nvSpPr>
        <p:spPr>
          <a:xfrm>
            <a:off x="502920" y="2587752"/>
            <a:ext cx="3657600" cy="274320"/>
          </a:xfrm>
          <a:prstGeom prst="rect">
            <a:avLst/>
          </a:prstGeom>
          <a:noFill/>
          <a:ln/>
        </p:spPr>
        <p:txBody>
          <a:bodyPr wrap="square" rtlCol="0" anchor="t" lIns="28800" rIns="28800" tIns="28800" bIns="28800"/>
          <a:lstStyle/>
          <a:p>
            <a:pPr indent="0" marL="0" algn="l">
              <a:buNone/>
            </a:pPr>
            <a:r>
              <a:rPr sz="1350" b="1" i="0">
                <a:solidFill>
                  <a:srgbClr val="1B4965"/>
                </a:solidFill>
                <a:latin typeface="Calibri"/>
              </a:rPr>
              <a:t>Estándar mixto — benchmark cuantitativo</a:t>
            </a:r>
            <a:endParaRPr lang="en-US" sz="1100" dirty="0"/>
          </a:p>
        </p:txBody>
      </p:sp>
      <p:sp>
        <p:nvSpPr>
          <p:cNvPr id="9" name="Text 7"/>
          <p:cNvSpPr/>
          <p:nvPr/>
        </p:nvSpPr>
        <p:spPr>
          <a:xfrm>
            <a:off x="502920" y="2898648"/>
            <a:ext cx="3657600" cy="1371600"/>
          </a:xfrm>
          <a:prstGeom prst="rect">
            <a:avLst/>
          </a:prstGeom>
          <a:noFill/>
          <a:ln/>
        </p:spPr>
        <p:txBody>
          <a:bodyPr wrap="square" rtlCol="0" anchor="ctr"/>
          <a:lstStyle/>
          <a:p/>
        </p:txBody>
      </p:sp>
      <p:sp>
        <p:nvSpPr>
          <p:cNvPr id="10" name="Shape 8"/>
          <p:cNvSpPr/>
          <p:nvPr/>
        </p:nvSpPr>
        <p:spPr>
          <a:xfrm>
            <a:off x="4572000" y="2514600"/>
            <a:ext cx="3931920" cy="187452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1" name="Text 9"/>
          <p:cNvSpPr/>
          <p:nvPr/>
        </p:nvSpPr>
        <p:spPr>
          <a:xfrm>
            <a:off x="4709160" y="2587752"/>
            <a:ext cx="3657600" cy="274320"/>
          </a:xfrm>
          <a:prstGeom prst="rect">
            <a:avLst/>
          </a:prstGeom>
          <a:noFill/>
          <a:ln/>
        </p:spPr>
        <p:txBody>
          <a:bodyPr wrap="square" rtlCol="0" anchor="t" lIns="28800" rIns="28800" tIns="28800" bIns="28800"/>
          <a:lstStyle/>
          <a:p>
            <a:pPr indent="0" marL="0" algn="l">
              <a:buNone/>
            </a:pPr>
            <a:r>
              <a:rPr sz="1350" b="1" i="0">
                <a:solidFill>
                  <a:srgbClr val="1B4965"/>
                </a:solidFill>
                <a:latin typeface="Calibri"/>
              </a:rPr>
              <a:t>Parámetros a evaluar</a:t>
            </a:r>
            <a:endParaRPr lang="en-US" sz="1100" dirty="0"/>
          </a:p>
        </p:txBody>
      </p:sp>
      <p:sp>
        <p:nvSpPr>
          <p:cNvPr id="12" name="Text 10"/>
          <p:cNvSpPr/>
          <p:nvPr/>
        </p:nvSpPr>
        <p:spPr>
          <a:xfrm>
            <a:off x="4709160" y="2898648"/>
            <a:ext cx="3657600" cy="1371600"/>
          </a:xfrm>
          <a:prstGeom prst="rect">
            <a:avLst/>
          </a:prstGeom>
          <a:noFill/>
          <a:ln/>
        </p:spPr>
        <p:txBody>
          <a:bodyPr wrap="square" rtlCol="0" anchor="t" lIns="64800" rIns="64800" tIns="64800" bIns="64800"/>
          <a:lstStyle/>
          <a:p>
            <a:pPr marL="342900" indent="-342900" algn="l">
              <a:lnSpc>
                <a:spcPct val="135000"/>
              </a:lnSpc>
              <a:buSzPct val="100000"/>
              <a:buChar char="•"/>
            </a:pPr>
            <a:r>
              <a:rPr sz="1000" b="0" i="0">
                <a:solidFill>
                  <a:srgbClr val="1A1A1A"/>
                </a:solidFill>
                <a:latin typeface="Calibri"/>
              </a:rPr>
              <a:t>Cobertura: número de proteínas identificadas
Reproducibilidad: coeficiente de variación (CV%) entre réplicas
Completitud: proporción de valores faltantes
Objetivo inmediato: contrastar fold changes observados vs esperados</a:t>
            </a:r>
            <a:endParaRPr lang="en-US" sz="1200" dirty="0"/>
          </a:p>
        </p:txBody>
      </p:sp>
      <p:sp>
        <p:nvSpPr>
          <p:cNvPr id="13" name="Shape 11"/>
          <p:cNvSpPr/>
          <p:nvPr/>
        </p:nvSpPr>
        <p:spPr>
          <a:xfrm>
            <a:off x="365760" y="4526280"/>
            <a:ext cx="8412480" cy="777240"/>
          </a:xfrm>
          <a:prstGeom prst="rect">
            <a:avLst/>
          </a:prstGeom>
          <a:solidFill>
            <a:srgbClr val="ECFD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4" name="Shape 12"/>
          <p:cNvSpPr/>
          <p:nvPr/>
        </p:nvSpPr>
        <p:spPr>
          <a:xfrm>
            <a:off x="365760" y="4526280"/>
            <a:ext cx="64008" cy="777240"/>
          </a:xfrm>
          <a:prstGeom prst="rect">
            <a:avLst/>
          </a:prstGeom>
          <a:solidFill>
            <a:srgbClr val="16A34A"/>
          </a:solidFill>
          <a:ln w="12700">
            <a:solidFill>
              <a:srgbClr val="16A34A"/>
            </a:solidFill>
            <a:prstDash val="solid"/>
          </a:ln>
        </p:spPr>
      </p:sp>
      <p:sp>
        <p:nvSpPr>
          <p:cNvPr id="15" name="Text 13"/>
          <p:cNvSpPr/>
          <p:nvPr/>
        </p:nvSpPr>
        <p:spPr>
          <a:xfrm>
            <a:off x="594360" y="4590288"/>
            <a:ext cx="8046720" cy="658368"/>
          </a:xfrm>
          <a:prstGeom prst="rect">
            <a:avLst/>
          </a:prstGeom>
          <a:noFill/>
          <a:ln/>
        </p:spPr>
        <p:txBody>
          <a:bodyPr wrap="square" rtlCol="0" anchor="t" lIns="72000" rIns="72000" tIns="72000" bIns="72000"/>
          <a:lstStyle/>
          <a:p>
            <a:pPr indent="0" marL="0" algn="l">
              <a:lnSpc>
                <a:spcPct val="125000"/>
              </a:lnSpc>
              <a:buNone/>
            </a:pPr>
            <a:r>
              <a:rPr sz="1019" b="0" i="0">
                <a:solidFill>
                  <a:srgbClr val="1A1A1A"/>
                </a:solidFill>
                <a:latin typeface="Calibri"/>
              </a:rPr>
              <a:t>Próximo paso: completar el análisis del dataset del gold standard → evaluar distribución de fold changes → ajustar parámetros si corresponde → trasladar la estrategia validada a DIA.</a:t>
            </a:r>
            <a:endParaRPr lang="en-US" sz="1100" dirty="0"/>
          </a:p>
        </p:txBody>
      </p:sp>
      <p:sp>
        <p:nvSpPr>
          <p:cNvPr id="16" name="TextBox 15"/>
          <p:cNvSpPr txBox="1"/>
          <p:nvPr/>
        </p:nvSpPr>
        <p:spPr>
          <a:xfrm>
            <a:off x="648000" y="2718000"/>
            <a:ext cx="720000" cy="79200"/>
          </a:xfrm>
          <a:prstGeom prst="rect">
            <a:avLst/>
          </a:prstGeom>
          <a:noFill/>
        </p:spPr>
        <p:txBody>
          <a:bodyPr wrap="square" lIns="18000" rIns="18000" tIns="18000" bIns="18000" anchor="t">
            <a:spAutoFit/>
          </a:bodyPr>
          <a:lstStyle/>
          <a:p>
            <a:pPr algn="l"/>
            <a:r>
              <a:rPr sz="960" b="1" i="0">
                <a:solidFill>
                  <a:srgbClr val="1A1A1A"/>
                </a:solidFill>
                <a:latin typeface="Calibri"/>
              </a:rPr>
              <a:t>Condición A</a:t>
            </a:r>
          </a:p>
        </p:txBody>
      </p:sp>
      <p:sp>
        <p:nvSpPr>
          <p:cNvPr id="17" name="Rectangle 16"/>
          <p:cNvSpPr/>
          <p:nvPr/>
        </p:nvSpPr>
        <p:spPr>
          <a:xfrm>
            <a:off x="648000" y="2844000"/>
            <a:ext cx="1872000" cy="16200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000" y="2872800"/>
            <a:ext cx="1872000" cy="72000"/>
          </a:xfrm>
          <a:prstGeom prst="rect">
            <a:avLst/>
          </a:prstGeom>
          <a:noFill/>
        </p:spPr>
        <p:txBody>
          <a:bodyPr wrap="square" lIns="0" rIns="0" tIns="0" bIns="0" anchor="t">
            <a:spAutoFit/>
          </a:bodyPr>
          <a:lstStyle/>
          <a:p>
            <a:pPr algn="ctr"/>
            <a:r>
              <a:rPr sz="850" b="0" i="0">
                <a:solidFill>
                  <a:srgbClr val="FFFFFF"/>
                </a:solidFill>
                <a:latin typeface="Calibri"/>
              </a:rPr>
              <a:t>Humano 70%</a:t>
            </a:r>
          </a:p>
        </p:txBody>
      </p:sp>
      <p:sp>
        <p:nvSpPr>
          <p:cNvPr id="19" name="Rectangle 18"/>
          <p:cNvSpPr/>
          <p:nvPr/>
        </p:nvSpPr>
        <p:spPr>
          <a:xfrm>
            <a:off x="2520000" y="2844000"/>
            <a:ext cx="503999" cy="162000"/>
          </a:xfrm>
          <a:prstGeom prst="rect">
            <a:avLst/>
          </a:prstGeom>
          <a:solidFill>
            <a:srgbClr val="A8C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20000" y="2872800"/>
            <a:ext cx="503999" cy="72000"/>
          </a:xfrm>
          <a:prstGeom prst="rect">
            <a:avLst/>
          </a:prstGeom>
          <a:noFill/>
        </p:spPr>
        <p:txBody>
          <a:bodyPr wrap="square" lIns="0" rIns="0" tIns="0" bIns="0" anchor="t">
            <a:spAutoFit/>
          </a:bodyPr>
          <a:lstStyle/>
          <a:p>
            <a:pPr algn="ctr"/>
            <a:r>
              <a:rPr sz="850" b="0" i="0">
                <a:solidFill>
                  <a:srgbClr val="1A1A1A"/>
                </a:solidFill>
                <a:latin typeface="Calibri"/>
              </a:rPr>
              <a:t>E. coli 20%</a:t>
            </a:r>
          </a:p>
        </p:txBody>
      </p:sp>
      <p:sp>
        <p:nvSpPr>
          <p:cNvPr id="21" name="Rectangle 20"/>
          <p:cNvSpPr/>
          <p:nvPr/>
        </p:nvSpPr>
        <p:spPr>
          <a:xfrm>
            <a:off x="3024000" y="2844000"/>
            <a:ext cx="360000" cy="162000"/>
          </a:xfrm>
          <a:prstGeom prst="rect">
            <a:avLst/>
          </a:prstGeom>
          <a:solidFill>
            <a:srgbClr val="EBF3F8"/>
          </a:solidFill>
          <a:ln w="10160">
            <a:solidFill>
              <a:srgbClr val="A8C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24000" y="2872800"/>
            <a:ext cx="360000" cy="72000"/>
          </a:xfrm>
          <a:prstGeom prst="rect">
            <a:avLst/>
          </a:prstGeom>
          <a:noFill/>
        </p:spPr>
        <p:txBody>
          <a:bodyPr wrap="square" lIns="0" rIns="0" tIns="0" bIns="0" anchor="t">
            <a:spAutoFit/>
          </a:bodyPr>
          <a:lstStyle/>
          <a:p>
            <a:pPr algn="ctr"/>
            <a:r>
              <a:rPr sz="850" b="0" i="0">
                <a:solidFill>
                  <a:srgbClr val="4A4A4A"/>
                </a:solidFill>
                <a:latin typeface="Calibri"/>
              </a:rPr>
              <a:t>S. cer. 10%</a:t>
            </a:r>
          </a:p>
        </p:txBody>
      </p:sp>
      <p:sp>
        <p:nvSpPr>
          <p:cNvPr id="23" name="TextBox 22"/>
          <p:cNvSpPr txBox="1"/>
          <p:nvPr/>
        </p:nvSpPr>
        <p:spPr>
          <a:xfrm>
            <a:off x="648000" y="3096000"/>
            <a:ext cx="720000" cy="79200"/>
          </a:xfrm>
          <a:prstGeom prst="rect">
            <a:avLst/>
          </a:prstGeom>
          <a:noFill/>
        </p:spPr>
        <p:txBody>
          <a:bodyPr wrap="square" lIns="18000" rIns="18000" tIns="18000" bIns="18000" anchor="t">
            <a:spAutoFit/>
          </a:bodyPr>
          <a:lstStyle/>
          <a:p>
            <a:pPr algn="l"/>
            <a:r>
              <a:rPr sz="960" b="1" i="0">
                <a:solidFill>
                  <a:srgbClr val="1A1A1A"/>
                </a:solidFill>
                <a:latin typeface="Calibri"/>
              </a:rPr>
              <a:t>Condición B</a:t>
            </a:r>
          </a:p>
        </p:txBody>
      </p:sp>
      <p:sp>
        <p:nvSpPr>
          <p:cNvPr id="24" name="Rectangle 23"/>
          <p:cNvSpPr/>
          <p:nvPr/>
        </p:nvSpPr>
        <p:spPr>
          <a:xfrm>
            <a:off x="648000" y="3221999"/>
            <a:ext cx="1872000" cy="16200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000" y="3250800"/>
            <a:ext cx="1872000" cy="72000"/>
          </a:xfrm>
          <a:prstGeom prst="rect">
            <a:avLst/>
          </a:prstGeom>
          <a:noFill/>
        </p:spPr>
        <p:txBody>
          <a:bodyPr wrap="square" lIns="0" rIns="0" tIns="0" bIns="0" anchor="t">
            <a:spAutoFit/>
          </a:bodyPr>
          <a:lstStyle/>
          <a:p>
            <a:pPr algn="ctr"/>
            <a:r>
              <a:rPr sz="850" b="0" i="0">
                <a:solidFill>
                  <a:srgbClr val="FFFFFF"/>
                </a:solidFill>
                <a:latin typeface="Calibri"/>
              </a:rPr>
              <a:t>Humano 70%</a:t>
            </a:r>
          </a:p>
        </p:txBody>
      </p:sp>
      <p:sp>
        <p:nvSpPr>
          <p:cNvPr id="26" name="Rectangle 25"/>
          <p:cNvSpPr/>
          <p:nvPr/>
        </p:nvSpPr>
        <p:spPr>
          <a:xfrm>
            <a:off x="2520000" y="3221999"/>
            <a:ext cx="360000" cy="162000"/>
          </a:xfrm>
          <a:prstGeom prst="rect">
            <a:avLst/>
          </a:prstGeom>
          <a:solidFill>
            <a:srgbClr val="A8C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20000" y="3250800"/>
            <a:ext cx="360000" cy="72000"/>
          </a:xfrm>
          <a:prstGeom prst="rect">
            <a:avLst/>
          </a:prstGeom>
          <a:noFill/>
        </p:spPr>
        <p:txBody>
          <a:bodyPr wrap="square" lIns="0" rIns="0" tIns="0" bIns="0" anchor="t">
            <a:spAutoFit/>
          </a:bodyPr>
          <a:lstStyle/>
          <a:p>
            <a:pPr algn="ctr"/>
            <a:r>
              <a:rPr sz="850" b="0" i="0">
                <a:solidFill>
                  <a:srgbClr val="1A1A1A"/>
                </a:solidFill>
                <a:latin typeface="Calibri"/>
              </a:rPr>
              <a:t>E. coli 10%</a:t>
            </a:r>
          </a:p>
        </p:txBody>
      </p:sp>
      <p:sp>
        <p:nvSpPr>
          <p:cNvPr id="28" name="Rectangle 27"/>
          <p:cNvSpPr/>
          <p:nvPr/>
        </p:nvSpPr>
        <p:spPr>
          <a:xfrm>
            <a:off x="2880000" y="3221999"/>
            <a:ext cx="503999" cy="162000"/>
          </a:xfrm>
          <a:prstGeom prst="rect">
            <a:avLst/>
          </a:prstGeom>
          <a:solidFill>
            <a:srgbClr val="EBF3F8"/>
          </a:solidFill>
          <a:ln w="10160">
            <a:solidFill>
              <a:srgbClr val="A8C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80000" y="3250800"/>
            <a:ext cx="503999" cy="72000"/>
          </a:xfrm>
          <a:prstGeom prst="rect">
            <a:avLst/>
          </a:prstGeom>
          <a:noFill/>
        </p:spPr>
        <p:txBody>
          <a:bodyPr wrap="square" lIns="0" rIns="0" tIns="0" bIns="0" anchor="t">
            <a:spAutoFit/>
          </a:bodyPr>
          <a:lstStyle/>
          <a:p>
            <a:pPr algn="ctr"/>
            <a:r>
              <a:rPr sz="850" b="0" i="0">
                <a:solidFill>
                  <a:srgbClr val="4A4A4A"/>
                </a:solidFill>
                <a:latin typeface="Calibri"/>
              </a:rPr>
              <a:t>S. cer. 20%</a:t>
            </a:r>
          </a:p>
        </p:txBody>
      </p:sp>
      <p:sp>
        <p:nvSpPr>
          <p:cNvPr id="30" name="TextBox 29"/>
          <p:cNvSpPr txBox="1"/>
          <p:nvPr/>
        </p:nvSpPr>
        <p:spPr>
          <a:xfrm>
            <a:off x="648000" y="3474000"/>
            <a:ext cx="2880000" cy="93600"/>
          </a:xfrm>
          <a:prstGeom prst="rect">
            <a:avLst/>
          </a:prstGeom>
          <a:noFill/>
        </p:spPr>
        <p:txBody>
          <a:bodyPr wrap="square" lIns="18000" rIns="18000" tIns="18000" bIns="18000" anchor="t">
            <a:spAutoFit/>
          </a:bodyPr>
          <a:lstStyle/>
          <a:p>
            <a:pPr algn="l"/>
            <a:r>
              <a:rPr sz="810" b="0" i="1">
                <a:solidFill>
                  <a:srgbClr val="4A4A4A"/>
                </a:solidFill>
                <a:latin typeface="Calibri"/>
              </a:rPr>
              <a:t>Fold change esperado: ×2 S. cerevisiae | ×0,5 E. coli | estable Humano</a:t>
            </a:r>
          </a:p>
        </p:txBody>
      </p:sp>
      <p:sp>
        <p:nvSpPr>
          <p:cNvPr id="31" name="Rounded Rectangle 30"/>
          <p:cNvSpPr/>
          <p:nvPr/>
        </p:nvSpPr>
        <p:spPr>
          <a:xfrm>
            <a:off x="684000" y="3798000"/>
            <a:ext cx="558000" cy="216000"/>
          </a:xfrm>
          <a:prstGeom prst="round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4000" y="3877200"/>
            <a:ext cx="558000" cy="50400"/>
          </a:xfrm>
          <a:prstGeom prst="rect">
            <a:avLst/>
          </a:prstGeom>
          <a:noFill/>
        </p:spPr>
        <p:txBody>
          <a:bodyPr wrap="square" lIns="0" rIns="0" tIns="0" bIns="0" anchor="t">
            <a:spAutoFit/>
          </a:bodyPr>
          <a:lstStyle/>
          <a:p>
            <a:pPr algn="ctr"/>
            <a:r>
              <a:rPr sz="710" b="0" i="0">
                <a:solidFill>
                  <a:srgbClr val="FFFFFF"/>
                </a:solidFill>
                <a:latin typeface="Calibri"/>
              </a:rPr>
              <a:t>Mezcla</a:t>
            </a:r>
          </a:p>
        </p:txBody>
      </p:sp>
      <p:sp>
        <p:nvSpPr>
          <p:cNvPr id="33" name="Right Arrow 32"/>
          <p:cNvSpPr/>
          <p:nvPr/>
        </p:nvSpPr>
        <p:spPr>
          <a:xfrm>
            <a:off x="1249200" y="3931200"/>
            <a:ext cx="86400" cy="50400"/>
          </a:xfrm>
          <a:prstGeom prst="rightArrow">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385999" y="3798000"/>
            <a:ext cx="558000" cy="216000"/>
          </a:xfrm>
          <a:prstGeom prst="round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85999" y="3877200"/>
            <a:ext cx="558000" cy="50400"/>
          </a:xfrm>
          <a:prstGeom prst="rect">
            <a:avLst/>
          </a:prstGeom>
          <a:noFill/>
        </p:spPr>
        <p:txBody>
          <a:bodyPr wrap="square" lIns="0" rIns="0" tIns="0" bIns="0" anchor="t">
            <a:spAutoFit/>
          </a:bodyPr>
          <a:lstStyle/>
          <a:p>
            <a:pPr algn="ctr"/>
            <a:r>
              <a:rPr sz="710" b="0" i="0">
                <a:solidFill>
                  <a:srgbClr val="FFFFFF"/>
                </a:solidFill>
                <a:latin typeface="Calibri"/>
              </a:rPr>
              <a:t>Adquisición DDA</a:t>
            </a:r>
          </a:p>
        </p:txBody>
      </p:sp>
      <p:sp>
        <p:nvSpPr>
          <p:cNvPr id="36" name="Right Arrow 35"/>
          <p:cNvSpPr/>
          <p:nvPr/>
        </p:nvSpPr>
        <p:spPr>
          <a:xfrm>
            <a:off x="1951200" y="3931200"/>
            <a:ext cx="86400" cy="50400"/>
          </a:xfrm>
          <a:prstGeom prst="rightArrow">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088000" y="3798000"/>
            <a:ext cx="558000" cy="216000"/>
          </a:xfrm>
          <a:prstGeom prst="round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88000" y="3877200"/>
            <a:ext cx="558000" cy="50400"/>
          </a:xfrm>
          <a:prstGeom prst="rect">
            <a:avLst/>
          </a:prstGeom>
          <a:noFill/>
        </p:spPr>
        <p:txBody>
          <a:bodyPr wrap="square" lIns="0" rIns="0" tIns="0" bIns="0" anchor="t">
            <a:spAutoFit/>
          </a:bodyPr>
          <a:lstStyle/>
          <a:p>
            <a:pPr algn="ctr"/>
            <a:r>
              <a:rPr sz="710" b="0" i="0">
                <a:solidFill>
                  <a:srgbClr val="FFFFFF"/>
                </a:solidFill>
                <a:latin typeface="Calibri"/>
              </a:rPr>
              <a:t>Cuantificación XIC</a:t>
            </a:r>
          </a:p>
        </p:txBody>
      </p:sp>
      <p:sp>
        <p:nvSpPr>
          <p:cNvPr id="39" name="Right Arrow 38"/>
          <p:cNvSpPr/>
          <p:nvPr/>
        </p:nvSpPr>
        <p:spPr>
          <a:xfrm>
            <a:off x="2653200" y="3931200"/>
            <a:ext cx="86400" cy="50400"/>
          </a:xfrm>
          <a:prstGeom prst="rightArrow">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790000" y="3798000"/>
            <a:ext cx="558000" cy="216000"/>
          </a:xfrm>
          <a:prstGeom prst="round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90000" y="3877200"/>
            <a:ext cx="558000" cy="50400"/>
          </a:xfrm>
          <a:prstGeom prst="rect">
            <a:avLst/>
          </a:prstGeom>
          <a:noFill/>
        </p:spPr>
        <p:txBody>
          <a:bodyPr wrap="square" lIns="0" rIns="0" tIns="0" bIns="0" anchor="t">
            <a:spAutoFit/>
          </a:bodyPr>
          <a:lstStyle/>
          <a:p>
            <a:pPr algn="ctr"/>
            <a:r>
              <a:rPr sz="710" b="0" i="0">
                <a:solidFill>
                  <a:srgbClr val="FFFFFF"/>
                </a:solidFill>
                <a:latin typeface="Calibri"/>
              </a:rPr>
              <a:t>FC obs. vs esp.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502920"/>
            <a:ext cx="8229600" cy="320040"/>
          </a:xfrm>
          <a:prstGeom prst="rect">
            <a:avLst/>
          </a:prstGeom>
          <a:noFill/>
          <a:ln/>
        </p:spPr>
        <p:txBody>
          <a:bodyPr wrap="square" rtlCol="0" anchor="t" lIns="28800" rIns="28800" tIns="28800" bIns="28800"/>
          <a:lstStyle/>
          <a:p>
            <a:pPr indent="0" marL="0" algn="l">
              <a:buNone/>
            </a:pPr>
            <a:r>
              <a:rPr sz="1800" b="1" i="0">
                <a:solidFill>
                  <a:srgbClr val="1B4965"/>
                </a:solidFill>
                <a:latin typeface="Calibri"/>
              </a:rPr>
              <a:t>PRÓXIMOS PASOS</a:t>
            </a:r>
            <a:endParaRPr lang="en-US" sz="1100" dirty="0"/>
          </a:p>
        </p:txBody>
      </p:sp>
      <p:sp>
        <p:nvSpPr>
          <p:cNvPr id="3" name="Text 1"/>
          <p:cNvSpPr/>
          <p:nvPr/>
        </p:nvSpPr>
        <p:spPr>
          <a:xfrm>
            <a:off x="457200" y="868680"/>
            <a:ext cx="8229600" cy="457200"/>
          </a:xfrm>
          <a:prstGeom prst="rect">
            <a:avLst/>
          </a:prstGeom>
          <a:noFill/>
          <a:ln/>
        </p:spPr>
        <p:txBody>
          <a:bodyPr wrap="square" rtlCol="0" anchor="t" lIns="28800" rIns="28800" tIns="28800" bIns="28800"/>
          <a:lstStyle/>
          <a:p>
            <a:pPr indent="0" marL="0" algn="l">
              <a:buNone/>
            </a:pPr>
            <a:r>
              <a:rPr sz="2200" b="1" i="0">
                <a:solidFill>
                  <a:srgbClr val="1A1A1A"/>
                </a:solidFill>
                <a:latin typeface="Calibri"/>
              </a:rPr>
              <a:t>Hitos inmediatos</a:t>
            </a:r>
            <a:endParaRPr lang="en-US" sz="2600" dirty="0"/>
          </a:p>
        </p:txBody>
      </p:sp>
      <p:sp>
        <p:nvSpPr>
          <p:cNvPr id="4" name="Shape 2"/>
          <p:cNvSpPr/>
          <p:nvPr/>
        </p:nvSpPr>
        <p:spPr>
          <a:xfrm>
            <a:off x="365760" y="1508760"/>
            <a:ext cx="8412480" cy="1051560"/>
          </a:xfrm>
          <a:prstGeom prst="rect">
            <a:avLst/>
          </a:prstGeom>
          <a:solidFill>
            <a:srgbClr val="FFFFFF">
              <a:alpha val="8000"/>
            </a:srgbClr>
          </a:solidFill>
          <a:ln w="3810">
            <a:solidFill>
              <a:srgbClr val="FFFFFF">
                <a:alpha val="30000"/>
              </a:srgbClr>
            </a:solidFill>
            <a:prstDash val="solid"/>
          </a:ln>
        </p:spPr>
      </p:sp>
      <p:sp>
        <p:nvSpPr>
          <p:cNvPr id="5" name="Shape 3"/>
          <p:cNvSpPr/>
          <p:nvPr/>
        </p:nvSpPr>
        <p:spPr>
          <a:xfrm>
            <a:off x="365760" y="1508760"/>
            <a:ext cx="64008" cy="1051560"/>
          </a:xfrm>
          <a:prstGeom prst="rect">
            <a:avLst/>
          </a:prstGeom>
          <a:solidFill>
            <a:srgbClr val="1B4965"/>
          </a:solidFill>
          <a:ln w="12700">
            <a:solidFill>
              <a:srgbClr val="1A6B8A"/>
            </a:solidFill>
            <a:prstDash val="solid"/>
          </a:ln>
        </p:spPr>
      </p:sp>
      <p:sp>
        <p:nvSpPr>
          <p:cNvPr id="6" name="Text 4"/>
          <p:cNvSpPr/>
          <p:nvPr/>
        </p:nvSpPr>
        <p:spPr>
          <a:xfrm>
            <a:off x="548640" y="1673352"/>
            <a:ext cx="548640" cy="548640"/>
          </a:xfrm>
          <a:prstGeom prst="rect">
            <a:avLst/>
          </a:prstGeom>
          <a:noFill/>
          <a:ln/>
        </p:spPr>
        <p:txBody>
          <a:bodyPr wrap="square" rtlCol="0" anchor="t" lIns="18000" rIns="18000" tIns="18000" bIns="18000"/>
          <a:lstStyle/>
          <a:p>
            <a:pPr algn="l" indent="0" marL="0">
              <a:buNone/>
            </a:pPr>
            <a:r>
              <a:rPr sz="1900" b="1" i="0">
                <a:solidFill>
                  <a:srgbClr val="1B4965"/>
                </a:solidFill>
                <a:latin typeface="Calibri"/>
              </a:rPr>
              <a:t>01</a:t>
            </a:r>
            <a:endParaRPr lang="en-US" sz="2200" dirty="0"/>
          </a:p>
        </p:txBody>
      </p:sp>
      <p:sp>
        <p:nvSpPr>
          <p:cNvPr id="7" name="Text 5"/>
          <p:cNvSpPr/>
          <p:nvPr/>
        </p:nvSpPr>
        <p:spPr>
          <a:xfrm>
            <a:off x="1234440" y="1600200"/>
            <a:ext cx="1828800" cy="301752"/>
          </a:xfrm>
          <a:prstGeom prst="rect">
            <a:avLst/>
          </a:prstGeom>
          <a:noFill/>
          <a:ln/>
        </p:spPr>
        <p:txBody>
          <a:bodyPr wrap="square" rtlCol="0" anchor="t" lIns="43200" rIns="43200" tIns="43200" bIns="43200"/>
          <a:lstStyle/>
          <a:p>
            <a:pPr indent="0" marL="0" algn="l">
              <a:buNone/>
            </a:pPr>
            <a:r>
              <a:rPr sz="1400" b="1" i="0">
                <a:solidFill>
                  <a:srgbClr val="1B4965"/>
                </a:solidFill>
                <a:latin typeface="Calibri"/>
              </a:rPr>
              <a:t>MIC operativa</a:t>
            </a:r>
            <a:endParaRPr lang="en-US" sz="1200" dirty="0"/>
          </a:p>
        </p:txBody>
      </p:sp>
      <p:sp>
        <p:nvSpPr>
          <p:cNvPr id="8" name="Text 6"/>
          <p:cNvSpPr/>
          <p:nvPr/>
        </p:nvSpPr>
        <p:spPr>
          <a:xfrm>
            <a:off x="1234440" y="1892808"/>
            <a:ext cx="7315200" cy="594360"/>
          </a:xfrm>
          <a:prstGeom prst="rect">
            <a:avLst/>
          </a:prstGeom>
          <a:noFill/>
          <a:ln/>
        </p:spPr>
        <p:txBody>
          <a:bodyPr wrap="square" rtlCol="0" anchor="t" lIns="64800" rIns="64800" tIns="64800" bIns="64800"/>
          <a:lstStyle/>
          <a:p>
            <a:pPr indent="0" marL="0" algn="l">
              <a:lnSpc>
                <a:spcPct val="125000"/>
              </a:lnSpc>
              <a:buNone/>
            </a:pPr>
            <a:r>
              <a:rPr sz="1000" b="0" i="0">
                <a:solidFill>
                  <a:srgbClr val="4A4A4A"/>
                </a:solidFill>
                <a:latin typeface="Calibri"/>
              </a:rPr>
              <a:t>Completar BHI y repetir CGXII con mejor aireación para definir una concentración subinhibitoria operativa.</a:t>
            </a:r>
            <a:endParaRPr lang="en-US" sz="1100" dirty="0"/>
          </a:p>
        </p:txBody>
      </p:sp>
      <p:sp>
        <p:nvSpPr>
          <p:cNvPr id="9" name="Shape 7"/>
          <p:cNvSpPr/>
          <p:nvPr/>
        </p:nvSpPr>
        <p:spPr>
          <a:xfrm>
            <a:off x="365760" y="2679192"/>
            <a:ext cx="8412480" cy="1051560"/>
          </a:xfrm>
          <a:prstGeom prst="rect">
            <a:avLst/>
          </a:prstGeom>
          <a:solidFill>
            <a:srgbClr val="FFFFFF">
              <a:alpha val="8000"/>
            </a:srgbClr>
          </a:solidFill>
          <a:ln w="3810">
            <a:solidFill>
              <a:srgbClr val="FFFFFF">
                <a:alpha val="30000"/>
              </a:srgbClr>
            </a:solidFill>
            <a:prstDash val="solid"/>
          </a:ln>
        </p:spPr>
      </p:sp>
      <p:sp>
        <p:nvSpPr>
          <p:cNvPr id="10" name="Shape 8"/>
          <p:cNvSpPr/>
          <p:nvPr/>
        </p:nvSpPr>
        <p:spPr>
          <a:xfrm>
            <a:off x="365760" y="2679192"/>
            <a:ext cx="64008" cy="1051560"/>
          </a:xfrm>
          <a:prstGeom prst="rect">
            <a:avLst/>
          </a:prstGeom>
          <a:solidFill>
            <a:srgbClr val="1B4965"/>
          </a:solidFill>
          <a:ln w="12700">
            <a:solidFill>
              <a:srgbClr val="1A6B8A"/>
            </a:solidFill>
            <a:prstDash val="solid"/>
          </a:ln>
        </p:spPr>
      </p:sp>
      <p:sp>
        <p:nvSpPr>
          <p:cNvPr id="11" name="Text 9"/>
          <p:cNvSpPr/>
          <p:nvPr/>
        </p:nvSpPr>
        <p:spPr>
          <a:xfrm>
            <a:off x="548640" y="2843784"/>
            <a:ext cx="548640" cy="548640"/>
          </a:xfrm>
          <a:prstGeom prst="rect">
            <a:avLst/>
          </a:prstGeom>
          <a:noFill/>
          <a:ln/>
        </p:spPr>
        <p:txBody>
          <a:bodyPr wrap="square" rtlCol="0" anchor="t" lIns="18000" rIns="18000" tIns="18000" bIns="18000"/>
          <a:lstStyle/>
          <a:p>
            <a:pPr algn="l" indent="0" marL="0">
              <a:buNone/>
            </a:pPr>
            <a:r>
              <a:rPr sz="1900" b="1" i="0">
                <a:solidFill>
                  <a:srgbClr val="1B4965"/>
                </a:solidFill>
                <a:latin typeface="Calibri"/>
              </a:rPr>
              <a:t>02</a:t>
            </a:r>
            <a:endParaRPr lang="en-US" sz="2200" dirty="0"/>
          </a:p>
        </p:txBody>
      </p:sp>
      <p:sp>
        <p:nvSpPr>
          <p:cNvPr id="12" name="Text 10"/>
          <p:cNvSpPr/>
          <p:nvPr/>
        </p:nvSpPr>
        <p:spPr>
          <a:xfrm>
            <a:off x="1234440" y="2770632"/>
            <a:ext cx="1828800" cy="301752"/>
          </a:xfrm>
          <a:prstGeom prst="rect">
            <a:avLst/>
          </a:prstGeom>
          <a:noFill/>
          <a:ln/>
        </p:spPr>
        <p:txBody>
          <a:bodyPr wrap="square" rtlCol="0" anchor="t" lIns="43200" rIns="43200" tIns="43200" bIns="43200"/>
          <a:lstStyle/>
          <a:p>
            <a:pPr indent="0" marL="0" algn="l">
              <a:buNone/>
            </a:pPr>
            <a:r>
              <a:rPr sz="1400" b="1" i="0">
                <a:solidFill>
                  <a:srgbClr val="1B4965"/>
                </a:solidFill>
                <a:latin typeface="Calibri"/>
              </a:rPr>
              <a:t>Análisis mezcla multiespecie</a:t>
            </a:r>
            <a:endParaRPr lang="en-US" sz="1200" dirty="0"/>
          </a:p>
        </p:txBody>
      </p:sp>
      <p:sp>
        <p:nvSpPr>
          <p:cNvPr id="13" name="Text 11"/>
          <p:cNvSpPr/>
          <p:nvPr/>
        </p:nvSpPr>
        <p:spPr>
          <a:xfrm>
            <a:off x="1234440" y="3063240"/>
            <a:ext cx="7315200" cy="594360"/>
          </a:xfrm>
          <a:prstGeom prst="rect">
            <a:avLst/>
          </a:prstGeom>
          <a:noFill/>
          <a:ln/>
        </p:spPr>
        <p:txBody>
          <a:bodyPr wrap="square" rtlCol="0" anchor="t" lIns="64800" rIns="64800" tIns="64800" bIns="64800"/>
          <a:lstStyle/>
          <a:p>
            <a:pPr indent="0" marL="0" algn="l">
              <a:lnSpc>
                <a:spcPct val="125000"/>
              </a:lnSpc>
              <a:buNone/>
            </a:pPr>
            <a:r>
              <a:rPr sz="1000" b="0" i="0">
                <a:solidFill>
                  <a:srgbClr val="4A4A4A"/>
                </a:solidFill>
                <a:latin typeface="Calibri"/>
              </a:rPr>
              <a:t>Calcular fold changes observados, compararlos con los esperados y evaluar el desempeño cuantitativo actual.</a:t>
            </a:r>
            <a:endParaRPr lang="en-US" sz="1100" dirty="0"/>
          </a:p>
        </p:txBody>
      </p:sp>
      <p:sp>
        <p:nvSpPr>
          <p:cNvPr id="14" name="Shape 12"/>
          <p:cNvSpPr/>
          <p:nvPr/>
        </p:nvSpPr>
        <p:spPr>
          <a:xfrm>
            <a:off x="365760" y="3849624"/>
            <a:ext cx="8412480" cy="1051560"/>
          </a:xfrm>
          <a:prstGeom prst="rect">
            <a:avLst/>
          </a:prstGeom>
          <a:solidFill>
            <a:srgbClr val="FFFFFF">
              <a:alpha val="8000"/>
            </a:srgbClr>
          </a:solidFill>
          <a:ln w="3810">
            <a:solidFill>
              <a:srgbClr val="FFFFFF">
                <a:alpha val="30000"/>
              </a:srgbClr>
            </a:solidFill>
            <a:prstDash val="solid"/>
          </a:ln>
        </p:spPr>
      </p:sp>
      <p:sp>
        <p:nvSpPr>
          <p:cNvPr id="15" name="Shape 13"/>
          <p:cNvSpPr/>
          <p:nvPr/>
        </p:nvSpPr>
        <p:spPr>
          <a:xfrm>
            <a:off x="365760" y="3849624"/>
            <a:ext cx="64008" cy="1051560"/>
          </a:xfrm>
          <a:prstGeom prst="rect">
            <a:avLst/>
          </a:prstGeom>
          <a:solidFill>
            <a:srgbClr val="1B4965"/>
          </a:solidFill>
          <a:ln w="12700">
            <a:solidFill>
              <a:srgbClr val="1A6B8A"/>
            </a:solidFill>
            <a:prstDash val="solid"/>
          </a:ln>
        </p:spPr>
      </p:sp>
      <p:sp>
        <p:nvSpPr>
          <p:cNvPr id="16" name="Text 14"/>
          <p:cNvSpPr/>
          <p:nvPr/>
        </p:nvSpPr>
        <p:spPr>
          <a:xfrm>
            <a:off x="548640" y="4014216"/>
            <a:ext cx="548640" cy="548640"/>
          </a:xfrm>
          <a:prstGeom prst="rect">
            <a:avLst/>
          </a:prstGeom>
          <a:noFill/>
          <a:ln/>
        </p:spPr>
        <p:txBody>
          <a:bodyPr wrap="square" rtlCol="0" anchor="t" lIns="18000" rIns="18000" tIns="18000" bIns="18000"/>
          <a:lstStyle/>
          <a:p>
            <a:pPr algn="l" indent="0" marL="0">
              <a:buNone/>
            </a:pPr>
            <a:r>
              <a:rPr sz="1900" b="1" i="0">
                <a:solidFill>
                  <a:srgbClr val="1B4965"/>
                </a:solidFill>
                <a:latin typeface="Calibri"/>
              </a:rPr>
              <a:t>03–04</a:t>
            </a:r>
            <a:endParaRPr lang="en-US" sz="2200" dirty="0"/>
          </a:p>
        </p:txBody>
      </p:sp>
      <p:sp>
        <p:nvSpPr>
          <p:cNvPr id="17" name="Text 15"/>
          <p:cNvSpPr/>
          <p:nvPr/>
        </p:nvSpPr>
        <p:spPr>
          <a:xfrm>
            <a:off x="1234440" y="3941064"/>
            <a:ext cx="1828800" cy="301752"/>
          </a:xfrm>
          <a:prstGeom prst="rect">
            <a:avLst/>
          </a:prstGeom>
          <a:noFill/>
          <a:ln/>
        </p:spPr>
        <p:txBody>
          <a:bodyPr wrap="square" rtlCol="0" anchor="t" lIns="43200" rIns="43200" tIns="43200" bIns="43200"/>
          <a:lstStyle/>
          <a:p>
            <a:pPr indent="0" marL="0" algn="l">
              <a:buNone/>
            </a:pPr>
            <a:r>
              <a:rPr sz="1400" b="1" i="0">
                <a:solidFill>
                  <a:srgbClr val="1B4965"/>
                </a:solidFill>
                <a:latin typeface="Calibri"/>
              </a:rPr>
              <a:t>Ajuste a DIA y muestras biológicas</a:t>
            </a:r>
            <a:endParaRPr lang="en-US" sz="1200" dirty="0"/>
          </a:p>
        </p:txBody>
      </p:sp>
      <p:sp>
        <p:nvSpPr>
          <p:cNvPr id="18" name="Text 16"/>
          <p:cNvSpPr/>
          <p:nvPr/>
        </p:nvSpPr>
        <p:spPr>
          <a:xfrm>
            <a:off x="1234440" y="4233672"/>
            <a:ext cx="7315200" cy="594360"/>
          </a:xfrm>
          <a:prstGeom prst="rect">
            <a:avLst/>
          </a:prstGeom>
          <a:noFill/>
          <a:ln/>
        </p:spPr>
        <p:txBody>
          <a:bodyPr wrap="square" rtlCol="0" anchor="t" lIns="64800" rIns="64800" tIns="64800" bIns="64800"/>
          <a:lstStyle/>
          <a:p>
            <a:pPr indent="0" marL="0" algn="l">
              <a:lnSpc>
                <a:spcPct val="125000"/>
              </a:lnSpc>
              <a:buNone/>
            </a:pPr>
            <a:r>
              <a:rPr sz="1000" b="0" i="0">
                <a:solidFill>
                  <a:srgbClr val="4A4A4A"/>
                </a:solidFill>
                <a:latin typeface="Calibri"/>
              </a:rPr>
              <a:t>Optimizar parámetros, validar el método definitivo y avanzar luego con muestras control y tratadas de C. glutamicum.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Nuevas perspectivas sobre el efecto del etambutol – Avance TFDC</dc:title>
  <dc:subject>PptxGenJS Presentation</dc:subject>
  <dc:creator>PptxGenJS</dc:creator>
  <cp:lastModifiedBy>PptxGenJS</cp:lastModifiedBy>
  <cp:revision>1</cp:revision>
  <dcterms:created xsi:type="dcterms:W3CDTF">2026-04-22T18:48:23Z</dcterms:created>
  <dcterms:modified xsi:type="dcterms:W3CDTF">2026-04-22T18:48:23Z</dcterms:modified>
</cp:coreProperties>
</file>