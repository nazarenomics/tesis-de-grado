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64748B"/>
                </a:solidFill>
                <a:latin typeface="Arial"/>
              </a:defRPr>
            </a:pPr>
            <a:r>
              <a:rPr sz="1000" b="0" i="0" u="none" strike="noStrike">
                <a:solidFill>
                  <a:srgbClr val="64748B"/>
                </a:solidFill>
                <a:latin typeface="Arial"/>
              </a:rPr>
              <a:t>% crecimiento vs C+  |  EMB en BHI 16h</a:t>
            </a:r>
          </a:p>
        </c:rich>
      </c:tx>
      <c:layout/>
      <c:overlay val="0"/>
    </c:title>
    <c:autoTitleDeleted val="0"/>
    <c:plotArea>
      <c:layout/>
      <c:barChart>
        <c:barDir val="col"/>
        <c:grouping val="clustered"/>
        <c:varyColors val="0"/>
        <c:ser>
          <c:idx val="0"/>
          <c:order val="0"/>
          <c:tx>
            <c:strRef>
              <c:f>Sheet1!$B$1</c:f>
              <c:strCache>
                <c:ptCount val="1"/>
                <c:pt idx="0">
                  <c:v>% crecimiento vs C+</c:v>
                </c:pt>
              </c:strCache>
            </c:strRef>
          </c:tx>
          <c:spPr>
            <a:solidFill>
              <a:srgbClr val="1A6B8A"/>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A6B8A"/>
              </a:solidFill>
              <a:effectLst/>
            </c:spPr>
          </c:dPt>
          <c:dPt>
            <c:idx val="1"/>
            <c:invertIfNegative val="0"/>
            <c:bubble3D val="0"/>
            <c:spPr>
              <a:solidFill>
                <a:srgbClr val="1A6B8A"/>
              </a:solidFill>
              <a:effectLst/>
            </c:spPr>
          </c:dPt>
          <c:dPt>
            <c:idx val="2"/>
            <c:invertIfNegative val="0"/>
            <c:bubble3D val="0"/>
            <c:spPr>
              <a:solidFill>
                <a:srgbClr val="1A6B8A"/>
              </a:solidFill>
              <a:effectLst/>
            </c:spPr>
          </c:dPt>
          <c:dPt>
            <c:idx val="3"/>
            <c:invertIfNegative val="0"/>
            <c:bubble3D val="0"/>
            <c:spPr>
              <a:solidFill>
                <a:srgbClr val="1A6B8A"/>
              </a:solidFill>
              <a:effectLst/>
            </c:spPr>
          </c:dPt>
          <c:dPt>
            <c:idx val="4"/>
            <c:invertIfNegative val="0"/>
            <c:bubble3D val="0"/>
            <c:spPr>
              <a:solidFill>
                <a:srgbClr val="1A6B8A"/>
              </a:solidFill>
              <a:effectLst/>
            </c:spPr>
          </c:dPt>
          <c:dPt>
            <c:idx val="5"/>
            <c:invertIfNegative val="0"/>
            <c:bubble3D val="0"/>
            <c:spPr>
              <a:solidFill>
                <a:srgbClr val="1A6B8A"/>
              </a:solidFill>
              <a:effectLst/>
            </c:spPr>
          </c:dPt>
          <c:dPt>
            <c:idx val="6"/>
            <c:invertIfNegative val="0"/>
            <c:bubble3D val="0"/>
            <c:spPr>
              <a:solidFill>
                <a:srgbClr val="1A6B8A"/>
              </a:solidFill>
              <a:effectLst/>
            </c:spPr>
          </c:dPt>
          <c:dPt>
            <c:idx val="7"/>
            <c:invertIfNegative val="0"/>
            <c:bubble3D val="0"/>
            <c:spPr>
              <a:solidFill>
                <a:srgbClr val="FBD065"/>
              </a:solidFill>
              <a:effectLst/>
            </c:spPr>
          </c:dPt>
          <c:dPt>
            <c:idx val="8"/>
            <c:invertIfNegative val="0"/>
            <c:bubble3D val="0"/>
            <c:spPr>
              <a:solidFill>
                <a:srgbClr val="FBD065"/>
              </a:solidFill>
              <a:effectLst/>
            </c:spPr>
          </c:dPt>
          <c:dPt>
            <c:idx val="9"/>
            <c:invertIfNegative val="0"/>
            <c:bubble3D val="0"/>
            <c:spPr>
              <a:solidFill>
                <a:srgbClr val="FBD065"/>
              </a:solidFill>
              <a:effectLst/>
            </c:spPr>
          </c:dPt>
          <c:dPt>
            <c:idx val="10"/>
            <c:invertIfNegative val="0"/>
            <c:bubble3D val="0"/>
            <c:spPr>
              <a:solidFill>
                <a:srgbClr val="FBD065"/>
              </a:solidFill>
              <a:effectLst/>
            </c:spPr>
          </c:dPt>
          <c:dPt>
            <c:idx val="11"/>
            <c:invertIfNegative val="0"/>
            <c:bubble3D val="0"/>
            <c:spPr>
              <a:solidFill>
                <a:srgbClr val="F97316"/>
              </a:solidFill>
              <a:effectLst/>
            </c:spPr>
          </c:dPt>
          <c:cat>
            <c:multiLvlStrRef>
              <c:f>Sheet1!$A$2:$A$13</c:f>
              <c:multiLvlStrCache>
                <c:ptCount val="12"/>
                <c:lvl>
                  <c:pt idx="0">
                    <c:v>512</c:v>
                  </c:pt>
                  <c:pt idx="1">
                    <c:v>256</c:v>
                  </c:pt>
                  <c:pt idx="2">
                    <c:v>128</c:v>
                  </c:pt>
                  <c:pt idx="3">
                    <c:v>64</c:v>
                  </c:pt>
                  <c:pt idx="4">
                    <c:v>32</c:v>
                  </c:pt>
                  <c:pt idx="5">
                    <c:v>16</c:v>
                  </c:pt>
                  <c:pt idx="6">
                    <c:v>8</c:v>
                  </c:pt>
                  <c:pt idx="7">
                    <c:v>4</c:v>
                  </c:pt>
                  <c:pt idx="8">
                    <c:v>2</c:v>
                  </c:pt>
                  <c:pt idx="9">
                    <c:v>1</c:v>
                  </c:pt>
                  <c:pt idx="10">
                    <c:v>0.5</c:v>
                  </c:pt>
                  <c:pt idx="11">
                    <c:v>0.25</c:v>
                  </c:pt>
                </c:lvl>
              </c:multiLvlStrCache>
            </c:multiLvlStrRef>
          </c:cat>
          <c:val>
            <c:numRef>
              <c:f>Sheet1!$B$2:$B$13</c:f>
              <c:numCache>
                <c:formatCode>General</c:formatCode>
                <c:ptCount val="12"/>
                <c:pt idx="0">
                  <c:v>1.6</c:v>
                </c:pt>
                <c:pt idx="1">
                  <c:v>2.8</c:v>
                </c:pt>
                <c:pt idx="2">
                  <c:v>2.7</c:v>
                </c:pt>
                <c:pt idx="3">
                  <c:v>2.9</c:v>
                </c:pt>
                <c:pt idx="4">
                  <c:v>3.7</c:v>
                </c:pt>
                <c:pt idx="5">
                  <c:v>6.2</c:v>
                </c:pt>
                <c:pt idx="6">
                  <c:v>4.5</c:v>
                </c:pt>
                <c:pt idx="7">
                  <c:v>10.3</c:v>
                </c:pt>
                <c:pt idx="8">
                  <c:v>10.8</c:v>
                </c:pt>
                <c:pt idx="9">
                  <c:v>13.2</c:v>
                </c:pt>
                <c:pt idx="10">
                  <c:v>23.4</c:v>
                </c:pt>
                <c:pt idx="11">
                  <c:v>39.6</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B8A"/>
          </a:solidFill>
          <a:ln w="12700">
            <a:solidFill>
              <a:srgbClr val="1A6B8A"/>
            </a:solidFill>
            <a:prstDash val="solid"/>
          </a:ln>
        </p:spPr>
      </p:sp>
      <p:sp>
        <p:nvSpPr>
          <p:cNvPr id="3" name="Text 1"/>
          <p:cNvSpPr/>
          <p:nvPr/>
        </p:nvSpPr>
        <p:spPr>
          <a:xfrm>
            <a:off x="457200" y="731520"/>
            <a:ext cx="8412480" cy="320040"/>
          </a:xfrm>
          <a:prstGeom prst="rect">
            <a:avLst/>
          </a:prstGeom>
          <a:noFill/>
          <a:ln/>
        </p:spPr>
        <p:txBody>
          <a:bodyPr wrap="square" rtlCol="0" anchor="ctr"/>
          <a:lstStyle/>
          <a:p>
            <a:pPr indent="0" marL="0">
              <a:buNone/>
            </a:pPr>
            <a:r>
              <a:rPr lang="en-US" sz="1000" spc="300" kern="0" dirty="0">
                <a:solidFill>
                  <a:srgbClr val="0EA5E9"/>
                </a:solidFill>
                <a:latin typeface="Calibri" pitchFamily="34" charset="0"/>
                <a:ea typeface="Calibri" pitchFamily="34" charset="-122"/>
                <a:cs typeface="Calibri" pitchFamily="34" charset="-120"/>
              </a:rPr>
              <a:t>TRABAJO FINAL DE CARRERA – AVANCE</a:t>
            </a:r>
            <a:endParaRPr lang="en-US" sz="1000" dirty="0"/>
          </a:p>
        </p:txBody>
      </p:sp>
      <p:sp>
        <p:nvSpPr>
          <p:cNvPr id="4" name="Text 2"/>
          <p:cNvSpPr/>
          <p:nvPr/>
        </p:nvSpPr>
        <p:spPr>
          <a:xfrm>
            <a:off x="457200" y="1143000"/>
            <a:ext cx="8412480" cy="2560320"/>
          </a:xfrm>
          <a:prstGeom prst="rect">
            <a:avLst/>
          </a:prstGeom>
          <a:noFill/>
          <a:ln/>
        </p:spPr>
        <p:txBody>
          <a:bodyPr wrap="square" rtlCol="0" anchor="ctr"/>
          <a:lstStyle/>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Nuevas perspectivas sobre el efecto</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biológico del etambutol en Mycobacteriales</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a partir de proteómica cuantitativa</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basada en adquisición independiente</a:t>
            </a:r>
            <a:endParaRPr lang="en-US" sz="2400" dirty="0"/>
          </a:p>
          <a:p>
            <a:pPr indent="0" marL="0">
              <a:lnSpc>
                <a:spcPct val="120000"/>
              </a:lnSpc>
              <a:buNone/>
            </a:pPr>
            <a:r>
              <a:rPr lang="en-US" sz="2400" b="1" dirty="0">
                <a:solidFill>
                  <a:srgbClr val="FFFFFF"/>
                </a:solidFill>
                <a:latin typeface="Calibri" pitchFamily="34" charset="0"/>
                <a:ea typeface="Calibri" pitchFamily="34" charset="-122"/>
                <a:cs typeface="Calibri" pitchFamily="34" charset="-120"/>
              </a:rPr>
              <a:t>de datos (DIA)</a:t>
            </a:r>
            <a:endParaRPr lang="en-US" sz="2400" dirty="0"/>
          </a:p>
        </p:txBody>
      </p:sp>
      <p:sp>
        <p:nvSpPr>
          <p:cNvPr id="5" name="Shape 3"/>
          <p:cNvSpPr/>
          <p:nvPr/>
        </p:nvSpPr>
        <p:spPr>
          <a:xfrm>
            <a:off x="457200" y="3840480"/>
            <a:ext cx="3200400" cy="0"/>
          </a:xfrm>
          <a:prstGeom prst="line">
            <a:avLst/>
          </a:prstGeom>
          <a:noFill/>
          <a:ln w="12700">
            <a:solidFill>
              <a:srgbClr val="2889AD"/>
            </a:solidFill>
            <a:prstDash val="solid"/>
          </a:ln>
        </p:spPr>
      </p:sp>
      <p:sp>
        <p:nvSpPr>
          <p:cNvPr id="6" name="Text 4"/>
          <p:cNvSpPr/>
          <p:nvPr/>
        </p:nvSpPr>
        <p:spPr>
          <a:xfrm>
            <a:off x="457200" y="3977640"/>
            <a:ext cx="841248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Nazareno Cabrera</a:t>
            </a:r>
            <a:pPr indent="0" marL="0">
              <a:buNone/>
            </a:pPr>
            <a:r>
              <a:rPr lang="en-US" sz="1200" dirty="0">
                <a:solidFill>
                  <a:srgbClr val="FFFFFF"/>
                </a:solidFill>
                <a:latin typeface="Calibri" pitchFamily="34" charset="0"/>
                <a:ea typeface="Calibri" pitchFamily="34" charset="-122"/>
                <a:cs typeface="Calibri" pitchFamily="34" charset="-120"/>
              </a:rPr>
              <a:t>  ·  Ingeniería en Biotecnología</a:t>
            </a:r>
            <a:endParaRPr lang="en-US" sz="1200" dirty="0"/>
          </a:p>
        </p:txBody>
      </p:sp>
      <p:sp>
        <p:nvSpPr>
          <p:cNvPr id="7" name="Text 5"/>
          <p:cNvSpPr/>
          <p:nvPr/>
        </p:nvSpPr>
        <p:spPr>
          <a:xfrm>
            <a:off x="457200" y="4279392"/>
            <a:ext cx="8412480" cy="228600"/>
          </a:xfrm>
          <a:prstGeom prst="rect">
            <a:avLst/>
          </a:prstGeom>
          <a:noFill/>
          <a:ln/>
        </p:spPr>
        <p:txBody>
          <a:bodyPr wrap="square" rtlCol="0" anchor="ctr"/>
          <a:lstStyle/>
          <a:p>
            <a:pPr indent="0" marL="0">
              <a:buNone/>
            </a:pPr>
            <a:r>
              <a:rPr lang="en-US" sz="1000" dirty="0">
                <a:solidFill>
                  <a:srgbClr val="AABCCC"/>
                </a:solidFill>
                <a:latin typeface="Calibri" pitchFamily="34" charset="0"/>
                <a:ea typeface="Calibri" pitchFamily="34" charset="-122"/>
                <a:cs typeface="Calibri" pitchFamily="34" charset="-120"/>
              </a:rPr>
              <a:t>Tutor: Alejandro Leyva  |  Unidad de Proteómica y Bioquímica Analíticas, Institut Pasteur de Montevideo</a:t>
            </a:r>
            <a:endParaRPr lang="en-US" sz="1000" dirty="0"/>
          </a:p>
        </p:txBody>
      </p:sp>
      <p:sp>
        <p:nvSpPr>
          <p:cNvPr id="8" name="Text 6"/>
          <p:cNvSpPr/>
          <p:nvPr/>
        </p:nvSpPr>
        <p:spPr>
          <a:xfrm>
            <a:off x="457200" y="4553712"/>
            <a:ext cx="8412480" cy="228600"/>
          </a:xfrm>
          <a:prstGeom prst="rect">
            <a:avLst/>
          </a:prstGeom>
          <a:noFill/>
          <a:ln/>
        </p:spPr>
        <p:txBody>
          <a:bodyPr wrap="square" rtlCol="0" anchor="ctr"/>
          <a:lstStyle/>
          <a:p>
            <a:pPr indent="0" marL="0">
              <a:buNone/>
            </a:pPr>
            <a:r>
              <a:rPr lang="en-US" sz="1000" dirty="0">
                <a:solidFill>
                  <a:srgbClr val="AABCCC"/>
                </a:solidFill>
                <a:latin typeface="Calibri" pitchFamily="34" charset="0"/>
                <a:ea typeface="Calibri" pitchFamily="34" charset="-122"/>
                <a:cs typeface="Calibri" pitchFamily="34" charset="-120"/>
              </a:rPr>
              <a:t>Abril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CONTEXTO</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El etambutol tiene efectos que exceden su mecanismo clásico</a:t>
            </a:r>
            <a:endParaRPr lang="en-US" sz="2600" dirty="0"/>
          </a:p>
        </p:txBody>
      </p:sp>
      <p:sp>
        <p:nvSpPr>
          <p:cNvPr id="4" name="Shape 2"/>
          <p:cNvSpPr/>
          <p:nvPr/>
        </p:nvSpPr>
        <p:spPr>
          <a:xfrm>
            <a:off x="365760" y="1417320"/>
            <a:ext cx="3931920" cy="338328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02920" y="1508760"/>
            <a:ext cx="3657600" cy="292608"/>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Mecanismo clásicamente descripto</a:t>
            </a:r>
            <a:endParaRPr lang="en-US" sz="1100" dirty="0"/>
          </a:p>
        </p:txBody>
      </p:sp>
      <p:sp>
        <p:nvSpPr>
          <p:cNvPr id="6" name="Text 4"/>
          <p:cNvSpPr/>
          <p:nvPr/>
        </p:nvSpPr>
        <p:spPr>
          <a:xfrm>
            <a:off x="502920" y="1874520"/>
            <a:ext cx="3657600" cy="2743200"/>
          </a:xfrm>
          <a:prstGeom prst="rect">
            <a:avLst/>
          </a:prstGeom>
          <a:noFill/>
          <a:ln/>
        </p:spPr>
        <p:txBody>
          <a:bodyPr wrap="square"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Inhibición de arabinosiltransferasas (EmbA, EmbB, EmbC)</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 </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Bloqueo de la síntesis de arabinogalactano en la envoltura celular de Mycobacteriales</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 </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Efecto sobre el polo de crecimiento apical — evidenciado en C. glutamicum (Schubert et al., 2017)</a:t>
            </a:r>
            <a:endParaRPr lang="en-US" sz="1200" dirty="0"/>
          </a:p>
        </p:txBody>
      </p:sp>
      <p:sp>
        <p:nvSpPr>
          <p:cNvPr id="7" name="Shape 5"/>
          <p:cNvSpPr/>
          <p:nvPr/>
        </p:nvSpPr>
        <p:spPr>
          <a:xfrm>
            <a:off x="4572000" y="1417320"/>
            <a:ext cx="3931920" cy="3383280"/>
          </a:xfrm>
          <a:prstGeom prst="rect">
            <a:avLst/>
          </a:prstGeom>
          <a:solidFill>
            <a:srgbClr val="FFF7ED"/>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4572000" y="1417320"/>
            <a:ext cx="3931920" cy="73152"/>
          </a:xfrm>
          <a:prstGeom prst="rect">
            <a:avLst/>
          </a:prstGeom>
          <a:solidFill>
            <a:srgbClr val="D97706"/>
          </a:solidFill>
          <a:ln w="12700">
            <a:solidFill>
              <a:srgbClr val="D97706"/>
            </a:solidFill>
            <a:prstDash val="solid"/>
          </a:ln>
        </p:spPr>
      </p:sp>
      <p:sp>
        <p:nvSpPr>
          <p:cNvPr id="9" name="Text 7"/>
          <p:cNvSpPr/>
          <p:nvPr/>
        </p:nvSpPr>
        <p:spPr>
          <a:xfrm>
            <a:off x="4709160" y="1508760"/>
            <a:ext cx="3657600" cy="292608"/>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Lo que el mecanismo clásico no explica</a:t>
            </a:r>
            <a:endParaRPr lang="en-US" sz="1100" dirty="0"/>
          </a:p>
        </p:txBody>
      </p:sp>
      <p:sp>
        <p:nvSpPr>
          <p:cNvPr id="10" name="Text 8"/>
          <p:cNvSpPr/>
          <p:nvPr/>
        </p:nvSpPr>
        <p:spPr>
          <a:xfrm>
            <a:off x="4709160" y="1874520"/>
            <a:ext cx="3657600" cy="2743200"/>
          </a:xfrm>
          <a:prstGeom prst="rect">
            <a:avLst/>
          </a:prstGeom>
          <a:noFill/>
          <a:ln/>
        </p:spPr>
        <p:txBody>
          <a:bodyPr wrap="square"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No explica todos los mecanismos de resistencia reportados</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 </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Estudios con 2D-PAGE sugieren alteraciones en metabolismo intermediario y respiración celular</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 </a:t>
            </a:r>
            <a:endParaRPr lang="en-US" sz="1200" dirty="0"/>
          </a:p>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Datos del laboratorio (UBYPA): 192 proteínas diferencialmente expresadas en C. glutamicum tratada con EMB — ~20% del proteoma detectado — incluyendo proteínas ajenas a la envoltura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LIMITACIONES DEL ENFOQUE PREVIO</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Los datos del laboratorio fueron obtenidos con DDA — y eso impone límites</a:t>
            </a:r>
            <a:endParaRPr lang="en-US" sz="2600" dirty="0"/>
          </a:p>
        </p:txBody>
      </p:sp>
      <p:sp>
        <p:nvSpPr>
          <p:cNvPr id="4" name="Shape 2"/>
          <p:cNvSpPr/>
          <p:nvPr/>
        </p:nvSpPr>
        <p:spPr>
          <a:xfrm>
            <a:off x="365760" y="1417320"/>
            <a:ext cx="8412480" cy="141732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48640" y="1508760"/>
            <a:ext cx="3657600" cy="274320"/>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¿Cómo funciona DDA?</a:t>
            </a:r>
            <a:endParaRPr lang="en-US" sz="1100" dirty="0"/>
          </a:p>
        </p:txBody>
      </p:sp>
      <p:sp>
        <p:nvSpPr>
          <p:cNvPr id="6" name="Text 4"/>
          <p:cNvSpPr/>
          <p:nvPr/>
        </p:nvSpPr>
        <p:spPr>
          <a:xfrm>
            <a:off x="548640" y="1810512"/>
            <a:ext cx="8046720" cy="7315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En DDA (Data-Dependent Acquisition) el espectrómetro selecciona en cada barrido los péptidos más abundantes para fragmentar. El resto no se analiza en esa corrida.</a:t>
            </a:r>
            <a:endParaRPr lang="en-US" sz="1200" dirty="0"/>
          </a:p>
        </p:txBody>
      </p:sp>
      <p:sp>
        <p:nvSpPr>
          <p:cNvPr id="7" name="Shape 5"/>
          <p:cNvSpPr/>
          <p:nvPr/>
        </p:nvSpPr>
        <p:spPr>
          <a:xfrm>
            <a:off x="365760" y="3017520"/>
            <a:ext cx="4023360" cy="16916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365760" y="3017520"/>
            <a:ext cx="4023360" cy="64008"/>
          </a:xfrm>
          <a:prstGeom prst="rect">
            <a:avLst/>
          </a:prstGeom>
          <a:solidFill>
            <a:srgbClr val="DC2626"/>
          </a:solidFill>
          <a:ln w="12700">
            <a:solidFill>
              <a:srgbClr val="DC2626"/>
            </a:solidFill>
            <a:prstDash val="solid"/>
          </a:ln>
        </p:spPr>
      </p:sp>
      <p:sp>
        <p:nvSpPr>
          <p:cNvPr id="9" name="Text 7"/>
          <p:cNvSpPr/>
          <p:nvPr/>
        </p:nvSpPr>
        <p:spPr>
          <a:xfrm>
            <a:off x="502920" y="3108960"/>
            <a:ext cx="374904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Problema 1 — Valores faltantes</a:t>
            </a:r>
            <a:endParaRPr lang="en-US" sz="1100" dirty="0"/>
          </a:p>
        </p:txBody>
      </p:sp>
      <p:sp>
        <p:nvSpPr>
          <p:cNvPr id="10" name="Text 8"/>
          <p:cNvSpPr/>
          <p:nvPr/>
        </p:nvSpPr>
        <p:spPr>
          <a:xfrm>
            <a:off x="502920" y="3410712"/>
            <a:ext cx="3749040" cy="1188720"/>
          </a:xfrm>
          <a:prstGeom prst="rect">
            <a:avLst/>
          </a:prstGeom>
          <a:noFill/>
          <a:ln/>
        </p:spPr>
        <p:txBody>
          <a:bodyPr wrap="square"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No todos los péptidos se seleccionan en todas las réplicas. Resultado: valores faltantes entre muestras que dificultan el análisis cuantitativo comparativo.</a:t>
            </a:r>
            <a:endParaRPr lang="en-US" sz="1200" dirty="0"/>
          </a:p>
        </p:txBody>
      </p:sp>
      <p:sp>
        <p:nvSpPr>
          <p:cNvPr id="11" name="Shape 9"/>
          <p:cNvSpPr/>
          <p:nvPr/>
        </p:nvSpPr>
        <p:spPr>
          <a:xfrm>
            <a:off x="4754880" y="3017520"/>
            <a:ext cx="4023360" cy="16916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2" name="Shape 10"/>
          <p:cNvSpPr/>
          <p:nvPr/>
        </p:nvSpPr>
        <p:spPr>
          <a:xfrm>
            <a:off x="4754880" y="3017520"/>
            <a:ext cx="4023360" cy="64008"/>
          </a:xfrm>
          <a:prstGeom prst="rect">
            <a:avLst/>
          </a:prstGeom>
          <a:solidFill>
            <a:srgbClr val="DC2626"/>
          </a:solidFill>
          <a:ln w="12700">
            <a:solidFill>
              <a:srgbClr val="DC2626"/>
            </a:solidFill>
            <a:prstDash val="solid"/>
          </a:ln>
        </p:spPr>
      </p:sp>
      <p:sp>
        <p:nvSpPr>
          <p:cNvPr id="13" name="Text 11"/>
          <p:cNvSpPr/>
          <p:nvPr/>
        </p:nvSpPr>
        <p:spPr>
          <a:xfrm>
            <a:off x="4892040" y="3108960"/>
            <a:ext cx="374904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Problema 2 — Subrepresentación de baja abundancia</a:t>
            </a:r>
            <a:endParaRPr lang="en-US" sz="1100" dirty="0"/>
          </a:p>
        </p:txBody>
      </p:sp>
      <p:sp>
        <p:nvSpPr>
          <p:cNvPr id="14" name="Text 12"/>
          <p:cNvSpPr/>
          <p:nvPr/>
        </p:nvSpPr>
        <p:spPr>
          <a:xfrm>
            <a:off x="4892040" y="3410712"/>
            <a:ext cx="3749040" cy="1188720"/>
          </a:xfrm>
          <a:prstGeom prst="rect">
            <a:avLst/>
          </a:prstGeom>
          <a:noFill/>
          <a:ln/>
        </p:spPr>
        <p:txBody>
          <a:bodyPr wrap="square"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Proteínas de baja abundancia quedan sistemáticamente excluidas del análisis. Riesgo concreto: proteínas reguladas por el etambutol que nunca son detectadas.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ESTRATEGIA PROPUESTA</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DIA fragmenta todos los precursores — sin selección estocástica</a:t>
            </a:r>
            <a:endParaRPr lang="en-US" sz="2600" dirty="0"/>
          </a:p>
        </p:txBody>
      </p:sp>
      <p:sp>
        <p:nvSpPr>
          <p:cNvPr id="4" name="Shape 2"/>
          <p:cNvSpPr/>
          <p:nvPr/>
        </p:nvSpPr>
        <p:spPr>
          <a:xfrm>
            <a:off x="365760" y="1417320"/>
            <a:ext cx="3931920" cy="2286000"/>
          </a:xfrm>
          <a:prstGeom prst="rect">
            <a:avLst/>
          </a:prstGeom>
          <a:solidFill>
            <a:srgbClr val="FEF2F2"/>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365760" y="1417320"/>
            <a:ext cx="3931920" cy="64008"/>
          </a:xfrm>
          <a:prstGeom prst="rect">
            <a:avLst/>
          </a:prstGeom>
          <a:solidFill>
            <a:srgbClr val="DC2626"/>
          </a:solidFill>
          <a:ln w="12700">
            <a:solidFill>
              <a:srgbClr val="DC2626"/>
            </a:solidFill>
            <a:prstDash val="solid"/>
          </a:ln>
        </p:spPr>
      </p:sp>
      <p:sp>
        <p:nvSpPr>
          <p:cNvPr id="6" name="Text 4"/>
          <p:cNvSpPr/>
          <p:nvPr/>
        </p:nvSpPr>
        <p:spPr>
          <a:xfrm>
            <a:off x="502920" y="1508760"/>
            <a:ext cx="3657600" cy="274320"/>
          </a:xfrm>
          <a:prstGeom prst="rect">
            <a:avLst/>
          </a:prstGeom>
          <a:noFill/>
          <a:ln/>
        </p:spPr>
        <p:txBody>
          <a:bodyPr wrap="square"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DDA — Enfoque previo</a:t>
            </a:r>
            <a:endParaRPr lang="en-US" sz="1100" dirty="0"/>
          </a:p>
        </p:txBody>
      </p:sp>
      <p:sp>
        <p:nvSpPr>
          <p:cNvPr id="7" name="Text 5"/>
          <p:cNvSpPr/>
          <p:nvPr/>
        </p:nvSpPr>
        <p:spPr>
          <a:xfrm>
            <a:off x="502920" y="1828800"/>
            <a:ext cx="3657600" cy="1737360"/>
          </a:xfrm>
          <a:prstGeom prst="rect">
            <a:avLst/>
          </a:prstGeom>
          <a:noFill/>
          <a:ln/>
        </p:spPr>
        <p:txBody>
          <a:bodyPr wrap="square" rtlCol="0" anchor="ctr"/>
          <a:lstStyle/>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Selección estocástica de precursores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Valores faltantes entre réplicas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Baja abundancia = no detectado</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Útil para generar librerías espectrales</a:t>
            </a:r>
            <a:endParaRPr lang="en-US" sz="1200" dirty="0"/>
          </a:p>
        </p:txBody>
      </p:sp>
      <p:sp>
        <p:nvSpPr>
          <p:cNvPr id="8" name="Shape 6"/>
          <p:cNvSpPr/>
          <p:nvPr/>
        </p:nvSpPr>
        <p:spPr>
          <a:xfrm>
            <a:off x="4572000" y="1417320"/>
            <a:ext cx="3931920" cy="2286000"/>
          </a:xfrm>
          <a:prstGeom prst="rect">
            <a:avLst/>
          </a:prstGeom>
          <a:solidFill>
            <a:srgbClr val="F0FDF4"/>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9" name="Shape 7"/>
          <p:cNvSpPr/>
          <p:nvPr/>
        </p:nvSpPr>
        <p:spPr>
          <a:xfrm>
            <a:off x="4572000" y="1417320"/>
            <a:ext cx="3931920" cy="64008"/>
          </a:xfrm>
          <a:prstGeom prst="rect">
            <a:avLst/>
          </a:prstGeom>
          <a:solidFill>
            <a:srgbClr val="16A34A"/>
          </a:solidFill>
          <a:ln w="12700">
            <a:solidFill>
              <a:srgbClr val="16A34A"/>
            </a:solidFill>
            <a:prstDash val="solid"/>
          </a:ln>
        </p:spPr>
      </p:sp>
      <p:sp>
        <p:nvSpPr>
          <p:cNvPr id="10" name="Text 8"/>
          <p:cNvSpPr/>
          <p:nvPr/>
        </p:nvSpPr>
        <p:spPr>
          <a:xfrm>
            <a:off x="4709160" y="1508760"/>
            <a:ext cx="3657600" cy="274320"/>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DIA — Estrategia propuesta</a:t>
            </a:r>
            <a:endParaRPr lang="en-US" sz="1100" dirty="0"/>
          </a:p>
        </p:txBody>
      </p:sp>
      <p:sp>
        <p:nvSpPr>
          <p:cNvPr id="11" name="Text 9"/>
          <p:cNvSpPr/>
          <p:nvPr/>
        </p:nvSpPr>
        <p:spPr>
          <a:xfrm>
            <a:off x="4709160" y="1828800"/>
            <a:ext cx="3657600" cy="1737360"/>
          </a:xfrm>
          <a:prstGeom prst="rect">
            <a:avLst/>
          </a:prstGeom>
          <a:noFill/>
          <a:ln/>
        </p:spPr>
        <p:txBody>
          <a:bodyPr wrap="square" rtlCol="0" anchor="ctr"/>
          <a:lstStyle/>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Fragmentación sistemática en ventanas de masa predefinidas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Cobertura exhaustiva e independiente de abundancia</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Reducción sustancial de valores faltantes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Mayor reproducibilidad cuantitativa entre réplicas</a:t>
            </a:r>
            <a:endParaRPr lang="en-US" sz="1200" dirty="0"/>
          </a:p>
        </p:txBody>
      </p:sp>
      <p:sp>
        <p:nvSpPr>
          <p:cNvPr id="12" name="Shape 10"/>
          <p:cNvSpPr/>
          <p:nvPr/>
        </p:nvSpPr>
        <p:spPr>
          <a:xfrm>
            <a:off x="365760" y="3886200"/>
            <a:ext cx="8412480" cy="91440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365760" y="3886200"/>
            <a:ext cx="64008" cy="914400"/>
          </a:xfrm>
          <a:prstGeom prst="rect">
            <a:avLst/>
          </a:prstGeom>
          <a:solidFill>
            <a:srgbClr val="0EA5E9"/>
          </a:solidFill>
          <a:ln w="12700">
            <a:solidFill>
              <a:srgbClr val="0EA5E9"/>
            </a:solidFill>
            <a:prstDash val="solid"/>
          </a:ln>
        </p:spPr>
      </p:sp>
      <p:sp>
        <p:nvSpPr>
          <p:cNvPr id="14" name="Text 12"/>
          <p:cNvSpPr/>
          <p:nvPr/>
        </p:nvSpPr>
        <p:spPr>
          <a:xfrm>
            <a:off x="594360" y="3977640"/>
            <a:ext cx="8046720" cy="731520"/>
          </a:xfrm>
          <a:prstGeom prst="rect">
            <a:avLst/>
          </a:prstGeom>
          <a:noFill/>
          <a:ln/>
        </p:spPr>
        <p:txBody>
          <a:bodyPr wrap="square"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Para estudios cuantitativos comparativos a gran escala donde se necesita profundidad y consistencia entre réplicas, DIA es la estrategia adecuada. DDA se complementa aportando la librería espectral de referencia.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MODELO Y HIPÓTESIS</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C. glutamicum como proxy no patógeno de Mycobacteriales</a:t>
            </a:r>
            <a:endParaRPr lang="en-US" sz="2600" dirty="0"/>
          </a:p>
        </p:txBody>
      </p:sp>
      <p:sp>
        <p:nvSpPr>
          <p:cNvPr id="4" name="Shape 2"/>
          <p:cNvSpPr/>
          <p:nvPr/>
        </p:nvSpPr>
        <p:spPr>
          <a:xfrm>
            <a:off x="365760" y="1417320"/>
            <a:ext cx="5120640" cy="251460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02920" y="1508760"/>
            <a:ext cx="4846320" cy="274320"/>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¿Por qué C. glutamicum?</a:t>
            </a:r>
            <a:endParaRPr lang="en-US" sz="1100" dirty="0"/>
          </a:p>
        </p:txBody>
      </p:sp>
      <p:sp>
        <p:nvSpPr>
          <p:cNvPr id="6" name="Text 4"/>
          <p:cNvSpPr/>
          <p:nvPr/>
        </p:nvSpPr>
        <p:spPr>
          <a:xfrm>
            <a:off x="502920" y="1874520"/>
            <a:ext cx="4846320" cy="1920240"/>
          </a:xfrm>
          <a:prstGeom prst="rect">
            <a:avLst/>
          </a:prstGeom>
          <a:noFill/>
          <a:ln/>
        </p:spPr>
        <p:txBody>
          <a:bodyPr wrap="square" rtlCol="0" anchor="ctr"/>
          <a:lstStyle/>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Filogenéticamente relacionado con Mycobacteriales (orden Corynebacteriales)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Comparte la arquitectura de envoltura celular: peptidoglicano + arabinogalactano + ácidos micólicos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Mismas vías biosintéticas que constituyen blancos farmacológicos en M. tuberculosis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Manipulación segura en condiciones de bioseguridad básica (BSL-1)</a:t>
            </a:r>
            <a:endParaRPr lang="en-US" sz="1200" dirty="0"/>
          </a:p>
        </p:txBody>
      </p:sp>
      <p:sp>
        <p:nvSpPr>
          <p:cNvPr id="7" name="Shape 5"/>
          <p:cNvSpPr/>
          <p:nvPr/>
        </p:nvSpPr>
        <p:spPr>
          <a:xfrm>
            <a:off x="5760720" y="1417320"/>
            <a:ext cx="3017520" cy="2514600"/>
          </a:xfrm>
          <a:prstGeom prst="rect">
            <a:avLst/>
          </a:prstGeom>
          <a:solidFill>
            <a:srgbClr val="F0FDF4"/>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Text 6"/>
          <p:cNvSpPr/>
          <p:nvPr/>
        </p:nvSpPr>
        <p:spPr>
          <a:xfrm>
            <a:off x="5897880" y="1508760"/>
            <a:ext cx="2743200" cy="274320"/>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Ventaja operativa</a:t>
            </a:r>
            <a:endParaRPr lang="en-US" sz="1100" dirty="0"/>
          </a:p>
        </p:txBody>
      </p:sp>
      <p:sp>
        <p:nvSpPr>
          <p:cNvPr id="9" name="Text 7"/>
          <p:cNvSpPr/>
          <p:nvPr/>
        </p:nvSpPr>
        <p:spPr>
          <a:xfrm>
            <a:off x="5897880" y="1874520"/>
            <a:ext cx="2743200" cy="1920240"/>
          </a:xfrm>
          <a:prstGeom prst="rect">
            <a:avLst/>
          </a:prstGeom>
          <a:noFill/>
          <a:ln/>
        </p:spPr>
        <p:txBody>
          <a:bodyPr wrap="square" rtlCol="0" anchor="ctr"/>
          <a:lstStyle/>
          <a:p>
            <a:pPr indent="0" marL="0">
              <a:lnSpc>
                <a:spcPct val="135000"/>
              </a:lnSpc>
              <a:buNone/>
            </a:pPr>
            <a:r>
              <a:rPr lang="en-US" sz="1200" dirty="0">
                <a:solidFill>
                  <a:srgbClr val="1E293B"/>
                </a:solidFill>
                <a:latin typeface="Calibri" pitchFamily="34" charset="0"/>
                <a:ea typeface="Calibri" pitchFamily="34" charset="-122"/>
                <a:cs typeface="Calibri" pitchFamily="34" charset="-120"/>
              </a:rPr>
              <a:t>Relevancia biológica en envoltura celular + manipulación segura = modelo adecuado para estudios proteómicos con fármacos antimicobacterianos.</a:t>
            </a:r>
            <a:endParaRPr lang="en-US" sz="1200" dirty="0"/>
          </a:p>
        </p:txBody>
      </p:sp>
      <p:sp>
        <p:nvSpPr>
          <p:cNvPr id="10" name="Shape 8"/>
          <p:cNvSpPr/>
          <p:nvPr/>
        </p:nvSpPr>
        <p:spPr>
          <a:xfrm>
            <a:off x="365760" y="4069080"/>
            <a:ext cx="8412480" cy="91440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1" name="Shape 9"/>
          <p:cNvSpPr/>
          <p:nvPr/>
        </p:nvSpPr>
        <p:spPr>
          <a:xfrm>
            <a:off x="365760" y="4069080"/>
            <a:ext cx="64008" cy="914400"/>
          </a:xfrm>
          <a:prstGeom prst="rect">
            <a:avLst/>
          </a:prstGeom>
          <a:solidFill>
            <a:srgbClr val="1B2A4A"/>
          </a:solidFill>
          <a:ln w="12700">
            <a:solidFill>
              <a:srgbClr val="1B2A4A"/>
            </a:solidFill>
            <a:prstDash val="solid"/>
          </a:ln>
        </p:spPr>
      </p:sp>
      <p:sp>
        <p:nvSpPr>
          <p:cNvPr id="12" name="Text 10"/>
          <p:cNvSpPr/>
          <p:nvPr/>
        </p:nvSpPr>
        <p:spPr>
          <a:xfrm>
            <a:off x="594360" y="4133088"/>
            <a:ext cx="8046720" cy="777240"/>
          </a:xfrm>
          <a:prstGeom prst="rect">
            <a:avLst/>
          </a:prstGeom>
          <a:noFill/>
          <a:ln/>
        </p:spPr>
        <p:txBody>
          <a:bodyPr wrap="square" rtlCol="0" anchor="ctr"/>
          <a:lstStyle/>
          <a:p>
            <a:pPr indent="0" marL="0">
              <a:lnSpc>
                <a:spcPct val="130000"/>
              </a:lnSpc>
              <a:buNone/>
            </a:pPr>
            <a:r>
              <a:rPr lang="en-US" sz="1200" b="1" dirty="0">
                <a:solidFill>
                  <a:srgbClr val="1E293B"/>
                </a:solidFill>
                <a:latin typeface="Calibri" pitchFamily="34" charset="0"/>
                <a:ea typeface="Calibri" pitchFamily="34" charset="-122"/>
                <a:cs typeface="Calibri" pitchFamily="34" charset="-120"/>
              </a:rPr>
              <a:t>Hipótesis: </a:t>
            </a:r>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la exposición de C. glutamicum a concentraciones subinhibitorias de etambutol induce una reprogramación proteómica global que trasciende los procesos asociados a la biosíntesis de la envoltura celular e involucra otros sistemas celulares no descritos previamente para este fármaco.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OBJETIVOS</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Objetivo general y objetivos específicos</a:t>
            </a:r>
            <a:endParaRPr lang="en-US" sz="2600" dirty="0"/>
          </a:p>
        </p:txBody>
      </p:sp>
      <p:sp>
        <p:nvSpPr>
          <p:cNvPr id="4" name="Shape 2"/>
          <p:cNvSpPr/>
          <p:nvPr/>
        </p:nvSpPr>
        <p:spPr>
          <a:xfrm>
            <a:off x="365760" y="1417320"/>
            <a:ext cx="8412480" cy="82296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365760" y="1417320"/>
            <a:ext cx="64008" cy="822960"/>
          </a:xfrm>
          <a:prstGeom prst="rect">
            <a:avLst/>
          </a:prstGeom>
          <a:solidFill>
            <a:srgbClr val="1B2A4A"/>
          </a:solidFill>
          <a:ln w="12700">
            <a:solidFill>
              <a:srgbClr val="1B2A4A"/>
            </a:solidFill>
            <a:prstDash val="solid"/>
          </a:ln>
        </p:spPr>
      </p:sp>
      <p:sp>
        <p:nvSpPr>
          <p:cNvPr id="6" name="Text 4"/>
          <p:cNvSpPr/>
          <p:nvPr/>
        </p:nvSpPr>
        <p:spPr>
          <a:xfrm>
            <a:off x="594360" y="1481328"/>
            <a:ext cx="8046720" cy="68580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Objetivo general: </a:t>
            </a:r>
            <a:pPr indent="0" marL="0">
              <a:buNone/>
            </a:pPr>
            <a:r>
              <a:rPr lang="en-US" sz="1200" dirty="0">
                <a:solidFill>
                  <a:srgbClr val="1E293B"/>
                </a:solidFill>
                <a:latin typeface="Calibri" pitchFamily="34" charset="0"/>
                <a:ea typeface="Calibri" pitchFamily="34" charset="-122"/>
                <a:cs typeface="Calibri" pitchFamily="34" charset="-120"/>
              </a:rPr>
              <a:t>Explorar la existencia de efectos celulares no descritos previamente para el etambutol mediante la caracterización del impacto proteómico global en C. glutamicum utilizando proteómica cuantitativa basada en DIA.</a:t>
            </a:r>
            <a:endParaRPr lang="en-US" sz="1200" dirty="0"/>
          </a:p>
        </p:txBody>
      </p:sp>
      <p:sp>
        <p:nvSpPr>
          <p:cNvPr id="7" name="Shape 5"/>
          <p:cNvSpPr/>
          <p:nvPr/>
        </p:nvSpPr>
        <p:spPr>
          <a:xfrm>
            <a:off x="365760" y="2395728"/>
            <a:ext cx="4114800" cy="777240"/>
          </a:xfrm>
          <a:prstGeom prst="rect">
            <a:avLst/>
          </a:prstGeom>
          <a:solidFill>
            <a:srgbClr val="ECFD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365760" y="2395728"/>
            <a:ext cx="64008" cy="777240"/>
          </a:xfrm>
          <a:prstGeom prst="rect">
            <a:avLst/>
          </a:prstGeom>
          <a:solidFill>
            <a:srgbClr val="16A34A"/>
          </a:solidFill>
          <a:ln w="12700">
            <a:solidFill>
              <a:srgbClr val="16A34A"/>
            </a:solidFill>
            <a:prstDash val="solid"/>
          </a:ln>
        </p:spPr>
      </p:sp>
      <p:sp>
        <p:nvSpPr>
          <p:cNvPr id="9" name="Text 7"/>
          <p:cNvSpPr/>
          <p:nvPr/>
        </p:nvSpPr>
        <p:spPr>
          <a:xfrm>
            <a:off x="548640" y="2487168"/>
            <a:ext cx="3840480" cy="621792"/>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OE 1  </a:t>
            </a:r>
            <a:pPr indent="0" marL="0">
              <a:buNone/>
            </a:pPr>
            <a:r>
              <a:rPr lang="en-US" sz="900" b="1" dirty="0">
                <a:solidFill>
                  <a:srgbClr val="16A34A"/>
                </a:solidFill>
                <a:latin typeface="Calibri" pitchFamily="34" charset="0"/>
                <a:ea typeface="Calibri" pitchFamily="34" charset="-122"/>
                <a:cs typeface="Calibri" pitchFamily="34" charset="-120"/>
              </a:rPr>
              <a:t>● EN CURSO  </a:t>
            </a:r>
            <a:pPr indent="0" marL="0">
              <a:buNone/>
            </a:pPr>
            <a:r>
              <a:rPr lang="en-US" sz="1100" dirty="0">
                <a:solidFill>
                  <a:srgbClr val="1E293B"/>
                </a:solidFill>
                <a:latin typeface="Calibri" pitchFamily="34" charset="0"/>
                <a:ea typeface="Calibri" pitchFamily="34" charset="-122"/>
                <a:cs typeface="Calibri" pitchFamily="34" charset="-120"/>
              </a:rPr>
              <a:t>Establecer condiciones de exposición subinhibitoria al etambutol en C. glutamicum</a:t>
            </a:r>
            <a:endParaRPr lang="en-US" sz="1100" dirty="0"/>
          </a:p>
        </p:txBody>
      </p:sp>
      <p:sp>
        <p:nvSpPr>
          <p:cNvPr id="10" name="Shape 8"/>
          <p:cNvSpPr/>
          <p:nvPr/>
        </p:nvSpPr>
        <p:spPr>
          <a:xfrm>
            <a:off x="4663440" y="2395728"/>
            <a:ext cx="4114800" cy="777240"/>
          </a:xfrm>
          <a:prstGeom prst="rect">
            <a:avLst/>
          </a:prstGeom>
          <a:solidFill>
            <a:srgbClr val="ECFD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1" name="Shape 9"/>
          <p:cNvSpPr/>
          <p:nvPr/>
        </p:nvSpPr>
        <p:spPr>
          <a:xfrm>
            <a:off x="4663440" y="2395728"/>
            <a:ext cx="64008" cy="777240"/>
          </a:xfrm>
          <a:prstGeom prst="rect">
            <a:avLst/>
          </a:prstGeom>
          <a:solidFill>
            <a:srgbClr val="16A34A"/>
          </a:solidFill>
          <a:ln w="12700">
            <a:solidFill>
              <a:srgbClr val="16A34A"/>
            </a:solidFill>
            <a:prstDash val="solid"/>
          </a:ln>
        </p:spPr>
      </p:sp>
      <p:sp>
        <p:nvSpPr>
          <p:cNvPr id="12" name="Text 10"/>
          <p:cNvSpPr/>
          <p:nvPr/>
        </p:nvSpPr>
        <p:spPr>
          <a:xfrm>
            <a:off x="4846320" y="2487168"/>
            <a:ext cx="3840480" cy="621792"/>
          </a:xfrm>
          <a:prstGeom prst="rect">
            <a:avLst/>
          </a:prstGeom>
          <a:noFill/>
          <a:ln/>
        </p:spPr>
        <p:txBody>
          <a:bodyPr wrap="square"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OE 2  </a:t>
            </a:r>
            <a:pPr indent="0" marL="0">
              <a:buNone/>
            </a:pPr>
            <a:r>
              <a:rPr lang="en-US" sz="900" b="1" dirty="0">
                <a:solidFill>
                  <a:srgbClr val="16A34A"/>
                </a:solidFill>
                <a:latin typeface="Calibri" pitchFamily="34" charset="0"/>
                <a:ea typeface="Calibri" pitchFamily="34" charset="-122"/>
                <a:cs typeface="Calibri" pitchFamily="34" charset="-120"/>
              </a:rPr>
              <a:t>● EN CURSO  </a:t>
            </a:r>
            <a:pPr indent="0" marL="0">
              <a:buNone/>
            </a:pPr>
            <a:r>
              <a:rPr lang="en-US" sz="1100" dirty="0">
                <a:solidFill>
                  <a:srgbClr val="1E293B"/>
                </a:solidFill>
                <a:latin typeface="Calibri" pitchFamily="34" charset="0"/>
                <a:ea typeface="Calibri" pitchFamily="34" charset="-122"/>
                <a:cs typeface="Calibri" pitchFamily="34" charset="-120"/>
              </a:rPr>
              <a:t>Implementar y validar una estrategia DIA con robustez cuantitativa y cobertura adecuada del proteoma</a:t>
            </a:r>
            <a:endParaRPr lang="en-US" sz="1100" dirty="0"/>
          </a:p>
        </p:txBody>
      </p:sp>
      <p:sp>
        <p:nvSpPr>
          <p:cNvPr id="13" name="Shape 11"/>
          <p:cNvSpPr/>
          <p:nvPr/>
        </p:nvSpPr>
        <p:spPr>
          <a:xfrm>
            <a:off x="365760" y="3291840"/>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4" name="Shape 12"/>
          <p:cNvSpPr/>
          <p:nvPr/>
        </p:nvSpPr>
        <p:spPr>
          <a:xfrm>
            <a:off x="365760" y="3291840"/>
            <a:ext cx="64008" cy="777240"/>
          </a:xfrm>
          <a:prstGeom prst="rect">
            <a:avLst/>
          </a:prstGeom>
          <a:solidFill>
            <a:srgbClr val="CBD5E1"/>
          </a:solidFill>
          <a:ln w="12700">
            <a:solidFill>
              <a:srgbClr val="CBD5E1"/>
            </a:solidFill>
            <a:prstDash val="solid"/>
          </a:ln>
        </p:spPr>
      </p:sp>
      <p:sp>
        <p:nvSpPr>
          <p:cNvPr id="15" name="Text 13"/>
          <p:cNvSpPr/>
          <p:nvPr/>
        </p:nvSpPr>
        <p:spPr>
          <a:xfrm>
            <a:off x="548640" y="3383280"/>
            <a:ext cx="3840480" cy="621792"/>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OE 3  </a:t>
            </a:r>
            <a:pPr indent="0" marL="0">
              <a:buNone/>
            </a:pPr>
            <a:pPr indent="0" marL="0">
              <a:buNone/>
            </a:pPr>
            <a:r>
              <a:rPr lang="en-US" sz="1100" dirty="0">
                <a:solidFill>
                  <a:srgbClr val="1E293B"/>
                </a:solidFill>
                <a:latin typeface="Calibri" pitchFamily="34" charset="0"/>
                <a:ea typeface="Calibri" pitchFamily="34" charset="-122"/>
                <a:cs typeface="Calibri" pitchFamily="34" charset="-120"/>
              </a:rPr>
              <a:t>Obtener perfiles proteómicos control y tratados mediante LC-MS/MS en modo DIA</a:t>
            </a:r>
            <a:endParaRPr lang="en-US" sz="1100" dirty="0"/>
          </a:p>
        </p:txBody>
      </p:sp>
      <p:sp>
        <p:nvSpPr>
          <p:cNvPr id="16" name="Shape 14"/>
          <p:cNvSpPr/>
          <p:nvPr/>
        </p:nvSpPr>
        <p:spPr>
          <a:xfrm>
            <a:off x="4663440" y="3291840"/>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7" name="Shape 15"/>
          <p:cNvSpPr/>
          <p:nvPr/>
        </p:nvSpPr>
        <p:spPr>
          <a:xfrm>
            <a:off x="4663440" y="3291840"/>
            <a:ext cx="64008" cy="777240"/>
          </a:xfrm>
          <a:prstGeom prst="rect">
            <a:avLst/>
          </a:prstGeom>
          <a:solidFill>
            <a:srgbClr val="CBD5E1"/>
          </a:solidFill>
          <a:ln w="12700">
            <a:solidFill>
              <a:srgbClr val="CBD5E1"/>
            </a:solidFill>
            <a:prstDash val="solid"/>
          </a:ln>
        </p:spPr>
      </p:sp>
      <p:sp>
        <p:nvSpPr>
          <p:cNvPr id="18" name="Text 16"/>
          <p:cNvSpPr/>
          <p:nvPr/>
        </p:nvSpPr>
        <p:spPr>
          <a:xfrm>
            <a:off x="4846320" y="3383280"/>
            <a:ext cx="3840480" cy="621792"/>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OE 4  </a:t>
            </a:r>
            <a:pPr indent="0" marL="0">
              <a:buNone/>
            </a:pPr>
            <a:pPr indent="0" marL="0">
              <a:buNone/>
            </a:pPr>
            <a:r>
              <a:rPr lang="en-US" sz="1100" dirty="0">
                <a:solidFill>
                  <a:srgbClr val="1E293B"/>
                </a:solidFill>
                <a:latin typeface="Calibri" pitchFamily="34" charset="0"/>
                <a:ea typeface="Calibri" pitchFamily="34" charset="-122"/>
                <a:cs typeface="Calibri" pitchFamily="34" charset="-120"/>
              </a:rPr>
              <a:t>Determinar proteínas diferencialmente abundantes por análisis cuantitativo comparativo</a:t>
            </a:r>
            <a:endParaRPr lang="en-US" sz="1100" dirty="0"/>
          </a:p>
        </p:txBody>
      </p:sp>
      <p:sp>
        <p:nvSpPr>
          <p:cNvPr id="19" name="Shape 17"/>
          <p:cNvSpPr/>
          <p:nvPr/>
        </p:nvSpPr>
        <p:spPr>
          <a:xfrm>
            <a:off x="365760" y="4187952"/>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20" name="Shape 18"/>
          <p:cNvSpPr/>
          <p:nvPr/>
        </p:nvSpPr>
        <p:spPr>
          <a:xfrm>
            <a:off x="365760" y="4187952"/>
            <a:ext cx="64008" cy="777240"/>
          </a:xfrm>
          <a:prstGeom prst="rect">
            <a:avLst/>
          </a:prstGeom>
          <a:solidFill>
            <a:srgbClr val="CBD5E1"/>
          </a:solidFill>
          <a:ln w="12700">
            <a:solidFill>
              <a:srgbClr val="CBD5E1"/>
            </a:solidFill>
            <a:prstDash val="solid"/>
          </a:ln>
        </p:spPr>
      </p:sp>
      <p:sp>
        <p:nvSpPr>
          <p:cNvPr id="21" name="Text 19"/>
          <p:cNvSpPr/>
          <p:nvPr/>
        </p:nvSpPr>
        <p:spPr>
          <a:xfrm>
            <a:off x="548640" y="4279392"/>
            <a:ext cx="3840480" cy="621792"/>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OE 5  </a:t>
            </a:r>
            <a:pPr indent="0" marL="0">
              <a:buNone/>
            </a:pPr>
            <a:pPr indent="0" marL="0">
              <a:buNone/>
            </a:pPr>
            <a:r>
              <a:rPr lang="en-US" sz="1100" dirty="0">
                <a:solidFill>
                  <a:srgbClr val="1E293B"/>
                </a:solidFill>
                <a:latin typeface="Calibri" pitchFamily="34" charset="0"/>
                <a:ea typeface="Calibri" pitchFamily="34" charset="-122"/>
                <a:cs typeface="Calibri" pitchFamily="34" charset="-120"/>
              </a:rPr>
              <a:t>Realizar análisis funcional de las proteínas reguladas</a:t>
            </a:r>
            <a:endParaRPr lang="en-US" sz="1100" dirty="0"/>
          </a:p>
        </p:txBody>
      </p:sp>
      <p:sp>
        <p:nvSpPr>
          <p:cNvPr id="22" name="Shape 20"/>
          <p:cNvSpPr/>
          <p:nvPr/>
        </p:nvSpPr>
        <p:spPr>
          <a:xfrm>
            <a:off x="4663440" y="4187952"/>
            <a:ext cx="4114800" cy="7772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23" name="Shape 21"/>
          <p:cNvSpPr/>
          <p:nvPr/>
        </p:nvSpPr>
        <p:spPr>
          <a:xfrm>
            <a:off x="4663440" y="4187952"/>
            <a:ext cx="64008" cy="777240"/>
          </a:xfrm>
          <a:prstGeom prst="rect">
            <a:avLst/>
          </a:prstGeom>
          <a:solidFill>
            <a:srgbClr val="CBD5E1"/>
          </a:solidFill>
          <a:ln w="12700">
            <a:solidFill>
              <a:srgbClr val="CBD5E1"/>
            </a:solidFill>
            <a:prstDash val="solid"/>
          </a:ln>
        </p:spPr>
      </p:sp>
      <p:sp>
        <p:nvSpPr>
          <p:cNvPr id="24" name="Text 22"/>
          <p:cNvSpPr/>
          <p:nvPr/>
        </p:nvSpPr>
        <p:spPr>
          <a:xfrm>
            <a:off x="4846320" y="4279392"/>
            <a:ext cx="3840480" cy="621792"/>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OE 6  </a:t>
            </a:r>
            <a:pPr indent="0" marL="0">
              <a:buNone/>
            </a:pPr>
            <a:pPr indent="0" marL="0">
              <a:buNone/>
            </a:pPr>
            <a:r>
              <a:rPr lang="en-US" sz="1100" dirty="0">
                <a:solidFill>
                  <a:srgbClr val="1E293B"/>
                </a:solidFill>
                <a:latin typeface="Calibri" pitchFamily="34" charset="0"/>
                <a:ea typeface="Calibri" pitchFamily="34" charset="-122"/>
                <a:cs typeface="Calibri" pitchFamily="34" charset="-120"/>
              </a:rPr>
              <a:t>Evaluar profundidad de cobertura DIA vs DDA previo del laboratorio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CRONOGRAMA</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Cronograma de ejecución — 12 meses</a:t>
            </a:r>
            <a:endParaRPr lang="en-US" sz="2600" dirty="0"/>
          </a:p>
        </p:txBody>
      </p:sp>
      <p:sp>
        <p:nvSpPr>
          <p:cNvPr id="4" name="Shape 2"/>
          <p:cNvSpPr/>
          <p:nvPr/>
        </p:nvSpPr>
        <p:spPr>
          <a:xfrm>
            <a:off x="347472" y="1325880"/>
            <a:ext cx="3474720" cy="251460"/>
          </a:xfrm>
          <a:prstGeom prst="rect">
            <a:avLst/>
          </a:prstGeom>
          <a:solidFill>
            <a:srgbClr val="1B2A4A"/>
          </a:solidFill>
          <a:ln w="12700">
            <a:solidFill>
              <a:srgbClr val="1B2A4A"/>
            </a:solidFill>
            <a:prstDash val="solid"/>
          </a:ln>
        </p:spPr>
      </p:sp>
      <p:sp>
        <p:nvSpPr>
          <p:cNvPr id="5" name="Text 3"/>
          <p:cNvSpPr/>
          <p:nvPr/>
        </p:nvSpPr>
        <p:spPr>
          <a:xfrm>
            <a:off x="402336" y="1325880"/>
            <a:ext cx="3383280" cy="251460"/>
          </a:xfrm>
          <a:prstGeom prst="rect">
            <a:avLst/>
          </a:prstGeom>
          <a:noFill/>
          <a:ln/>
        </p:spPr>
        <p:txBody>
          <a:bodyPr wrap="square"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Actividad</a:t>
            </a:r>
            <a:endParaRPr lang="en-US" sz="950" dirty="0"/>
          </a:p>
        </p:txBody>
      </p:sp>
      <p:sp>
        <p:nvSpPr>
          <p:cNvPr id="6" name="Shape 4"/>
          <p:cNvSpPr/>
          <p:nvPr/>
        </p:nvSpPr>
        <p:spPr>
          <a:xfrm>
            <a:off x="3877056" y="1325880"/>
            <a:ext cx="393192" cy="251460"/>
          </a:xfrm>
          <a:prstGeom prst="rect">
            <a:avLst/>
          </a:prstGeom>
          <a:solidFill>
            <a:srgbClr val="1B2A4A"/>
          </a:solidFill>
          <a:ln w="12700">
            <a:solidFill>
              <a:srgbClr val="1B2A4A"/>
            </a:solidFill>
            <a:prstDash val="solid"/>
          </a:ln>
        </p:spPr>
      </p:sp>
      <p:sp>
        <p:nvSpPr>
          <p:cNvPr id="7" name="Text 5"/>
          <p:cNvSpPr/>
          <p:nvPr/>
        </p:nvSpPr>
        <p:spPr>
          <a:xfrm>
            <a:off x="3877056"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a:t>
            </a:r>
            <a:endParaRPr lang="en-US" sz="900" dirty="0"/>
          </a:p>
        </p:txBody>
      </p:sp>
      <p:sp>
        <p:nvSpPr>
          <p:cNvPr id="8" name="Shape 6"/>
          <p:cNvSpPr/>
          <p:nvPr/>
        </p:nvSpPr>
        <p:spPr>
          <a:xfrm>
            <a:off x="4270248" y="1325880"/>
            <a:ext cx="393192" cy="251460"/>
          </a:xfrm>
          <a:prstGeom prst="rect">
            <a:avLst/>
          </a:prstGeom>
          <a:solidFill>
            <a:srgbClr val="1A6B8A"/>
          </a:solidFill>
          <a:ln w="12700">
            <a:solidFill>
              <a:srgbClr val="2889AD"/>
            </a:solidFill>
            <a:prstDash val="solid"/>
          </a:ln>
        </p:spPr>
      </p:sp>
      <p:sp>
        <p:nvSpPr>
          <p:cNvPr id="9" name="Text 7"/>
          <p:cNvSpPr/>
          <p:nvPr/>
        </p:nvSpPr>
        <p:spPr>
          <a:xfrm>
            <a:off x="4270248" y="1325880"/>
            <a:ext cx="393192" cy="2514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0" name="Shape 8"/>
          <p:cNvSpPr/>
          <p:nvPr/>
        </p:nvSpPr>
        <p:spPr>
          <a:xfrm>
            <a:off x="4663440" y="1325880"/>
            <a:ext cx="393192" cy="251460"/>
          </a:xfrm>
          <a:prstGeom prst="rect">
            <a:avLst/>
          </a:prstGeom>
          <a:solidFill>
            <a:srgbClr val="1B2A4A"/>
          </a:solidFill>
          <a:ln w="12700">
            <a:solidFill>
              <a:srgbClr val="1B2A4A"/>
            </a:solidFill>
            <a:prstDash val="solid"/>
          </a:ln>
        </p:spPr>
      </p:sp>
      <p:sp>
        <p:nvSpPr>
          <p:cNvPr id="11" name="Text 9"/>
          <p:cNvSpPr/>
          <p:nvPr/>
        </p:nvSpPr>
        <p:spPr>
          <a:xfrm>
            <a:off x="4663440"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3</a:t>
            </a:r>
            <a:endParaRPr lang="en-US" sz="900" dirty="0"/>
          </a:p>
        </p:txBody>
      </p:sp>
      <p:sp>
        <p:nvSpPr>
          <p:cNvPr id="12" name="Shape 10"/>
          <p:cNvSpPr/>
          <p:nvPr/>
        </p:nvSpPr>
        <p:spPr>
          <a:xfrm>
            <a:off x="5056632" y="1325880"/>
            <a:ext cx="393192" cy="251460"/>
          </a:xfrm>
          <a:prstGeom prst="rect">
            <a:avLst/>
          </a:prstGeom>
          <a:solidFill>
            <a:srgbClr val="1B2A4A"/>
          </a:solidFill>
          <a:ln w="12700">
            <a:solidFill>
              <a:srgbClr val="1B2A4A"/>
            </a:solidFill>
            <a:prstDash val="solid"/>
          </a:ln>
        </p:spPr>
      </p:sp>
      <p:sp>
        <p:nvSpPr>
          <p:cNvPr id="13" name="Text 11"/>
          <p:cNvSpPr/>
          <p:nvPr/>
        </p:nvSpPr>
        <p:spPr>
          <a:xfrm>
            <a:off x="5056632"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4</a:t>
            </a:r>
            <a:endParaRPr lang="en-US" sz="900" dirty="0"/>
          </a:p>
        </p:txBody>
      </p:sp>
      <p:sp>
        <p:nvSpPr>
          <p:cNvPr id="14" name="Shape 12"/>
          <p:cNvSpPr/>
          <p:nvPr/>
        </p:nvSpPr>
        <p:spPr>
          <a:xfrm>
            <a:off x="5449824" y="1325880"/>
            <a:ext cx="393192" cy="251460"/>
          </a:xfrm>
          <a:prstGeom prst="rect">
            <a:avLst/>
          </a:prstGeom>
          <a:solidFill>
            <a:srgbClr val="1B2A4A"/>
          </a:solidFill>
          <a:ln w="12700">
            <a:solidFill>
              <a:srgbClr val="1B2A4A"/>
            </a:solidFill>
            <a:prstDash val="solid"/>
          </a:ln>
        </p:spPr>
      </p:sp>
      <p:sp>
        <p:nvSpPr>
          <p:cNvPr id="15" name="Text 13"/>
          <p:cNvSpPr/>
          <p:nvPr/>
        </p:nvSpPr>
        <p:spPr>
          <a:xfrm>
            <a:off x="5449824"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5</a:t>
            </a:r>
            <a:endParaRPr lang="en-US" sz="900" dirty="0"/>
          </a:p>
        </p:txBody>
      </p:sp>
      <p:sp>
        <p:nvSpPr>
          <p:cNvPr id="16" name="Shape 14"/>
          <p:cNvSpPr/>
          <p:nvPr/>
        </p:nvSpPr>
        <p:spPr>
          <a:xfrm>
            <a:off x="5843016" y="1325880"/>
            <a:ext cx="393192" cy="251460"/>
          </a:xfrm>
          <a:prstGeom prst="rect">
            <a:avLst/>
          </a:prstGeom>
          <a:solidFill>
            <a:srgbClr val="1B2A4A"/>
          </a:solidFill>
          <a:ln w="12700">
            <a:solidFill>
              <a:srgbClr val="1B2A4A"/>
            </a:solidFill>
            <a:prstDash val="solid"/>
          </a:ln>
        </p:spPr>
      </p:sp>
      <p:sp>
        <p:nvSpPr>
          <p:cNvPr id="17" name="Text 15"/>
          <p:cNvSpPr/>
          <p:nvPr/>
        </p:nvSpPr>
        <p:spPr>
          <a:xfrm>
            <a:off x="5843016"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6</a:t>
            </a:r>
            <a:endParaRPr lang="en-US" sz="900" dirty="0"/>
          </a:p>
        </p:txBody>
      </p:sp>
      <p:sp>
        <p:nvSpPr>
          <p:cNvPr id="18" name="Shape 16"/>
          <p:cNvSpPr/>
          <p:nvPr/>
        </p:nvSpPr>
        <p:spPr>
          <a:xfrm>
            <a:off x="6236208" y="1325880"/>
            <a:ext cx="393192" cy="251460"/>
          </a:xfrm>
          <a:prstGeom prst="rect">
            <a:avLst/>
          </a:prstGeom>
          <a:solidFill>
            <a:srgbClr val="1B2A4A"/>
          </a:solidFill>
          <a:ln w="12700">
            <a:solidFill>
              <a:srgbClr val="1B2A4A"/>
            </a:solidFill>
            <a:prstDash val="solid"/>
          </a:ln>
        </p:spPr>
      </p:sp>
      <p:sp>
        <p:nvSpPr>
          <p:cNvPr id="19" name="Text 17"/>
          <p:cNvSpPr/>
          <p:nvPr/>
        </p:nvSpPr>
        <p:spPr>
          <a:xfrm>
            <a:off x="6236208"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7</a:t>
            </a:r>
            <a:endParaRPr lang="en-US" sz="900" dirty="0"/>
          </a:p>
        </p:txBody>
      </p:sp>
      <p:sp>
        <p:nvSpPr>
          <p:cNvPr id="20" name="Shape 18"/>
          <p:cNvSpPr/>
          <p:nvPr/>
        </p:nvSpPr>
        <p:spPr>
          <a:xfrm>
            <a:off x="6629400" y="1325880"/>
            <a:ext cx="393192" cy="251460"/>
          </a:xfrm>
          <a:prstGeom prst="rect">
            <a:avLst/>
          </a:prstGeom>
          <a:solidFill>
            <a:srgbClr val="1B2A4A"/>
          </a:solidFill>
          <a:ln w="12700">
            <a:solidFill>
              <a:srgbClr val="1B2A4A"/>
            </a:solidFill>
            <a:prstDash val="solid"/>
          </a:ln>
        </p:spPr>
      </p:sp>
      <p:sp>
        <p:nvSpPr>
          <p:cNvPr id="21" name="Text 19"/>
          <p:cNvSpPr/>
          <p:nvPr/>
        </p:nvSpPr>
        <p:spPr>
          <a:xfrm>
            <a:off x="6629400"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8</a:t>
            </a:r>
            <a:endParaRPr lang="en-US" sz="900" dirty="0"/>
          </a:p>
        </p:txBody>
      </p:sp>
      <p:sp>
        <p:nvSpPr>
          <p:cNvPr id="22" name="Shape 20"/>
          <p:cNvSpPr/>
          <p:nvPr/>
        </p:nvSpPr>
        <p:spPr>
          <a:xfrm>
            <a:off x="7022592" y="1325880"/>
            <a:ext cx="393192" cy="251460"/>
          </a:xfrm>
          <a:prstGeom prst="rect">
            <a:avLst/>
          </a:prstGeom>
          <a:solidFill>
            <a:srgbClr val="1B2A4A"/>
          </a:solidFill>
          <a:ln w="12700">
            <a:solidFill>
              <a:srgbClr val="1B2A4A"/>
            </a:solidFill>
            <a:prstDash val="solid"/>
          </a:ln>
        </p:spPr>
      </p:sp>
      <p:sp>
        <p:nvSpPr>
          <p:cNvPr id="23" name="Text 21"/>
          <p:cNvSpPr/>
          <p:nvPr/>
        </p:nvSpPr>
        <p:spPr>
          <a:xfrm>
            <a:off x="7022592"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9</a:t>
            </a:r>
            <a:endParaRPr lang="en-US" sz="900" dirty="0"/>
          </a:p>
        </p:txBody>
      </p:sp>
      <p:sp>
        <p:nvSpPr>
          <p:cNvPr id="24" name="Shape 22"/>
          <p:cNvSpPr/>
          <p:nvPr/>
        </p:nvSpPr>
        <p:spPr>
          <a:xfrm>
            <a:off x="7415784" y="1325880"/>
            <a:ext cx="393192" cy="251460"/>
          </a:xfrm>
          <a:prstGeom prst="rect">
            <a:avLst/>
          </a:prstGeom>
          <a:solidFill>
            <a:srgbClr val="1B2A4A"/>
          </a:solidFill>
          <a:ln w="12700">
            <a:solidFill>
              <a:srgbClr val="1B2A4A"/>
            </a:solidFill>
            <a:prstDash val="solid"/>
          </a:ln>
        </p:spPr>
      </p:sp>
      <p:sp>
        <p:nvSpPr>
          <p:cNvPr id="25" name="Text 23"/>
          <p:cNvSpPr/>
          <p:nvPr/>
        </p:nvSpPr>
        <p:spPr>
          <a:xfrm>
            <a:off x="7415784"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10</a:t>
            </a:r>
            <a:endParaRPr lang="en-US" sz="900" dirty="0"/>
          </a:p>
        </p:txBody>
      </p:sp>
      <p:sp>
        <p:nvSpPr>
          <p:cNvPr id="26" name="Shape 24"/>
          <p:cNvSpPr/>
          <p:nvPr/>
        </p:nvSpPr>
        <p:spPr>
          <a:xfrm>
            <a:off x="7808976" y="1325880"/>
            <a:ext cx="393192" cy="251460"/>
          </a:xfrm>
          <a:prstGeom prst="rect">
            <a:avLst/>
          </a:prstGeom>
          <a:solidFill>
            <a:srgbClr val="1B2A4A"/>
          </a:solidFill>
          <a:ln w="12700">
            <a:solidFill>
              <a:srgbClr val="1B2A4A"/>
            </a:solidFill>
            <a:prstDash val="solid"/>
          </a:ln>
        </p:spPr>
      </p:sp>
      <p:sp>
        <p:nvSpPr>
          <p:cNvPr id="27" name="Text 25"/>
          <p:cNvSpPr/>
          <p:nvPr/>
        </p:nvSpPr>
        <p:spPr>
          <a:xfrm>
            <a:off x="7808976"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11</a:t>
            </a:r>
            <a:endParaRPr lang="en-US" sz="900" dirty="0"/>
          </a:p>
        </p:txBody>
      </p:sp>
      <p:sp>
        <p:nvSpPr>
          <p:cNvPr id="28" name="Shape 26"/>
          <p:cNvSpPr/>
          <p:nvPr/>
        </p:nvSpPr>
        <p:spPr>
          <a:xfrm>
            <a:off x="8202168" y="1325880"/>
            <a:ext cx="393192" cy="251460"/>
          </a:xfrm>
          <a:prstGeom prst="rect">
            <a:avLst/>
          </a:prstGeom>
          <a:solidFill>
            <a:srgbClr val="1B2A4A"/>
          </a:solidFill>
          <a:ln w="12700">
            <a:solidFill>
              <a:srgbClr val="1B2A4A"/>
            </a:solidFill>
            <a:prstDash val="solid"/>
          </a:ln>
        </p:spPr>
      </p:sp>
      <p:sp>
        <p:nvSpPr>
          <p:cNvPr id="29" name="Text 27"/>
          <p:cNvSpPr/>
          <p:nvPr/>
        </p:nvSpPr>
        <p:spPr>
          <a:xfrm>
            <a:off x="8202168" y="1325880"/>
            <a:ext cx="393192" cy="251460"/>
          </a:xfrm>
          <a:prstGeom prst="rect">
            <a:avLst/>
          </a:prstGeom>
          <a:noFill/>
          <a:ln/>
        </p:spPr>
        <p:txBody>
          <a:bodyPr wrap="square" rtlCol="0" anchor="ctr"/>
          <a:lstStyle/>
          <a:p>
            <a:pPr algn="ctr" indent="0" marL="0">
              <a:buNone/>
            </a:pPr>
            <a:r>
              <a:rPr lang="en-US" sz="900" b="1" dirty="0">
                <a:solidFill>
                  <a:srgbClr val="AABCCC"/>
                </a:solidFill>
                <a:latin typeface="Calibri" pitchFamily="34" charset="0"/>
                <a:ea typeface="Calibri" pitchFamily="34" charset="-122"/>
                <a:cs typeface="Calibri" pitchFamily="34" charset="-120"/>
              </a:rPr>
              <a:t>12</a:t>
            </a:r>
            <a:endParaRPr lang="en-US" sz="900" dirty="0"/>
          </a:p>
        </p:txBody>
      </p:sp>
      <p:sp>
        <p:nvSpPr>
          <p:cNvPr id="30" name="Shape 28"/>
          <p:cNvSpPr/>
          <p:nvPr/>
        </p:nvSpPr>
        <p:spPr>
          <a:xfrm>
            <a:off x="347472" y="1577340"/>
            <a:ext cx="3474720" cy="251460"/>
          </a:xfrm>
          <a:prstGeom prst="rect">
            <a:avLst/>
          </a:prstGeom>
          <a:solidFill>
            <a:srgbClr val="ECFDF5"/>
          </a:solidFill>
          <a:ln w="3810">
            <a:solidFill>
              <a:srgbClr val="CBD5E1"/>
            </a:solidFill>
            <a:prstDash val="solid"/>
          </a:ln>
        </p:spPr>
      </p:sp>
      <p:sp>
        <p:nvSpPr>
          <p:cNvPr id="31" name="Text 29"/>
          <p:cNvSpPr/>
          <p:nvPr/>
        </p:nvSpPr>
        <p:spPr>
          <a:xfrm>
            <a:off x="402336" y="1577340"/>
            <a:ext cx="3383280" cy="251460"/>
          </a:xfrm>
          <a:prstGeom prst="rect">
            <a:avLst/>
          </a:prstGeom>
          <a:noFill/>
          <a:ln/>
        </p:spPr>
        <p:txBody>
          <a:bodyPr wrap="square"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 </a:t>
            </a:r>
            <a:pPr indent="0" marL="0">
              <a:buNone/>
            </a:pPr>
            <a:r>
              <a:rPr lang="en-US" sz="900" dirty="0">
                <a:solidFill>
                  <a:srgbClr val="1E293B"/>
                </a:solidFill>
                <a:latin typeface="Calibri" pitchFamily="34" charset="0"/>
                <a:ea typeface="Calibri" pitchFamily="34" charset="-122"/>
                <a:cs typeface="Calibri" pitchFamily="34" charset="-120"/>
              </a:rPr>
              <a:t>Revisión bibliográfica y diseño experimental</a:t>
            </a:r>
            <a:endParaRPr lang="en-US" sz="900" dirty="0"/>
          </a:p>
        </p:txBody>
      </p:sp>
      <p:sp>
        <p:nvSpPr>
          <p:cNvPr id="32" name="Shape 30"/>
          <p:cNvSpPr/>
          <p:nvPr/>
        </p:nvSpPr>
        <p:spPr>
          <a:xfrm>
            <a:off x="3877056" y="1577340"/>
            <a:ext cx="393192" cy="251460"/>
          </a:xfrm>
          <a:prstGeom prst="rect">
            <a:avLst/>
          </a:prstGeom>
          <a:solidFill>
            <a:srgbClr val="1A6B8A"/>
          </a:solidFill>
          <a:ln w="3810">
            <a:solidFill>
              <a:srgbClr val="CBD5E1"/>
            </a:solidFill>
            <a:prstDash val="solid"/>
          </a:ln>
        </p:spPr>
      </p:sp>
      <p:sp>
        <p:nvSpPr>
          <p:cNvPr id="33" name="Shape 31"/>
          <p:cNvSpPr/>
          <p:nvPr/>
        </p:nvSpPr>
        <p:spPr>
          <a:xfrm>
            <a:off x="4270248" y="1577340"/>
            <a:ext cx="393192" cy="251460"/>
          </a:xfrm>
          <a:prstGeom prst="rect">
            <a:avLst/>
          </a:prstGeom>
          <a:solidFill>
            <a:srgbClr val="1A6B8A"/>
          </a:solidFill>
          <a:ln w="3810">
            <a:solidFill>
              <a:srgbClr val="CBD5E1"/>
            </a:solidFill>
            <a:prstDash val="solid"/>
          </a:ln>
        </p:spPr>
      </p:sp>
      <p:sp>
        <p:nvSpPr>
          <p:cNvPr id="34" name="Shape 3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35" name="Shape 33"/>
          <p:cNvSpPr/>
          <p:nvPr/>
        </p:nvSpPr>
        <p:spPr>
          <a:xfrm>
            <a:off x="4663440" y="1577340"/>
            <a:ext cx="393192" cy="251460"/>
          </a:xfrm>
          <a:prstGeom prst="rect">
            <a:avLst/>
          </a:prstGeom>
          <a:solidFill>
            <a:srgbClr val="1A6B8A"/>
          </a:solidFill>
          <a:ln w="3810">
            <a:solidFill>
              <a:srgbClr val="CBD5E1"/>
            </a:solidFill>
            <a:prstDash val="solid"/>
          </a:ln>
        </p:spPr>
      </p:sp>
      <p:sp>
        <p:nvSpPr>
          <p:cNvPr id="36" name="Shape 34"/>
          <p:cNvSpPr/>
          <p:nvPr/>
        </p:nvSpPr>
        <p:spPr>
          <a:xfrm>
            <a:off x="5056632" y="1577340"/>
            <a:ext cx="393192" cy="251460"/>
          </a:xfrm>
          <a:prstGeom prst="rect">
            <a:avLst/>
          </a:prstGeom>
          <a:solidFill>
            <a:srgbClr val="ECFDF5"/>
          </a:solidFill>
          <a:ln w="3810">
            <a:solidFill>
              <a:srgbClr val="CBD5E1"/>
            </a:solidFill>
            <a:prstDash val="solid"/>
          </a:ln>
        </p:spPr>
      </p:sp>
      <p:sp>
        <p:nvSpPr>
          <p:cNvPr id="37" name="Shape 35"/>
          <p:cNvSpPr/>
          <p:nvPr/>
        </p:nvSpPr>
        <p:spPr>
          <a:xfrm>
            <a:off x="5449824" y="1577340"/>
            <a:ext cx="393192" cy="251460"/>
          </a:xfrm>
          <a:prstGeom prst="rect">
            <a:avLst/>
          </a:prstGeom>
          <a:solidFill>
            <a:srgbClr val="ECFDF5"/>
          </a:solidFill>
          <a:ln w="3810">
            <a:solidFill>
              <a:srgbClr val="CBD5E1"/>
            </a:solidFill>
            <a:prstDash val="solid"/>
          </a:ln>
        </p:spPr>
      </p:sp>
      <p:sp>
        <p:nvSpPr>
          <p:cNvPr id="38" name="Shape 36"/>
          <p:cNvSpPr/>
          <p:nvPr/>
        </p:nvSpPr>
        <p:spPr>
          <a:xfrm>
            <a:off x="5843016" y="1577340"/>
            <a:ext cx="393192" cy="251460"/>
          </a:xfrm>
          <a:prstGeom prst="rect">
            <a:avLst/>
          </a:prstGeom>
          <a:solidFill>
            <a:srgbClr val="ECFDF5"/>
          </a:solidFill>
          <a:ln w="3810">
            <a:solidFill>
              <a:srgbClr val="CBD5E1"/>
            </a:solidFill>
            <a:prstDash val="solid"/>
          </a:ln>
        </p:spPr>
      </p:sp>
      <p:sp>
        <p:nvSpPr>
          <p:cNvPr id="39" name="Shape 37"/>
          <p:cNvSpPr/>
          <p:nvPr/>
        </p:nvSpPr>
        <p:spPr>
          <a:xfrm>
            <a:off x="6236208" y="1577340"/>
            <a:ext cx="393192" cy="251460"/>
          </a:xfrm>
          <a:prstGeom prst="rect">
            <a:avLst/>
          </a:prstGeom>
          <a:solidFill>
            <a:srgbClr val="ECFDF5"/>
          </a:solidFill>
          <a:ln w="3810">
            <a:solidFill>
              <a:srgbClr val="CBD5E1"/>
            </a:solidFill>
            <a:prstDash val="solid"/>
          </a:ln>
        </p:spPr>
      </p:sp>
      <p:sp>
        <p:nvSpPr>
          <p:cNvPr id="40" name="Shape 38"/>
          <p:cNvSpPr/>
          <p:nvPr/>
        </p:nvSpPr>
        <p:spPr>
          <a:xfrm>
            <a:off x="6629400" y="1577340"/>
            <a:ext cx="393192" cy="251460"/>
          </a:xfrm>
          <a:prstGeom prst="rect">
            <a:avLst/>
          </a:prstGeom>
          <a:solidFill>
            <a:srgbClr val="ECFDF5"/>
          </a:solidFill>
          <a:ln w="3810">
            <a:solidFill>
              <a:srgbClr val="CBD5E1"/>
            </a:solidFill>
            <a:prstDash val="solid"/>
          </a:ln>
        </p:spPr>
      </p:sp>
      <p:sp>
        <p:nvSpPr>
          <p:cNvPr id="41" name="Shape 39"/>
          <p:cNvSpPr/>
          <p:nvPr/>
        </p:nvSpPr>
        <p:spPr>
          <a:xfrm>
            <a:off x="7022592" y="1577340"/>
            <a:ext cx="393192" cy="251460"/>
          </a:xfrm>
          <a:prstGeom prst="rect">
            <a:avLst/>
          </a:prstGeom>
          <a:solidFill>
            <a:srgbClr val="ECFDF5"/>
          </a:solidFill>
          <a:ln w="3810">
            <a:solidFill>
              <a:srgbClr val="CBD5E1"/>
            </a:solidFill>
            <a:prstDash val="solid"/>
          </a:ln>
        </p:spPr>
      </p:sp>
      <p:sp>
        <p:nvSpPr>
          <p:cNvPr id="42" name="Shape 40"/>
          <p:cNvSpPr/>
          <p:nvPr/>
        </p:nvSpPr>
        <p:spPr>
          <a:xfrm>
            <a:off x="7415784" y="1577340"/>
            <a:ext cx="393192" cy="251460"/>
          </a:xfrm>
          <a:prstGeom prst="rect">
            <a:avLst/>
          </a:prstGeom>
          <a:solidFill>
            <a:srgbClr val="ECFDF5"/>
          </a:solidFill>
          <a:ln w="3810">
            <a:solidFill>
              <a:srgbClr val="CBD5E1"/>
            </a:solidFill>
            <a:prstDash val="solid"/>
          </a:ln>
        </p:spPr>
      </p:sp>
      <p:sp>
        <p:nvSpPr>
          <p:cNvPr id="43" name="Shape 41"/>
          <p:cNvSpPr/>
          <p:nvPr/>
        </p:nvSpPr>
        <p:spPr>
          <a:xfrm>
            <a:off x="7808976" y="1577340"/>
            <a:ext cx="393192" cy="251460"/>
          </a:xfrm>
          <a:prstGeom prst="rect">
            <a:avLst/>
          </a:prstGeom>
          <a:solidFill>
            <a:srgbClr val="ECFDF5"/>
          </a:solidFill>
          <a:ln w="3810">
            <a:solidFill>
              <a:srgbClr val="CBD5E1"/>
            </a:solidFill>
            <a:prstDash val="solid"/>
          </a:ln>
        </p:spPr>
      </p:sp>
      <p:sp>
        <p:nvSpPr>
          <p:cNvPr id="44" name="Shape 42"/>
          <p:cNvSpPr/>
          <p:nvPr/>
        </p:nvSpPr>
        <p:spPr>
          <a:xfrm>
            <a:off x="8202168" y="1577340"/>
            <a:ext cx="393192" cy="251460"/>
          </a:xfrm>
          <a:prstGeom prst="rect">
            <a:avLst/>
          </a:prstGeom>
          <a:solidFill>
            <a:srgbClr val="ECFDF5"/>
          </a:solidFill>
          <a:ln w="3810">
            <a:solidFill>
              <a:srgbClr val="CBD5E1"/>
            </a:solidFill>
            <a:prstDash val="solid"/>
          </a:ln>
        </p:spPr>
      </p:sp>
      <p:sp>
        <p:nvSpPr>
          <p:cNvPr id="45" name="Shape 43"/>
          <p:cNvSpPr/>
          <p:nvPr/>
        </p:nvSpPr>
        <p:spPr>
          <a:xfrm>
            <a:off x="347472" y="1828800"/>
            <a:ext cx="3474720" cy="251460"/>
          </a:xfrm>
          <a:prstGeom prst="rect">
            <a:avLst/>
          </a:prstGeom>
          <a:solidFill>
            <a:srgbClr val="ECFDF5"/>
          </a:solidFill>
          <a:ln w="3810">
            <a:solidFill>
              <a:srgbClr val="CBD5E1"/>
            </a:solidFill>
            <a:prstDash val="solid"/>
          </a:ln>
        </p:spPr>
      </p:sp>
      <p:sp>
        <p:nvSpPr>
          <p:cNvPr id="46" name="Text 44"/>
          <p:cNvSpPr/>
          <p:nvPr/>
        </p:nvSpPr>
        <p:spPr>
          <a:xfrm>
            <a:off x="402336" y="1828800"/>
            <a:ext cx="3383280" cy="251460"/>
          </a:xfrm>
          <a:prstGeom prst="rect">
            <a:avLst/>
          </a:prstGeom>
          <a:noFill/>
          <a:ln/>
        </p:spPr>
        <p:txBody>
          <a:bodyPr wrap="square"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 </a:t>
            </a:r>
            <a:pPr indent="0" marL="0">
              <a:buNone/>
            </a:pPr>
            <a:r>
              <a:rPr lang="en-US" sz="900" dirty="0">
                <a:solidFill>
                  <a:srgbClr val="1E293B"/>
                </a:solidFill>
                <a:latin typeface="Calibri" pitchFamily="34" charset="0"/>
                <a:ea typeface="Calibri" pitchFamily="34" charset="-122"/>
                <a:cs typeface="Calibri" pitchFamily="34" charset="-120"/>
              </a:rPr>
              <a:t>Determinación de MIC y condiciones subinhibitorias</a:t>
            </a:r>
            <a:endParaRPr lang="en-US" sz="900" dirty="0"/>
          </a:p>
        </p:txBody>
      </p:sp>
      <p:sp>
        <p:nvSpPr>
          <p:cNvPr id="47" name="Shape 45"/>
          <p:cNvSpPr/>
          <p:nvPr/>
        </p:nvSpPr>
        <p:spPr>
          <a:xfrm>
            <a:off x="3877056" y="1828800"/>
            <a:ext cx="393192" cy="251460"/>
          </a:xfrm>
          <a:prstGeom prst="rect">
            <a:avLst/>
          </a:prstGeom>
          <a:solidFill>
            <a:srgbClr val="ECFDF5"/>
          </a:solidFill>
          <a:ln w="3810">
            <a:solidFill>
              <a:srgbClr val="CBD5E1"/>
            </a:solidFill>
            <a:prstDash val="solid"/>
          </a:ln>
        </p:spPr>
      </p:sp>
      <p:sp>
        <p:nvSpPr>
          <p:cNvPr id="48" name="Shape 46"/>
          <p:cNvSpPr/>
          <p:nvPr/>
        </p:nvSpPr>
        <p:spPr>
          <a:xfrm>
            <a:off x="4270248" y="1828800"/>
            <a:ext cx="393192" cy="251460"/>
          </a:xfrm>
          <a:prstGeom prst="rect">
            <a:avLst/>
          </a:prstGeom>
          <a:solidFill>
            <a:srgbClr val="ECFDF5"/>
          </a:solidFill>
          <a:ln w="3810">
            <a:solidFill>
              <a:srgbClr val="CBD5E1"/>
            </a:solidFill>
            <a:prstDash val="solid"/>
          </a:ln>
        </p:spPr>
      </p:sp>
      <p:sp>
        <p:nvSpPr>
          <p:cNvPr id="49" name="Shape 4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50" name="Shape 48"/>
          <p:cNvSpPr/>
          <p:nvPr/>
        </p:nvSpPr>
        <p:spPr>
          <a:xfrm>
            <a:off x="4663440" y="1828800"/>
            <a:ext cx="393192" cy="251460"/>
          </a:xfrm>
          <a:prstGeom prst="rect">
            <a:avLst/>
          </a:prstGeom>
          <a:solidFill>
            <a:srgbClr val="ECFDF5"/>
          </a:solidFill>
          <a:ln w="3810">
            <a:solidFill>
              <a:srgbClr val="CBD5E1"/>
            </a:solidFill>
            <a:prstDash val="solid"/>
          </a:ln>
        </p:spPr>
      </p:sp>
      <p:sp>
        <p:nvSpPr>
          <p:cNvPr id="51" name="Shape 49"/>
          <p:cNvSpPr/>
          <p:nvPr/>
        </p:nvSpPr>
        <p:spPr>
          <a:xfrm>
            <a:off x="5056632" y="1828800"/>
            <a:ext cx="393192" cy="251460"/>
          </a:xfrm>
          <a:prstGeom prst="rect">
            <a:avLst/>
          </a:prstGeom>
          <a:solidFill>
            <a:srgbClr val="1A6B8A"/>
          </a:solidFill>
          <a:ln w="3810">
            <a:solidFill>
              <a:srgbClr val="CBD5E1"/>
            </a:solidFill>
            <a:prstDash val="solid"/>
          </a:ln>
        </p:spPr>
      </p:sp>
      <p:sp>
        <p:nvSpPr>
          <p:cNvPr id="52" name="Shape 50"/>
          <p:cNvSpPr/>
          <p:nvPr/>
        </p:nvSpPr>
        <p:spPr>
          <a:xfrm>
            <a:off x="5449824" y="1828800"/>
            <a:ext cx="393192" cy="251460"/>
          </a:xfrm>
          <a:prstGeom prst="rect">
            <a:avLst/>
          </a:prstGeom>
          <a:solidFill>
            <a:srgbClr val="1A6B8A"/>
          </a:solidFill>
          <a:ln w="3810">
            <a:solidFill>
              <a:srgbClr val="CBD5E1"/>
            </a:solidFill>
            <a:prstDash val="solid"/>
          </a:ln>
        </p:spPr>
      </p:sp>
      <p:sp>
        <p:nvSpPr>
          <p:cNvPr id="53" name="Shape 51"/>
          <p:cNvSpPr/>
          <p:nvPr/>
        </p:nvSpPr>
        <p:spPr>
          <a:xfrm>
            <a:off x="5843016" y="1828800"/>
            <a:ext cx="393192" cy="251460"/>
          </a:xfrm>
          <a:prstGeom prst="rect">
            <a:avLst/>
          </a:prstGeom>
          <a:solidFill>
            <a:srgbClr val="ECFDF5"/>
          </a:solidFill>
          <a:ln w="3810">
            <a:solidFill>
              <a:srgbClr val="CBD5E1"/>
            </a:solidFill>
            <a:prstDash val="solid"/>
          </a:ln>
        </p:spPr>
      </p:sp>
      <p:sp>
        <p:nvSpPr>
          <p:cNvPr id="54" name="Shape 52"/>
          <p:cNvSpPr/>
          <p:nvPr/>
        </p:nvSpPr>
        <p:spPr>
          <a:xfrm>
            <a:off x="6236208" y="1828800"/>
            <a:ext cx="393192" cy="251460"/>
          </a:xfrm>
          <a:prstGeom prst="rect">
            <a:avLst/>
          </a:prstGeom>
          <a:solidFill>
            <a:srgbClr val="ECFDF5"/>
          </a:solidFill>
          <a:ln w="3810">
            <a:solidFill>
              <a:srgbClr val="CBD5E1"/>
            </a:solidFill>
            <a:prstDash val="solid"/>
          </a:ln>
        </p:spPr>
      </p:sp>
      <p:sp>
        <p:nvSpPr>
          <p:cNvPr id="55" name="Shape 53"/>
          <p:cNvSpPr/>
          <p:nvPr/>
        </p:nvSpPr>
        <p:spPr>
          <a:xfrm>
            <a:off x="6629400" y="1828800"/>
            <a:ext cx="393192" cy="251460"/>
          </a:xfrm>
          <a:prstGeom prst="rect">
            <a:avLst/>
          </a:prstGeom>
          <a:solidFill>
            <a:srgbClr val="ECFDF5"/>
          </a:solidFill>
          <a:ln w="3810">
            <a:solidFill>
              <a:srgbClr val="CBD5E1"/>
            </a:solidFill>
            <a:prstDash val="solid"/>
          </a:ln>
        </p:spPr>
      </p:sp>
      <p:sp>
        <p:nvSpPr>
          <p:cNvPr id="56" name="Shape 54"/>
          <p:cNvSpPr/>
          <p:nvPr/>
        </p:nvSpPr>
        <p:spPr>
          <a:xfrm>
            <a:off x="7022592" y="1828800"/>
            <a:ext cx="393192" cy="251460"/>
          </a:xfrm>
          <a:prstGeom prst="rect">
            <a:avLst/>
          </a:prstGeom>
          <a:solidFill>
            <a:srgbClr val="ECFDF5"/>
          </a:solidFill>
          <a:ln w="3810">
            <a:solidFill>
              <a:srgbClr val="CBD5E1"/>
            </a:solidFill>
            <a:prstDash val="solid"/>
          </a:ln>
        </p:spPr>
      </p:sp>
      <p:sp>
        <p:nvSpPr>
          <p:cNvPr id="57" name="Shape 55"/>
          <p:cNvSpPr/>
          <p:nvPr/>
        </p:nvSpPr>
        <p:spPr>
          <a:xfrm>
            <a:off x="7415784" y="1828800"/>
            <a:ext cx="393192" cy="251460"/>
          </a:xfrm>
          <a:prstGeom prst="rect">
            <a:avLst/>
          </a:prstGeom>
          <a:solidFill>
            <a:srgbClr val="ECFDF5"/>
          </a:solidFill>
          <a:ln w="3810">
            <a:solidFill>
              <a:srgbClr val="CBD5E1"/>
            </a:solidFill>
            <a:prstDash val="solid"/>
          </a:ln>
        </p:spPr>
      </p:sp>
      <p:sp>
        <p:nvSpPr>
          <p:cNvPr id="58" name="Shape 56"/>
          <p:cNvSpPr/>
          <p:nvPr/>
        </p:nvSpPr>
        <p:spPr>
          <a:xfrm>
            <a:off x="7808976" y="1828800"/>
            <a:ext cx="393192" cy="251460"/>
          </a:xfrm>
          <a:prstGeom prst="rect">
            <a:avLst/>
          </a:prstGeom>
          <a:solidFill>
            <a:srgbClr val="ECFDF5"/>
          </a:solidFill>
          <a:ln w="3810">
            <a:solidFill>
              <a:srgbClr val="CBD5E1"/>
            </a:solidFill>
            <a:prstDash val="solid"/>
          </a:ln>
        </p:spPr>
      </p:sp>
      <p:sp>
        <p:nvSpPr>
          <p:cNvPr id="59" name="Shape 57"/>
          <p:cNvSpPr/>
          <p:nvPr/>
        </p:nvSpPr>
        <p:spPr>
          <a:xfrm>
            <a:off x="8202168" y="1828800"/>
            <a:ext cx="393192" cy="251460"/>
          </a:xfrm>
          <a:prstGeom prst="rect">
            <a:avLst/>
          </a:prstGeom>
          <a:solidFill>
            <a:srgbClr val="ECFDF5"/>
          </a:solidFill>
          <a:ln w="3810">
            <a:solidFill>
              <a:srgbClr val="CBD5E1"/>
            </a:solidFill>
            <a:prstDash val="solid"/>
          </a:ln>
        </p:spPr>
      </p:sp>
      <p:sp>
        <p:nvSpPr>
          <p:cNvPr id="60" name="Shape 58"/>
          <p:cNvSpPr/>
          <p:nvPr/>
        </p:nvSpPr>
        <p:spPr>
          <a:xfrm>
            <a:off x="347472" y="2080260"/>
            <a:ext cx="3474720" cy="251460"/>
          </a:xfrm>
          <a:prstGeom prst="rect">
            <a:avLst/>
          </a:prstGeom>
          <a:solidFill>
            <a:srgbClr val="FFFFFF"/>
          </a:solidFill>
          <a:ln w="3810">
            <a:solidFill>
              <a:srgbClr val="CBD5E1"/>
            </a:solidFill>
            <a:prstDash val="solid"/>
          </a:ln>
        </p:spPr>
      </p:sp>
      <p:sp>
        <p:nvSpPr>
          <p:cNvPr id="61" name="Text 59"/>
          <p:cNvSpPr/>
          <p:nvPr/>
        </p:nvSpPr>
        <p:spPr>
          <a:xfrm>
            <a:off x="402336" y="208026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Optimización de extracción proteica</a:t>
            </a:r>
            <a:endParaRPr lang="en-US" sz="900" dirty="0"/>
          </a:p>
        </p:txBody>
      </p:sp>
      <p:sp>
        <p:nvSpPr>
          <p:cNvPr id="62" name="Shape 60"/>
          <p:cNvSpPr/>
          <p:nvPr/>
        </p:nvSpPr>
        <p:spPr>
          <a:xfrm>
            <a:off x="3877056" y="2080260"/>
            <a:ext cx="393192" cy="251460"/>
          </a:xfrm>
          <a:prstGeom prst="rect">
            <a:avLst/>
          </a:prstGeom>
          <a:solidFill>
            <a:srgbClr val="FFFFFF"/>
          </a:solidFill>
          <a:ln w="3810">
            <a:solidFill>
              <a:srgbClr val="CBD5E1"/>
            </a:solidFill>
            <a:prstDash val="solid"/>
          </a:ln>
        </p:spPr>
      </p:sp>
      <p:sp>
        <p:nvSpPr>
          <p:cNvPr id="63" name="Shape 61"/>
          <p:cNvSpPr/>
          <p:nvPr/>
        </p:nvSpPr>
        <p:spPr>
          <a:xfrm>
            <a:off x="4270248" y="2080260"/>
            <a:ext cx="393192" cy="251460"/>
          </a:xfrm>
          <a:prstGeom prst="rect">
            <a:avLst/>
          </a:prstGeom>
          <a:solidFill>
            <a:srgbClr val="FFFFFF"/>
          </a:solidFill>
          <a:ln w="3810">
            <a:solidFill>
              <a:srgbClr val="CBD5E1"/>
            </a:solidFill>
            <a:prstDash val="solid"/>
          </a:ln>
        </p:spPr>
      </p:sp>
      <p:sp>
        <p:nvSpPr>
          <p:cNvPr id="64" name="Shape 6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65" name="Shape 63"/>
          <p:cNvSpPr/>
          <p:nvPr/>
        </p:nvSpPr>
        <p:spPr>
          <a:xfrm>
            <a:off x="4663440" y="2080260"/>
            <a:ext cx="393192" cy="251460"/>
          </a:xfrm>
          <a:prstGeom prst="rect">
            <a:avLst/>
          </a:prstGeom>
          <a:solidFill>
            <a:srgbClr val="FFFFFF"/>
          </a:solidFill>
          <a:ln w="3810">
            <a:solidFill>
              <a:srgbClr val="CBD5E1"/>
            </a:solidFill>
            <a:prstDash val="solid"/>
          </a:ln>
        </p:spPr>
      </p:sp>
      <p:sp>
        <p:nvSpPr>
          <p:cNvPr id="66" name="Shape 64"/>
          <p:cNvSpPr/>
          <p:nvPr/>
        </p:nvSpPr>
        <p:spPr>
          <a:xfrm>
            <a:off x="5056632" y="2080260"/>
            <a:ext cx="393192" cy="251460"/>
          </a:xfrm>
          <a:prstGeom prst="rect">
            <a:avLst/>
          </a:prstGeom>
          <a:solidFill>
            <a:srgbClr val="FFFFFF"/>
          </a:solidFill>
          <a:ln w="3810">
            <a:solidFill>
              <a:srgbClr val="CBD5E1"/>
            </a:solidFill>
            <a:prstDash val="solid"/>
          </a:ln>
        </p:spPr>
      </p:sp>
      <p:sp>
        <p:nvSpPr>
          <p:cNvPr id="67" name="Shape 65"/>
          <p:cNvSpPr/>
          <p:nvPr/>
        </p:nvSpPr>
        <p:spPr>
          <a:xfrm>
            <a:off x="5449824" y="2080260"/>
            <a:ext cx="393192" cy="251460"/>
          </a:xfrm>
          <a:prstGeom prst="rect">
            <a:avLst/>
          </a:prstGeom>
          <a:solidFill>
            <a:srgbClr val="FFFFFF"/>
          </a:solidFill>
          <a:ln w="3810">
            <a:solidFill>
              <a:srgbClr val="CBD5E1"/>
            </a:solidFill>
            <a:prstDash val="solid"/>
          </a:ln>
        </p:spPr>
      </p:sp>
      <p:sp>
        <p:nvSpPr>
          <p:cNvPr id="68" name="Shape 66"/>
          <p:cNvSpPr/>
          <p:nvPr/>
        </p:nvSpPr>
        <p:spPr>
          <a:xfrm>
            <a:off x="5843016" y="2080260"/>
            <a:ext cx="393192" cy="251460"/>
          </a:xfrm>
          <a:prstGeom prst="rect">
            <a:avLst/>
          </a:prstGeom>
          <a:solidFill>
            <a:srgbClr val="94A3B8"/>
          </a:solidFill>
          <a:ln w="3810">
            <a:solidFill>
              <a:srgbClr val="CBD5E1"/>
            </a:solidFill>
            <a:prstDash val="solid"/>
          </a:ln>
        </p:spPr>
      </p:sp>
      <p:sp>
        <p:nvSpPr>
          <p:cNvPr id="69" name="Shape 67"/>
          <p:cNvSpPr/>
          <p:nvPr/>
        </p:nvSpPr>
        <p:spPr>
          <a:xfrm>
            <a:off x="6236208" y="2080260"/>
            <a:ext cx="393192" cy="251460"/>
          </a:xfrm>
          <a:prstGeom prst="rect">
            <a:avLst/>
          </a:prstGeom>
          <a:solidFill>
            <a:srgbClr val="94A3B8"/>
          </a:solidFill>
          <a:ln w="3810">
            <a:solidFill>
              <a:srgbClr val="CBD5E1"/>
            </a:solidFill>
            <a:prstDash val="solid"/>
          </a:ln>
        </p:spPr>
      </p:sp>
      <p:sp>
        <p:nvSpPr>
          <p:cNvPr id="70" name="Shape 68"/>
          <p:cNvSpPr/>
          <p:nvPr/>
        </p:nvSpPr>
        <p:spPr>
          <a:xfrm>
            <a:off x="6629400" y="2080260"/>
            <a:ext cx="393192" cy="251460"/>
          </a:xfrm>
          <a:prstGeom prst="rect">
            <a:avLst/>
          </a:prstGeom>
          <a:solidFill>
            <a:srgbClr val="FFFFFF"/>
          </a:solidFill>
          <a:ln w="3810">
            <a:solidFill>
              <a:srgbClr val="CBD5E1"/>
            </a:solidFill>
            <a:prstDash val="solid"/>
          </a:ln>
        </p:spPr>
      </p:sp>
      <p:sp>
        <p:nvSpPr>
          <p:cNvPr id="71" name="Shape 69"/>
          <p:cNvSpPr/>
          <p:nvPr/>
        </p:nvSpPr>
        <p:spPr>
          <a:xfrm>
            <a:off x="7022592" y="2080260"/>
            <a:ext cx="393192" cy="251460"/>
          </a:xfrm>
          <a:prstGeom prst="rect">
            <a:avLst/>
          </a:prstGeom>
          <a:solidFill>
            <a:srgbClr val="FFFFFF"/>
          </a:solidFill>
          <a:ln w="3810">
            <a:solidFill>
              <a:srgbClr val="CBD5E1"/>
            </a:solidFill>
            <a:prstDash val="solid"/>
          </a:ln>
        </p:spPr>
      </p:sp>
      <p:sp>
        <p:nvSpPr>
          <p:cNvPr id="72" name="Shape 70"/>
          <p:cNvSpPr/>
          <p:nvPr/>
        </p:nvSpPr>
        <p:spPr>
          <a:xfrm>
            <a:off x="7415784" y="2080260"/>
            <a:ext cx="393192" cy="251460"/>
          </a:xfrm>
          <a:prstGeom prst="rect">
            <a:avLst/>
          </a:prstGeom>
          <a:solidFill>
            <a:srgbClr val="FFFFFF"/>
          </a:solidFill>
          <a:ln w="3810">
            <a:solidFill>
              <a:srgbClr val="CBD5E1"/>
            </a:solidFill>
            <a:prstDash val="solid"/>
          </a:ln>
        </p:spPr>
      </p:sp>
      <p:sp>
        <p:nvSpPr>
          <p:cNvPr id="73" name="Shape 71"/>
          <p:cNvSpPr/>
          <p:nvPr/>
        </p:nvSpPr>
        <p:spPr>
          <a:xfrm>
            <a:off x="7808976" y="2080260"/>
            <a:ext cx="393192" cy="251460"/>
          </a:xfrm>
          <a:prstGeom prst="rect">
            <a:avLst/>
          </a:prstGeom>
          <a:solidFill>
            <a:srgbClr val="FFFFFF"/>
          </a:solidFill>
          <a:ln w="3810">
            <a:solidFill>
              <a:srgbClr val="CBD5E1"/>
            </a:solidFill>
            <a:prstDash val="solid"/>
          </a:ln>
        </p:spPr>
      </p:sp>
      <p:sp>
        <p:nvSpPr>
          <p:cNvPr id="74" name="Shape 72"/>
          <p:cNvSpPr/>
          <p:nvPr/>
        </p:nvSpPr>
        <p:spPr>
          <a:xfrm>
            <a:off x="8202168" y="2080260"/>
            <a:ext cx="393192" cy="251460"/>
          </a:xfrm>
          <a:prstGeom prst="rect">
            <a:avLst/>
          </a:prstGeom>
          <a:solidFill>
            <a:srgbClr val="FFFFFF"/>
          </a:solidFill>
          <a:ln w="3810">
            <a:solidFill>
              <a:srgbClr val="CBD5E1"/>
            </a:solidFill>
            <a:prstDash val="solid"/>
          </a:ln>
        </p:spPr>
      </p:sp>
      <p:sp>
        <p:nvSpPr>
          <p:cNvPr id="75" name="Shape 73"/>
          <p:cNvSpPr/>
          <p:nvPr/>
        </p:nvSpPr>
        <p:spPr>
          <a:xfrm>
            <a:off x="347472" y="2331720"/>
            <a:ext cx="3474720" cy="251460"/>
          </a:xfrm>
          <a:prstGeom prst="rect">
            <a:avLst/>
          </a:prstGeom>
          <a:solidFill>
            <a:srgbClr val="ECFDF5"/>
          </a:solidFill>
          <a:ln w="3810">
            <a:solidFill>
              <a:srgbClr val="CBD5E1"/>
            </a:solidFill>
            <a:prstDash val="solid"/>
          </a:ln>
        </p:spPr>
      </p:sp>
      <p:sp>
        <p:nvSpPr>
          <p:cNvPr id="76" name="Text 74"/>
          <p:cNvSpPr/>
          <p:nvPr/>
        </p:nvSpPr>
        <p:spPr>
          <a:xfrm>
            <a:off x="402336" y="2331720"/>
            <a:ext cx="3383280" cy="251460"/>
          </a:xfrm>
          <a:prstGeom prst="rect">
            <a:avLst/>
          </a:prstGeom>
          <a:noFill/>
          <a:ln/>
        </p:spPr>
        <p:txBody>
          <a:bodyPr wrap="square" rtlCol="0" anchor="ctr"/>
          <a:lstStyle/>
          <a:p>
            <a:pPr indent="0" marL="0">
              <a:buNone/>
            </a:pPr>
            <a:r>
              <a:rPr lang="en-US" sz="900" b="1" dirty="0">
                <a:solidFill>
                  <a:srgbClr val="16A34A"/>
                </a:solidFill>
                <a:latin typeface="Calibri" pitchFamily="34" charset="0"/>
                <a:ea typeface="Calibri" pitchFamily="34" charset="-122"/>
                <a:cs typeface="Calibri" pitchFamily="34" charset="-120"/>
              </a:rPr>
              <a:t>● </a:t>
            </a:r>
            <a:pPr indent="0" marL="0">
              <a:buNone/>
            </a:pPr>
            <a:r>
              <a:rPr lang="en-US" sz="900" dirty="0">
                <a:solidFill>
                  <a:srgbClr val="1E293B"/>
                </a:solidFill>
                <a:latin typeface="Calibri" pitchFamily="34" charset="0"/>
                <a:ea typeface="Calibri" pitchFamily="34" charset="-122"/>
                <a:cs typeface="Calibri" pitchFamily="34" charset="-120"/>
              </a:rPr>
              <a:t>Puesta a punto estrategia DIA</a:t>
            </a:r>
            <a:endParaRPr lang="en-US" sz="900" dirty="0"/>
          </a:p>
        </p:txBody>
      </p:sp>
      <p:sp>
        <p:nvSpPr>
          <p:cNvPr id="77" name="Shape 75"/>
          <p:cNvSpPr/>
          <p:nvPr/>
        </p:nvSpPr>
        <p:spPr>
          <a:xfrm>
            <a:off x="3877056" y="2331720"/>
            <a:ext cx="393192" cy="251460"/>
          </a:xfrm>
          <a:prstGeom prst="rect">
            <a:avLst/>
          </a:prstGeom>
          <a:solidFill>
            <a:srgbClr val="ECFDF5"/>
          </a:solidFill>
          <a:ln w="3810">
            <a:solidFill>
              <a:srgbClr val="CBD5E1"/>
            </a:solidFill>
            <a:prstDash val="solid"/>
          </a:ln>
        </p:spPr>
      </p:sp>
      <p:sp>
        <p:nvSpPr>
          <p:cNvPr id="78" name="Shape 76"/>
          <p:cNvSpPr/>
          <p:nvPr/>
        </p:nvSpPr>
        <p:spPr>
          <a:xfrm>
            <a:off x="4270248" y="2331720"/>
            <a:ext cx="393192" cy="251460"/>
          </a:xfrm>
          <a:prstGeom prst="rect">
            <a:avLst/>
          </a:prstGeom>
          <a:solidFill>
            <a:srgbClr val="ECFDF5"/>
          </a:solidFill>
          <a:ln w="3810">
            <a:solidFill>
              <a:srgbClr val="CBD5E1"/>
            </a:solidFill>
            <a:prstDash val="solid"/>
          </a:ln>
        </p:spPr>
      </p:sp>
      <p:sp>
        <p:nvSpPr>
          <p:cNvPr id="79" name="Shape 7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80" name="Shape 78"/>
          <p:cNvSpPr/>
          <p:nvPr/>
        </p:nvSpPr>
        <p:spPr>
          <a:xfrm>
            <a:off x="4663440" y="2331720"/>
            <a:ext cx="393192" cy="251460"/>
          </a:xfrm>
          <a:prstGeom prst="rect">
            <a:avLst/>
          </a:prstGeom>
          <a:solidFill>
            <a:srgbClr val="ECFDF5"/>
          </a:solidFill>
          <a:ln w="3810">
            <a:solidFill>
              <a:srgbClr val="CBD5E1"/>
            </a:solidFill>
            <a:prstDash val="solid"/>
          </a:ln>
        </p:spPr>
      </p:sp>
      <p:sp>
        <p:nvSpPr>
          <p:cNvPr id="81" name="Shape 79"/>
          <p:cNvSpPr/>
          <p:nvPr/>
        </p:nvSpPr>
        <p:spPr>
          <a:xfrm>
            <a:off x="5056632" y="2331720"/>
            <a:ext cx="393192" cy="251460"/>
          </a:xfrm>
          <a:prstGeom prst="rect">
            <a:avLst/>
          </a:prstGeom>
          <a:solidFill>
            <a:srgbClr val="ECFDF5"/>
          </a:solidFill>
          <a:ln w="3810">
            <a:solidFill>
              <a:srgbClr val="CBD5E1"/>
            </a:solidFill>
            <a:prstDash val="solid"/>
          </a:ln>
        </p:spPr>
      </p:sp>
      <p:sp>
        <p:nvSpPr>
          <p:cNvPr id="82" name="Shape 80"/>
          <p:cNvSpPr/>
          <p:nvPr/>
        </p:nvSpPr>
        <p:spPr>
          <a:xfrm>
            <a:off x="5449824" y="2331720"/>
            <a:ext cx="393192" cy="251460"/>
          </a:xfrm>
          <a:prstGeom prst="rect">
            <a:avLst/>
          </a:prstGeom>
          <a:solidFill>
            <a:srgbClr val="ECFDF5"/>
          </a:solidFill>
          <a:ln w="3810">
            <a:solidFill>
              <a:srgbClr val="CBD5E1"/>
            </a:solidFill>
            <a:prstDash val="solid"/>
          </a:ln>
        </p:spPr>
      </p:sp>
      <p:sp>
        <p:nvSpPr>
          <p:cNvPr id="83" name="Shape 81"/>
          <p:cNvSpPr/>
          <p:nvPr/>
        </p:nvSpPr>
        <p:spPr>
          <a:xfrm>
            <a:off x="5843016" y="2331720"/>
            <a:ext cx="393192" cy="251460"/>
          </a:xfrm>
          <a:prstGeom prst="rect">
            <a:avLst/>
          </a:prstGeom>
          <a:solidFill>
            <a:srgbClr val="ECFDF5"/>
          </a:solidFill>
          <a:ln w="3810">
            <a:solidFill>
              <a:srgbClr val="CBD5E1"/>
            </a:solidFill>
            <a:prstDash val="solid"/>
          </a:ln>
        </p:spPr>
      </p:sp>
      <p:sp>
        <p:nvSpPr>
          <p:cNvPr id="84" name="Shape 82"/>
          <p:cNvSpPr/>
          <p:nvPr/>
        </p:nvSpPr>
        <p:spPr>
          <a:xfrm>
            <a:off x="6236208" y="2331720"/>
            <a:ext cx="393192" cy="251460"/>
          </a:xfrm>
          <a:prstGeom prst="rect">
            <a:avLst/>
          </a:prstGeom>
          <a:solidFill>
            <a:srgbClr val="ECFDF5"/>
          </a:solidFill>
          <a:ln w="3810">
            <a:solidFill>
              <a:srgbClr val="CBD5E1"/>
            </a:solidFill>
            <a:prstDash val="solid"/>
          </a:ln>
        </p:spPr>
      </p:sp>
      <p:sp>
        <p:nvSpPr>
          <p:cNvPr id="85" name="Shape 83"/>
          <p:cNvSpPr/>
          <p:nvPr/>
        </p:nvSpPr>
        <p:spPr>
          <a:xfrm>
            <a:off x="6629400" y="2331720"/>
            <a:ext cx="393192" cy="251460"/>
          </a:xfrm>
          <a:prstGeom prst="rect">
            <a:avLst/>
          </a:prstGeom>
          <a:solidFill>
            <a:srgbClr val="1A6B8A"/>
          </a:solidFill>
          <a:ln w="3810">
            <a:solidFill>
              <a:srgbClr val="CBD5E1"/>
            </a:solidFill>
            <a:prstDash val="solid"/>
          </a:ln>
        </p:spPr>
      </p:sp>
      <p:sp>
        <p:nvSpPr>
          <p:cNvPr id="86" name="Shape 84"/>
          <p:cNvSpPr/>
          <p:nvPr/>
        </p:nvSpPr>
        <p:spPr>
          <a:xfrm>
            <a:off x="7022592" y="2331720"/>
            <a:ext cx="393192" cy="251460"/>
          </a:xfrm>
          <a:prstGeom prst="rect">
            <a:avLst/>
          </a:prstGeom>
          <a:solidFill>
            <a:srgbClr val="1A6B8A"/>
          </a:solidFill>
          <a:ln w="3810">
            <a:solidFill>
              <a:srgbClr val="CBD5E1"/>
            </a:solidFill>
            <a:prstDash val="solid"/>
          </a:ln>
        </p:spPr>
      </p:sp>
      <p:sp>
        <p:nvSpPr>
          <p:cNvPr id="87" name="Shape 85"/>
          <p:cNvSpPr/>
          <p:nvPr/>
        </p:nvSpPr>
        <p:spPr>
          <a:xfrm>
            <a:off x="7415784" y="2331720"/>
            <a:ext cx="393192" cy="251460"/>
          </a:xfrm>
          <a:prstGeom prst="rect">
            <a:avLst/>
          </a:prstGeom>
          <a:solidFill>
            <a:srgbClr val="1A6B8A"/>
          </a:solidFill>
          <a:ln w="3810">
            <a:solidFill>
              <a:srgbClr val="CBD5E1"/>
            </a:solidFill>
            <a:prstDash val="solid"/>
          </a:ln>
        </p:spPr>
      </p:sp>
      <p:sp>
        <p:nvSpPr>
          <p:cNvPr id="88" name="Shape 86"/>
          <p:cNvSpPr/>
          <p:nvPr/>
        </p:nvSpPr>
        <p:spPr>
          <a:xfrm>
            <a:off x="7808976" y="2331720"/>
            <a:ext cx="393192" cy="251460"/>
          </a:xfrm>
          <a:prstGeom prst="rect">
            <a:avLst/>
          </a:prstGeom>
          <a:solidFill>
            <a:srgbClr val="ECFDF5"/>
          </a:solidFill>
          <a:ln w="3810">
            <a:solidFill>
              <a:srgbClr val="CBD5E1"/>
            </a:solidFill>
            <a:prstDash val="solid"/>
          </a:ln>
        </p:spPr>
      </p:sp>
      <p:sp>
        <p:nvSpPr>
          <p:cNvPr id="89" name="Shape 87"/>
          <p:cNvSpPr/>
          <p:nvPr/>
        </p:nvSpPr>
        <p:spPr>
          <a:xfrm>
            <a:off x="8202168" y="2331720"/>
            <a:ext cx="393192" cy="251460"/>
          </a:xfrm>
          <a:prstGeom prst="rect">
            <a:avLst/>
          </a:prstGeom>
          <a:solidFill>
            <a:srgbClr val="ECFDF5"/>
          </a:solidFill>
          <a:ln w="3810">
            <a:solidFill>
              <a:srgbClr val="CBD5E1"/>
            </a:solidFill>
            <a:prstDash val="solid"/>
          </a:ln>
        </p:spPr>
      </p:sp>
      <p:sp>
        <p:nvSpPr>
          <p:cNvPr id="90" name="Shape 88"/>
          <p:cNvSpPr/>
          <p:nvPr/>
        </p:nvSpPr>
        <p:spPr>
          <a:xfrm>
            <a:off x="347472" y="2583180"/>
            <a:ext cx="3474720" cy="251460"/>
          </a:xfrm>
          <a:prstGeom prst="rect">
            <a:avLst/>
          </a:prstGeom>
          <a:solidFill>
            <a:srgbClr val="FFFFFF"/>
          </a:solidFill>
          <a:ln w="3810">
            <a:solidFill>
              <a:srgbClr val="CBD5E1"/>
            </a:solidFill>
            <a:prstDash val="solid"/>
          </a:ln>
        </p:spPr>
      </p:sp>
      <p:sp>
        <p:nvSpPr>
          <p:cNvPr id="91" name="Text 89"/>
          <p:cNvSpPr/>
          <p:nvPr/>
        </p:nvSpPr>
        <p:spPr>
          <a:xfrm>
            <a:off x="402336" y="258318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Generación de muestras biológicas</a:t>
            </a:r>
            <a:endParaRPr lang="en-US" sz="900" dirty="0"/>
          </a:p>
        </p:txBody>
      </p:sp>
      <p:sp>
        <p:nvSpPr>
          <p:cNvPr id="92" name="Shape 90"/>
          <p:cNvSpPr/>
          <p:nvPr/>
        </p:nvSpPr>
        <p:spPr>
          <a:xfrm>
            <a:off x="3877056" y="2583180"/>
            <a:ext cx="393192" cy="251460"/>
          </a:xfrm>
          <a:prstGeom prst="rect">
            <a:avLst/>
          </a:prstGeom>
          <a:solidFill>
            <a:srgbClr val="FFFFFF"/>
          </a:solidFill>
          <a:ln w="3810">
            <a:solidFill>
              <a:srgbClr val="CBD5E1"/>
            </a:solidFill>
            <a:prstDash val="solid"/>
          </a:ln>
        </p:spPr>
      </p:sp>
      <p:sp>
        <p:nvSpPr>
          <p:cNvPr id="93" name="Shape 91"/>
          <p:cNvSpPr/>
          <p:nvPr/>
        </p:nvSpPr>
        <p:spPr>
          <a:xfrm>
            <a:off x="4270248" y="2583180"/>
            <a:ext cx="393192" cy="251460"/>
          </a:xfrm>
          <a:prstGeom prst="rect">
            <a:avLst/>
          </a:prstGeom>
          <a:solidFill>
            <a:srgbClr val="FFFFFF"/>
          </a:solidFill>
          <a:ln w="3810">
            <a:solidFill>
              <a:srgbClr val="CBD5E1"/>
            </a:solidFill>
            <a:prstDash val="solid"/>
          </a:ln>
        </p:spPr>
      </p:sp>
      <p:sp>
        <p:nvSpPr>
          <p:cNvPr id="94" name="Shape 9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95" name="Shape 93"/>
          <p:cNvSpPr/>
          <p:nvPr/>
        </p:nvSpPr>
        <p:spPr>
          <a:xfrm>
            <a:off x="4663440" y="2583180"/>
            <a:ext cx="393192" cy="251460"/>
          </a:xfrm>
          <a:prstGeom prst="rect">
            <a:avLst/>
          </a:prstGeom>
          <a:solidFill>
            <a:srgbClr val="FFFFFF"/>
          </a:solidFill>
          <a:ln w="3810">
            <a:solidFill>
              <a:srgbClr val="CBD5E1"/>
            </a:solidFill>
            <a:prstDash val="solid"/>
          </a:ln>
        </p:spPr>
      </p:sp>
      <p:sp>
        <p:nvSpPr>
          <p:cNvPr id="96" name="Shape 94"/>
          <p:cNvSpPr/>
          <p:nvPr/>
        </p:nvSpPr>
        <p:spPr>
          <a:xfrm>
            <a:off x="5056632" y="2583180"/>
            <a:ext cx="393192" cy="251460"/>
          </a:xfrm>
          <a:prstGeom prst="rect">
            <a:avLst/>
          </a:prstGeom>
          <a:solidFill>
            <a:srgbClr val="FFFFFF"/>
          </a:solidFill>
          <a:ln w="3810">
            <a:solidFill>
              <a:srgbClr val="CBD5E1"/>
            </a:solidFill>
            <a:prstDash val="solid"/>
          </a:ln>
        </p:spPr>
      </p:sp>
      <p:sp>
        <p:nvSpPr>
          <p:cNvPr id="97" name="Shape 95"/>
          <p:cNvSpPr/>
          <p:nvPr/>
        </p:nvSpPr>
        <p:spPr>
          <a:xfrm>
            <a:off x="5449824" y="2583180"/>
            <a:ext cx="393192" cy="251460"/>
          </a:xfrm>
          <a:prstGeom prst="rect">
            <a:avLst/>
          </a:prstGeom>
          <a:solidFill>
            <a:srgbClr val="FFFFFF"/>
          </a:solidFill>
          <a:ln w="3810">
            <a:solidFill>
              <a:srgbClr val="CBD5E1"/>
            </a:solidFill>
            <a:prstDash val="solid"/>
          </a:ln>
        </p:spPr>
      </p:sp>
      <p:sp>
        <p:nvSpPr>
          <p:cNvPr id="98" name="Shape 96"/>
          <p:cNvSpPr/>
          <p:nvPr/>
        </p:nvSpPr>
        <p:spPr>
          <a:xfrm>
            <a:off x="5843016" y="2583180"/>
            <a:ext cx="393192" cy="251460"/>
          </a:xfrm>
          <a:prstGeom prst="rect">
            <a:avLst/>
          </a:prstGeom>
          <a:solidFill>
            <a:srgbClr val="FFFFFF"/>
          </a:solidFill>
          <a:ln w="3810">
            <a:solidFill>
              <a:srgbClr val="CBD5E1"/>
            </a:solidFill>
            <a:prstDash val="solid"/>
          </a:ln>
        </p:spPr>
      </p:sp>
      <p:sp>
        <p:nvSpPr>
          <p:cNvPr id="99" name="Shape 97"/>
          <p:cNvSpPr/>
          <p:nvPr/>
        </p:nvSpPr>
        <p:spPr>
          <a:xfrm>
            <a:off x="6236208" y="2583180"/>
            <a:ext cx="393192" cy="251460"/>
          </a:xfrm>
          <a:prstGeom prst="rect">
            <a:avLst/>
          </a:prstGeom>
          <a:solidFill>
            <a:srgbClr val="FFFFFF"/>
          </a:solidFill>
          <a:ln w="3810">
            <a:solidFill>
              <a:srgbClr val="CBD5E1"/>
            </a:solidFill>
            <a:prstDash val="solid"/>
          </a:ln>
        </p:spPr>
      </p:sp>
      <p:sp>
        <p:nvSpPr>
          <p:cNvPr id="100" name="Shape 98"/>
          <p:cNvSpPr/>
          <p:nvPr/>
        </p:nvSpPr>
        <p:spPr>
          <a:xfrm>
            <a:off x="6629400" y="2583180"/>
            <a:ext cx="393192" cy="251460"/>
          </a:xfrm>
          <a:prstGeom prst="rect">
            <a:avLst/>
          </a:prstGeom>
          <a:solidFill>
            <a:srgbClr val="FFFFFF"/>
          </a:solidFill>
          <a:ln w="3810">
            <a:solidFill>
              <a:srgbClr val="CBD5E1"/>
            </a:solidFill>
            <a:prstDash val="solid"/>
          </a:ln>
        </p:spPr>
      </p:sp>
      <p:sp>
        <p:nvSpPr>
          <p:cNvPr id="101" name="Shape 99"/>
          <p:cNvSpPr/>
          <p:nvPr/>
        </p:nvSpPr>
        <p:spPr>
          <a:xfrm>
            <a:off x="7022592" y="2583180"/>
            <a:ext cx="393192" cy="251460"/>
          </a:xfrm>
          <a:prstGeom prst="rect">
            <a:avLst/>
          </a:prstGeom>
          <a:solidFill>
            <a:srgbClr val="94A3B8"/>
          </a:solidFill>
          <a:ln w="3810">
            <a:solidFill>
              <a:srgbClr val="CBD5E1"/>
            </a:solidFill>
            <a:prstDash val="solid"/>
          </a:ln>
        </p:spPr>
      </p:sp>
      <p:sp>
        <p:nvSpPr>
          <p:cNvPr id="102" name="Shape 100"/>
          <p:cNvSpPr/>
          <p:nvPr/>
        </p:nvSpPr>
        <p:spPr>
          <a:xfrm>
            <a:off x="7415784" y="2583180"/>
            <a:ext cx="393192" cy="251460"/>
          </a:xfrm>
          <a:prstGeom prst="rect">
            <a:avLst/>
          </a:prstGeom>
          <a:solidFill>
            <a:srgbClr val="94A3B8"/>
          </a:solidFill>
          <a:ln w="3810">
            <a:solidFill>
              <a:srgbClr val="CBD5E1"/>
            </a:solidFill>
            <a:prstDash val="solid"/>
          </a:ln>
        </p:spPr>
      </p:sp>
      <p:sp>
        <p:nvSpPr>
          <p:cNvPr id="103" name="Shape 101"/>
          <p:cNvSpPr/>
          <p:nvPr/>
        </p:nvSpPr>
        <p:spPr>
          <a:xfrm>
            <a:off x="7808976" y="2583180"/>
            <a:ext cx="393192" cy="251460"/>
          </a:xfrm>
          <a:prstGeom prst="rect">
            <a:avLst/>
          </a:prstGeom>
          <a:solidFill>
            <a:srgbClr val="FFFFFF"/>
          </a:solidFill>
          <a:ln w="3810">
            <a:solidFill>
              <a:srgbClr val="CBD5E1"/>
            </a:solidFill>
            <a:prstDash val="solid"/>
          </a:ln>
        </p:spPr>
      </p:sp>
      <p:sp>
        <p:nvSpPr>
          <p:cNvPr id="104" name="Shape 102"/>
          <p:cNvSpPr/>
          <p:nvPr/>
        </p:nvSpPr>
        <p:spPr>
          <a:xfrm>
            <a:off x="8202168" y="2583180"/>
            <a:ext cx="393192" cy="251460"/>
          </a:xfrm>
          <a:prstGeom prst="rect">
            <a:avLst/>
          </a:prstGeom>
          <a:solidFill>
            <a:srgbClr val="FFFFFF"/>
          </a:solidFill>
          <a:ln w="3810">
            <a:solidFill>
              <a:srgbClr val="CBD5E1"/>
            </a:solidFill>
            <a:prstDash val="solid"/>
          </a:ln>
        </p:spPr>
      </p:sp>
      <p:sp>
        <p:nvSpPr>
          <p:cNvPr id="105" name="Shape 103"/>
          <p:cNvSpPr/>
          <p:nvPr/>
        </p:nvSpPr>
        <p:spPr>
          <a:xfrm>
            <a:off x="347472" y="2834640"/>
            <a:ext cx="3474720" cy="251460"/>
          </a:xfrm>
          <a:prstGeom prst="rect">
            <a:avLst/>
          </a:prstGeom>
          <a:solidFill>
            <a:srgbClr val="E8F0F5"/>
          </a:solidFill>
          <a:ln w="3810">
            <a:solidFill>
              <a:srgbClr val="CBD5E1"/>
            </a:solidFill>
            <a:prstDash val="solid"/>
          </a:ln>
        </p:spPr>
      </p:sp>
      <p:sp>
        <p:nvSpPr>
          <p:cNvPr id="106" name="Text 104"/>
          <p:cNvSpPr/>
          <p:nvPr/>
        </p:nvSpPr>
        <p:spPr>
          <a:xfrm>
            <a:off x="402336" y="283464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Adquisición LC-MS/MS en modo DIA</a:t>
            </a:r>
            <a:endParaRPr lang="en-US" sz="900" dirty="0"/>
          </a:p>
        </p:txBody>
      </p:sp>
      <p:sp>
        <p:nvSpPr>
          <p:cNvPr id="107" name="Shape 105"/>
          <p:cNvSpPr/>
          <p:nvPr/>
        </p:nvSpPr>
        <p:spPr>
          <a:xfrm>
            <a:off x="3877056" y="2834640"/>
            <a:ext cx="393192" cy="251460"/>
          </a:xfrm>
          <a:prstGeom prst="rect">
            <a:avLst/>
          </a:prstGeom>
          <a:solidFill>
            <a:srgbClr val="E8F0F5"/>
          </a:solidFill>
          <a:ln w="3810">
            <a:solidFill>
              <a:srgbClr val="CBD5E1"/>
            </a:solidFill>
            <a:prstDash val="solid"/>
          </a:ln>
        </p:spPr>
      </p:sp>
      <p:sp>
        <p:nvSpPr>
          <p:cNvPr id="108" name="Shape 106"/>
          <p:cNvSpPr/>
          <p:nvPr/>
        </p:nvSpPr>
        <p:spPr>
          <a:xfrm>
            <a:off x="4270248" y="2834640"/>
            <a:ext cx="393192" cy="251460"/>
          </a:xfrm>
          <a:prstGeom prst="rect">
            <a:avLst/>
          </a:prstGeom>
          <a:solidFill>
            <a:srgbClr val="E8F0F5"/>
          </a:solidFill>
          <a:ln w="3810">
            <a:solidFill>
              <a:srgbClr val="CBD5E1"/>
            </a:solidFill>
            <a:prstDash val="solid"/>
          </a:ln>
        </p:spPr>
      </p:sp>
      <p:sp>
        <p:nvSpPr>
          <p:cNvPr id="109" name="Shape 10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10" name="Shape 108"/>
          <p:cNvSpPr/>
          <p:nvPr/>
        </p:nvSpPr>
        <p:spPr>
          <a:xfrm>
            <a:off x="4663440" y="2834640"/>
            <a:ext cx="393192" cy="251460"/>
          </a:xfrm>
          <a:prstGeom prst="rect">
            <a:avLst/>
          </a:prstGeom>
          <a:solidFill>
            <a:srgbClr val="E8F0F5"/>
          </a:solidFill>
          <a:ln w="3810">
            <a:solidFill>
              <a:srgbClr val="CBD5E1"/>
            </a:solidFill>
            <a:prstDash val="solid"/>
          </a:ln>
        </p:spPr>
      </p:sp>
      <p:sp>
        <p:nvSpPr>
          <p:cNvPr id="111" name="Shape 109"/>
          <p:cNvSpPr/>
          <p:nvPr/>
        </p:nvSpPr>
        <p:spPr>
          <a:xfrm>
            <a:off x="5056632" y="2834640"/>
            <a:ext cx="393192" cy="251460"/>
          </a:xfrm>
          <a:prstGeom prst="rect">
            <a:avLst/>
          </a:prstGeom>
          <a:solidFill>
            <a:srgbClr val="E8F0F5"/>
          </a:solidFill>
          <a:ln w="3810">
            <a:solidFill>
              <a:srgbClr val="CBD5E1"/>
            </a:solidFill>
            <a:prstDash val="solid"/>
          </a:ln>
        </p:spPr>
      </p:sp>
      <p:sp>
        <p:nvSpPr>
          <p:cNvPr id="112" name="Shape 110"/>
          <p:cNvSpPr/>
          <p:nvPr/>
        </p:nvSpPr>
        <p:spPr>
          <a:xfrm>
            <a:off x="5449824" y="2834640"/>
            <a:ext cx="393192" cy="251460"/>
          </a:xfrm>
          <a:prstGeom prst="rect">
            <a:avLst/>
          </a:prstGeom>
          <a:solidFill>
            <a:srgbClr val="E8F0F5"/>
          </a:solidFill>
          <a:ln w="3810">
            <a:solidFill>
              <a:srgbClr val="CBD5E1"/>
            </a:solidFill>
            <a:prstDash val="solid"/>
          </a:ln>
        </p:spPr>
      </p:sp>
      <p:sp>
        <p:nvSpPr>
          <p:cNvPr id="113" name="Shape 111"/>
          <p:cNvSpPr/>
          <p:nvPr/>
        </p:nvSpPr>
        <p:spPr>
          <a:xfrm>
            <a:off x="5843016" y="2834640"/>
            <a:ext cx="393192" cy="251460"/>
          </a:xfrm>
          <a:prstGeom prst="rect">
            <a:avLst/>
          </a:prstGeom>
          <a:solidFill>
            <a:srgbClr val="E8F0F5"/>
          </a:solidFill>
          <a:ln w="3810">
            <a:solidFill>
              <a:srgbClr val="CBD5E1"/>
            </a:solidFill>
            <a:prstDash val="solid"/>
          </a:ln>
        </p:spPr>
      </p:sp>
      <p:sp>
        <p:nvSpPr>
          <p:cNvPr id="114" name="Shape 112"/>
          <p:cNvSpPr/>
          <p:nvPr/>
        </p:nvSpPr>
        <p:spPr>
          <a:xfrm>
            <a:off x="6236208" y="2834640"/>
            <a:ext cx="393192" cy="251460"/>
          </a:xfrm>
          <a:prstGeom prst="rect">
            <a:avLst/>
          </a:prstGeom>
          <a:solidFill>
            <a:srgbClr val="E8F0F5"/>
          </a:solidFill>
          <a:ln w="3810">
            <a:solidFill>
              <a:srgbClr val="CBD5E1"/>
            </a:solidFill>
            <a:prstDash val="solid"/>
          </a:ln>
        </p:spPr>
      </p:sp>
      <p:sp>
        <p:nvSpPr>
          <p:cNvPr id="115" name="Shape 113"/>
          <p:cNvSpPr/>
          <p:nvPr/>
        </p:nvSpPr>
        <p:spPr>
          <a:xfrm>
            <a:off x="6629400" y="2834640"/>
            <a:ext cx="393192" cy="251460"/>
          </a:xfrm>
          <a:prstGeom prst="rect">
            <a:avLst/>
          </a:prstGeom>
          <a:solidFill>
            <a:srgbClr val="E8F0F5"/>
          </a:solidFill>
          <a:ln w="3810">
            <a:solidFill>
              <a:srgbClr val="CBD5E1"/>
            </a:solidFill>
            <a:prstDash val="solid"/>
          </a:ln>
        </p:spPr>
      </p:sp>
      <p:sp>
        <p:nvSpPr>
          <p:cNvPr id="116" name="Shape 114"/>
          <p:cNvSpPr/>
          <p:nvPr/>
        </p:nvSpPr>
        <p:spPr>
          <a:xfrm>
            <a:off x="7022592" y="2834640"/>
            <a:ext cx="393192" cy="251460"/>
          </a:xfrm>
          <a:prstGeom prst="rect">
            <a:avLst/>
          </a:prstGeom>
          <a:solidFill>
            <a:srgbClr val="E8F0F5"/>
          </a:solidFill>
          <a:ln w="3810">
            <a:solidFill>
              <a:srgbClr val="CBD5E1"/>
            </a:solidFill>
            <a:prstDash val="solid"/>
          </a:ln>
        </p:spPr>
      </p:sp>
      <p:sp>
        <p:nvSpPr>
          <p:cNvPr id="117" name="Shape 115"/>
          <p:cNvSpPr/>
          <p:nvPr/>
        </p:nvSpPr>
        <p:spPr>
          <a:xfrm>
            <a:off x="7415784" y="2834640"/>
            <a:ext cx="393192" cy="251460"/>
          </a:xfrm>
          <a:prstGeom prst="rect">
            <a:avLst/>
          </a:prstGeom>
          <a:solidFill>
            <a:srgbClr val="E8F0F5"/>
          </a:solidFill>
          <a:ln w="3810">
            <a:solidFill>
              <a:srgbClr val="CBD5E1"/>
            </a:solidFill>
            <a:prstDash val="solid"/>
          </a:ln>
        </p:spPr>
      </p:sp>
      <p:sp>
        <p:nvSpPr>
          <p:cNvPr id="118" name="Shape 116"/>
          <p:cNvSpPr/>
          <p:nvPr/>
        </p:nvSpPr>
        <p:spPr>
          <a:xfrm>
            <a:off x="7808976" y="2834640"/>
            <a:ext cx="393192" cy="251460"/>
          </a:xfrm>
          <a:prstGeom prst="rect">
            <a:avLst/>
          </a:prstGeom>
          <a:solidFill>
            <a:srgbClr val="94A3B8"/>
          </a:solidFill>
          <a:ln w="3810">
            <a:solidFill>
              <a:srgbClr val="CBD5E1"/>
            </a:solidFill>
            <a:prstDash val="solid"/>
          </a:ln>
        </p:spPr>
      </p:sp>
      <p:sp>
        <p:nvSpPr>
          <p:cNvPr id="119" name="Shape 117"/>
          <p:cNvSpPr/>
          <p:nvPr/>
        </p:nvSpPr>
        <p:spPr>
          <a:xfrm>
            <a:off x="8202168" y="2834640"/>
            <a:ext cx="393192" cy="251460"/>
          </a:xfrm>
          <a:prstGeom prst="rect">
            <a:avLst/>
          </a:prstGeom>
          <a:solidFill>
            <a:srgbClr val="94A3B8"/>
          </a:solidFill>
          <a:ln w="3810">
            <a:solidFill>
              <a:srgbClr val="CBD5E1"/>
            </a:solidFill>
            <a:prstDash val="solid"/>
          </a:ln>
        </p:spPr>
      </p:sp>
      <p:sp>
        <p:nvSpPr>
          <p:cNvPr id="120" name="Shape 118"/>
          <p:cNvSpPr/>
          <p:nvPr/>
        </p:nvSpPr>
        <p:spPr>
          <a:xfrm>
            <a:off x="347472" y="3086100"/>
            <a:ext cx="3474720" cy="251460"/>
          </a:xfrm>
          <a:prstGeom prst="rect">
            <a:avLst/>
          </a:prstGeom>
          <a:solidFill>
            <a:srgbClr val="FFFFFF"/>
          </a:solidFill>
          <a:ln w="3810">
            <a:solidFill>
              <a:srgbClr val="CBD5E1"/>
            </a:solidFill>
            <a:prstDash val="solid"/>
          </a:ln>
        </p:spPr>
      </p:sp>
      <p:sp>
        <p:nvSpPr>
          <p:cNvPr id="121" name="Text 119"/>
          <p:cNvSpPr/>
          <p:nvPr/>
        </p:nvSpPr>
        <p:spPr>
          <a:xfrm>
            <a:off x="402336" y="308610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Procesamiento y cuantificación</a:t>
            </a:r>
            <a:endParaRPr lang="en-US" sz="900" dirty="0"/>
          </a:p>
        </p:txBody>
      </p:sp>
      <p:sp>
        <p:nvSpPr>
          <p:cNvPr id="122" name="Shape 120"/>
          <p:cNvSpPr/>
          <p:nvPr/>
        </p:nvSpPr>
        <p:spPr>
          <a:xfrm>
            <a:off x="3877056" y="3086100"/>
            <a:ext cx="393192" cy="251460"/>
          </a:xfrm>
          <a:prstGeom prst="rect">
            <a:avLst/>
          </a:prstGeom>
          <a:solidFill>
            <a:srgbClr val="FFFFFF"/>
          </a:solidFill>
          <a:ln w="3810">
            <a:solidFill>
              <a:srgbClr val="CBD5E1"/>
            </a:solidFill>
            <a:prstDash val="solid"/>
          </a:ln>
        </p:spPr>
      </p:sp>
      <p:sp>
        <p:nvSpPr>
          <p:cNvPr id="123" name="Shape 121"/>
          <p:cNvSpPr/>
          <p:nvPr/>
        </p:nvSpPr>
        <p:spPr>
          <a:xfrm>
            <a:off x="4270248" y="3086100"/>
            <a:ext cx="393192" cy="251460"/>
          </a:xfrm>
          <a:prstGeom prst="rect">
            <a:avLst/>
          </a:prstGeom>
          <a:solidFill>
            <a:srgbClr val="FFFFFF"/>
          </a:solidFill>
          <a:ln w="3810">
            <a:solidFill>
              <a:srgbClr val="CBD5E1"/>
            </a:solidFill>
            <a:prstDash val="solid"/>
          </a:ln>
        </p:spPr>
      </p:sp>
      <p:sp>
        <p:nvSpPr>
          <p:cNvPr id="124" name="Shape 12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25" name="Shape 123"/>
          <p:cNvSpPr/>
          <p:nvPr/>
        </p:nvSpPr>
        <p:spPr>
          <a:xfrm>
            <a:off x="4663440" y="3086100"/>
            <a:ext cx="393192" cy="251460"/>
          </a:xfrm>
          <a:prstGeom prst="rect">
            <a:avLst/>
          </a:prstGeom>
          <a:solidFill>
            <a:srgbClr val="FFFFFF"/>
          </a:solidFill>
          <a:ln w="3810">
            <a:solidFill>
              <a:srgbClr val="CBD5E1"/>
            </a:solidFill>
            <a:prstDash val="solid"/>
          </a:ln>
        </p:spPr>
      </p:sp>
      <p:sp>
        <p:nvSpPr>
          <p:cNvPr id="126" name="Shape 124"/>
          <p:cNvSpPr/>
          <p:nvPr/>
        </p:nvSpPr>
        <p:spPr>
          <a:xfrm>
            <a:off x="5056632" y="3086100"/>
            <a:ext cx="393192" cy="251460"/>
          </a:xfrm>
          <a:prstGeom prst="rect">
            <a:avLst/>
          </a:prstGeom>
          <a:solidFill>
            <a:srgbClr val="FFFFFF"/>
          </a:solidFill>
          <a:ln w="3810">
            <a:solidFill>
              <a:srgbClr val="CBD5E1"/>
            </a:solidFill>
            <a:prstDash val="solid"/>
          </a:ln>
        </p:spPr>
      </p:sp>
      <p:sp>
        <p:nvSpPr>
          <p:cNvPr id="127" name="Shape 125"/>
          <p:cNvSpPr/>
          <p:nvPr/>
        </p:nvSpPr>
        <p:spPr>
          <a:xfrm>
            <a:off x="5449824" y="3086100"/>
            <a:ext cx="393192" cy="251460"/>
          </a:xfrm>
          <a:prstGeom prst="rect">
            <a:avLst/>
          </a:prstGeom>
          <a:solidFill>
            <a:srgbClr val="FFFFFF"/>
          </a:solidFill>
          <a:ln w="3810">
            <a:solidFill>
              <a:srgbClr val="CBD5E1"/>
            </a:solidFill>
            <a:prstDash val="solid"/>
          </a:ln>
        </p:spPr>
      </p:sp>
      <p:sp>
        <p:nvSpPr>
          <p:cNvPr id="128" name="Shape 126"/>
          <p:cNvSpPr/>
          <p:nvPr/>
        </p:nvSpPr>
        <p:spPr>
          <a:xfrm>
            <a:off x="5843016" y="3086100"/>
            <a:ext cx="393192" cy="251460"/>
          </a:xfrm>
          <a:prstGeom prst="rect">
            <a:avLst/>
          </a:prstGeom>
          <a:solidFill>
            <a:srgbClr val="FFFFFF"/>
          </a:solidFill>
          <a:ln w="3810">
            <a:solidFill>
              <a:srgbClr val="CBD5E1"/>
            </a:solidFill>
            <a:prstDash val="solid"/>
          </a:ln>
        </p:spPr>
      </p:sp>
      <p:sp>
        <p:nvSpPr>
          <p:cNvPr id="129" name="Shape 127"/>
          <p:cNvSpPr/>
          <p:nvPr/>
        </p:nvSpPr>
        <p:spPr>
          <a:xfrm>
            <a:off x="6236208" y="3086100"/>
            <a:ext cx="393192" cy="251460"/>
          </a:xfrm>
          <a:prstGeom prst="rect">
            <a:avLst/>
          </a:prstGeom>
          <a:solidFill>
            <a:srgbClr val="FFFFFF"/>
          </a:solidFill>
          <a:ln w="3810">
            <a:solidFill>
              <a:srgbClr val="CBD5E1"/>
            </a:solidFill>
            <a:prstDash val="solid"/>
          </a:ln>
        </p:spPr>
      </p:sp>
      <p:sp>
        <p:nvSpPr>
          <p:cNvPr id="130" name="Shape 128"/>
          <p:cNvSpPr/>
          <p:nvPr/>
        </p:nvSpPr>
        <p:spPr>
          <a:xfrm>
            <a:off x="6629400" y="3086100"/>
            <a:ext cx="393192" cy="251460"/>
          </a:xfrm>
          <a:prstGeom prst="rect">
            <a:avLst/>
          </a:prstGeom>
          <a:solidFill>
            <a:srgbClr val="FFFFFF"/>
          </a:solidFill>
          <a:ln w="3810">
            <a:solidFill>
              <a:srgbClr val="CBD5E1"/>
            </a:solidFill>
            <a:prstDash val="solid"/>
          </a:ln>
        </p:spPr>
      </p:sp>
      <p:sp>
        <p:nvSpPr>
          <p:cNvPr id="131" name="Shape 129"/>
          <p:cNvSpPr/>
          <p:nvPr/>
        </p:nvSpPr>
        <p:spPr>
          <a:xfrm>
            <a:off x="7022592" y="3086100"/>
            <a:ext cx="393192" cy="251460"/>
          </a:xfrm>
          <a:prstGeom prst="rect">
            <a:avLst/>
          </a:prstGeom>
          <a:solidFill>
            <a:srgbClr val="FFFFFF"/>
          </a:solidFill>
          <a:ln w="3810">
            <a:solidFill>
              <a:srgbClr val="CBD5E1"/>
            </a:solidFill>
            <a:prstDash val="solid"/>
          </a:ln>
        </p:spPr>
      </p:sp>
      <p:sp>
        <p:nvSpPr>
          <p:cNvPr id="132" name="Shape 130"/>
          <p:cNvSpPr/>
          <p:nvPr/>
        </p:nvSpPr>
        <p:spPr>
          <a:xfrm>
            <a:off x="7415784" y="3086100"/>
            <a:ext cx="393192" cy="251460"/>
          </a:xfrm>
          <a:prstGeom prst="rect">
            <a:avLst/>
          </a:prstGeom>
          <a:solidFill>
            <a:srgbClr val="FFFFFF"/>
          </a:solidFill>
          <a:ln w="3810">
            <a:solidFill>
              <a:srgbClr val="CBD5E1"/>
            </a:solidFill>
            <a:prstDash val="solid"/>
          </a:ln>
        </p:spPr>
      </p:sp>
      <p:sp>
        <p:nvSpPr>
          <p:cNvPr id="133" name="Shape 131"/>
          <p:cNvSpPr/>
          <p:nvPr/>
        </p:nvSpPr>
        <p:spPr>
          <a:xfrm>
            <a:off x="7808976" y="3086100"/>
            <a:ext cx="393192" cy="251460"/>
          </a:xfrm>
          <a:prstGeom prst="rect">
            <a:avLst/>
          </a:prstGeom>
          <a:solidFill>
            <a:srgbClr val="94A3B8"/>
          </a:solidFill>
          <a:ln w="3810">
            <a:solidFill>
              <a:srgbClr val="CBD5E1"/>
            </a:solidFill>
            <a:prstDash val="solid"/>
          </a:ln>
        </p:spPr>
      </p:sp>
      <p:sp>
        <p:nvSpPr>
          <p:cNvPr id="134" name="Shape 132"/>
          <p:cNvSpPr/>
          <p:nvPr/>
        </p:nvSpPr>
        <p:spPr>
          <a:xfrm>
            <a:off x="8202168" y="3086100"/>
            <a:ext cx="393192" cy="251460"/>
          </a:xfrm>
          <a:prstGeom prst="rect">
            <a:avLst/>
          </a:prstGeom>
          <a:solidFill>
            <a:srgbClr val="94A3B8"/>
          </a:solidFill>
          <a:ln w="3810">
            <a:solidFill>
              <a:srgbClr val="CBD5E1"/>
            </a:solidFill>
            <a:prstDash val="solid"/>
          </a:ln>
        </p:spPr>
      </p:sp>
      <p:sp>
        <p:nvSpPr>
          <p:cNvPr id="135" name="Shape 133"/>
          <p:cNvSpPr/>
          <p:nvPr/>
        </p:nvSpPr>
        <p:spPr>
          <a:xfrm>
            <a:off x="347472" y="3337560"/>
            <a:ext cx="3474720" cy="251460"/>
          </a:xfrm>
          <a:prstGeom prst="rect">
            <a:avLst/>
          </a:prstGeom>
          <a:solidFill>
            <a:srgbClr val="E8F0F5"/>
          </a:solidFill>
          <a:ln w="3810">
            <a:solidFill>
              <a:srgbClr val="CBD5E1"/>
            </a:solidFill>
            <a:prstDash val="solid"/>
          </a:ln>
        </p:spPr>
      </p:sp>
      <p:sp>
        <p:nvSpPr>
          <p:cNvPr id="136" name="Text 134"/>
          <p:cNvSpPr/>
          <p:nvPr/>
        </p:nvSpPr>
        <p:spPr>
          <a:xfrm>
            <a:off x="402336" y="333756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Comparación DIA vs DDA previo</a:t>
            </a:r>
            <a:endParaRPr lang="en-US" sz="900" dirty="0"/>
          </a:p>
        </p:txBody>
      </p:sp>
      <p:sp>
        <p:nvSpPr>
          <p:cNvPr id="137" name="Shape 135"/>
          <p:cNvSpPr/>
          <p:nvPr/>
        </p:nvSpPr>
        <p:spPr>
          <a:xfrm>
            <a:off x="3877056" y="3337560"/>
            <a:ext cx="393192" cy="251460"/>
          </a:xfrm>
          <a:prstGeom prst="rect">
            <a:avLst/>
          </a:prstGeom>
          <a:solidFill>
            <a:srgbClr val="E8F0F5"/>
          </a:solidFill>
          <a:ln w="3810">
            <a:solidFill>
              <a:srgbClr val="CBD5E1"/>
            </a:solidFill>
            <a:prstDash val="solid"/>
          </a:ln>
        </p:spPr>
      </p:sp>
      <p:sp>
        <p:nvSpPr>
          <p:cNvPr id="138" name="Shape 136"/>
          <p:cNvSpPr/>
          <p:nvPr/>
        </p:nvSpPr>
        <p:spPr>
          <a:xfrm>
            <a:off x="4270248" y="3337560"/>
            <a:ext cx="393192" cy="251460"/>
          </a:xfrm>
          <a:prstGeom prst="rect">
            <a:avLst/>
          </a:prstGeom>
          <a:solidFill>
            <a:srgbClr val="E8F0F5"/>
          </a:solidFill>
          <a:ln w="3810">
            <a:solidFill>
              <a:srgbClr val="CBD5E1"/>
            </a:solidFill>
            <a:prstDash val="solid"/>
          </a:ln>
        </p:spPr>
      </p:sp>
      <p:sp>
        <p:nvSpPr>
          <p:cNvPr id="139" name="Shape 13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40" name="Shape 138"/>
          <p:cNvSpPr/>
          <p:nvPr/>
        </p:nvSpPr>
        <p:spPr>
          <a:xfrm>
            <a:off x="4663440" y="3337560"/>
            <a:ext cx="393192" cy="251460"/>
          </a:xfrm>
          <a:prstGeom prst="rect">
            <a:avLst/>
          </a:prstGeom>
          <a:solidFill>
            <a:srgbClr val="E8F0F5"/>
          </a:solidFill>
          <a:ln w="3810">
            <a:solidFill>
              <a:srgbClr val="CBD5E1"/>
            </a:solidFill>
            <a:prstDash val="solid"/>
          </a:ln>
        </p:spPr>
      </p:sp>
      <p:sp>
        <p:nvSpPr>
          <p:cNvPr id="141" name="Shape 139"/>
          <p:cNvSpPr/>
          <p:nvPr/>
        </p:nvSpPr>
        <p:spPr>
          <a:xfrm>
            <a:off x="5056632" y="3337560"/>
            <a:ext cx="393192" cy="251460"/>
          </a:xfrm>
          <a:prstGeom prst="rect">
            <a:avLst/>
          </a:prstGeom>
          <a:solidFill>
            <a:srgbClr val="E8F0F5"/>
          </a:solidFill>
          <a:ln w="3810">
            <a:solidFill>
              <a:srgbClr val="CBD5E1"/>
            </a:solidFill>
            <a:prstDash val="solid"/>
          </a:ln>
        </p:spPr>
      </p:sp>
      <p:sp>
        <p:nvSpPr>
          <p:cNvPr id="142" name="Shape 140"/>
          <p:cNvSpPr/>
          <p:nvPr/>
        </p:nvSpPr>
        <p:spPr>
          <a:xfrm>
            <a:off x="5449824" y="3337560"/>
            <a:ext cx="393192" cy="251460"/>
          </a:xfrm>
          <a:prstGeom prst="rect">
            <a:avLst/>
          </a:prstGeom>
          <a:solidFill>
            <a:srgbClr val="E8F0F5"/>
          </a:solidFill>
          <a:ln w="3810">
            <a:solidFill>
              <a:srgbClr val="CBD5E1"/>
            </a:solidFill>
            <a:prstDash val="solid"/>
          </a:ln>
        </p:spPr>
      </p:sp>
      <p:sp>
        <p:nvSpPr>
          <p:cNvPr id="143" name="Shape 141"/>
          <p:cNvSpPr/>
          <p:nvPr/>
        </p:nvSpPr>
        <p:spPr>
          <a:xfrm>
            <a:off x="5843016" y="3337560"/>
            <a:ext cx="393192" cy="251460"/>
          </a:xfrm>
          <a:prstGeom prst="rect">
            <a:avLst/>
          </a:prstGeom>
          <a:solidFill>
            <a:srgbClr val="E8F0F5"/>
          </a:solidFill>
          <a:ln w="3810">
            <a:solidFill>
              <a:srgbClr val="CBD5E1"/>
            </a:solidFill>
            <a:prstDash val="solid"/>
          </a:ln>
        </p:spPr>
      </p:sp>
      <p:sp>
        <p:nvSpPr>
          <p:cNvPr id="144" name="Shape 142"/>
          <p:cNvSpPr/>
          <p:nvPr/>
        </p:nvSpPr>
        <p:spPr>
          <a:xfrm>
            <a:off x="6236208" y="3337560"/>
            <a:ext cx="393192" cy="251460"/>
          </a:xfrm>
          <a:prstGeom prst="rect">
            <a:avLst/>
          </a:prstGeom>
          <a:solidFill>
            <a:srgbClr val="E8F0F5"/>
          </a:solidFill>
          <a:ln w="3810">
            <a:solidFill>
              <a:srgbClr val="CBD5E1"/>
            </a:solidFill>
            <a:prstDash val="solid"/>
          </a:ln>
        </p:spPr>
      </p:sp>
      <p:sp>
        <p:nvSpPr>
          <p:cNvPr id="145" name="Shape 143"/>
          <p:cNvSpPr/>
          <p:nvPr/>
        </p:nvSpPr>
        <p:spPr>
          <a:xfrm>
            <a:off x="6629400" y="3337560"/>
            <a:ext cx="393192" cy="251460"/>
          </a:xfrm>
          <a:prstGeom prst="rect">
            <a:avLst/>
          </a:prstGeom>
          <a:solidFill>
            <a:srgbClr val="E8F0F5"/>
          </a:solidFill>
          <a:ln w="3810">
            <a:solidFill>
              <a:srgbClr val="CBD5E1"/>
            </a:solidFill>
            <a:prstDash val="solid"/>
          </a:ln>
        </p:spPr>
      </p:sp>
      <p:sp>
        <p:nvSpPr>
          <p:cNvPr id="146" name="Shape 144"/>
          <p:cNvSpPr/>
          <p:nvPr/>
        </p:nvSpPr>
        <p:spPr>
          <a:xfrm>
            <a:off x="7022592" y="3337560"/>
            <a:ext cx="393192" cy="251460"/>
          </a:xfrm>
          <a:prstGeom prst="rect">
            <a:avLst/>
          </a:prstGeom>
          <a:solidFill>
            <a:srgbClr val="E8F0F5"/>
          </a:solidFill>
          <a:ln w="3810">
            <a:solidFill>
              <a:srgbClr val="CBD5E1"/>
            </a:solidFill>
            <a:prstDash val="solid"/>
          </a:ln>
        </p:spPr>
      </p:sp>
      <p:sp>
        <p:nvSpPr>
          <p:cNvPr id="147" name="Shape 145"/>
          <p:cNvSpPr/>
          <p:nvPr/>
        </p:nvSpPr>
        <p:spPr>
          <a:xfrm>
            <a:off x="7415784" y="3337560"/>
            <a:ext cx="393192" cy="251460"/>
          </a:xfrm>
          <a:prstGeom prst="rect">
            <a:avLst/>
          </a:prstGeom>
          <a:solidFill>
            <a:srgbClr val="E8F0F5"/>
          </a:solidFill>
          <a:ln w="3810">
            <a:solidFill>
              <a:srgbClr val="CBD5E1"/>
            </a:solidFill>
            <a:prstDash val="solid"/>
          </a:ln>
        </p:spPr>
      </p:sp>
      <p:sp>
        <p:nvSpPr>
          <p:cNvPr id="148" name="Shape 146"/>
          <p:cNvSpPr/>
          <p:nvPr/>
        </p:nvSpPr>
        <p:spPr>
          <a:xfrm>
            <a:off x="7808976" y="3337560"/>
            <a:ext cx="393192" cy="251460"/>
          </a:xfrm>
          <a:prstGeom prst="rect">
            <a:avLst/>
          </a:prstGeom>
          <a:solidFill>
            <a:srgbClr val="94A3B8"/>
          </a:solidFill>
          <a:ln w="3810">
            <a:solidFill>
              <a:srgbClr val="CBD5E1"/>
            </a:solidFill>
            <a:prstDash val="solid"/>
          </a:ln>
        </p:spPr>
      </p:sp>
      <p:sp>
        <p:nvSpPr>
          <p:cNvPr id="149" name="Shape 147"/>
          <p:cNvSpPr/>
          <p:nvPr/>
        </p:nvSpPr>
        <p:spPr>
          <a:xfrm>
            <a:off x="8202168" y="3337560"/>
            <a:ext cx="393192" cy="251460"/>
          </a:xfrm>
          <a:prstGeom prst="rect">
            <a:avLst/>
          </a:prstGeom>
          <a:solidFill>
            <a:srgbClr val="E8F0F5"/>
          </a:solidFill>
          <a:ln w="3810">
            <a:solidFill>
              <a:srgbClr val="CBD5E1"/>
            </a:solidFill>
            <a:prstDash val="solid"/>
          </a:ln>
        </p:spPr>
      </p:sp>
      <p:sp>
        <p:nvSpPr>
          <p:cNvPr id="150" name="Shape 148"/>
          <p:cNvSpPr/>
          <p:nvPr/>
        </p:nvSpPr>
        <p:spPr>
          <a:xfrm>
            <a:off x="347472" y="3589020"/>
            <a:ext cx="3474720" cy="251460"/>
          </a:xfrm>
          <a:prstGeom prst="rect">
            <a:avLst/>
          </a:prstGeom>
          <a:solidFill>
            <a:srgbClr val="FFFFFF"/>
          </a:solidFill>
          <a:ln w="3810">
            <a:solidFill>
              <a:srgbClr val="CBD5E1"/>
            </a:solidFill>
            <a:prstDash val="solid"/>
          </a:ln>
        </p:spPr>
      </p:sp>
      <p:sp>
        <p:nvSpPr>
          <p:cNvPr id="151" name="Text 149"/>
          <p:cNvSpPr/>
          <p:nvPr/>
        </p:nvSpPr>
        <p:spPr>
          <a:xfrm>
            <a:off x="402336" y="358902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Análisis estadístico y funcional</a:t>
            </a:r>
            <a:endParaRPr lang="en-US" sz="900" dirty="0"/>
          </a:p>
        </p:txBody>
      </p:sp>
      <p:sp>
        <p:nvSpPr>
          <p:cNvPr id="152" name="Shape 150"/>
          <p:cNvSpPr/>
          <p:nvPr/>
        </p:nvSpPr>
        <p:spPr>
          <a:xfrm>
            <a:off x="3877056" y="3589020"/>
            <a:ext cx="393192" cy="251460"/>
          </a:xfrm>
          <a:prstGeom prst="rect">
            <a:avLst/>
          </a:prstGeom>
          <a:solidFill>
            <a:srgbClr val="FFFFFF"/>
          </a:solidFill>
          <a:ln w="3810">
            <a:solidFill>
              <a:srgbClr val="CBD5E1"/>
            </a:solidFill>
            <a:prstDash val="solid"/>
          </a:ln>
        </p:spPr>
      </p:sp>
      <p:sp>
        <p:nvSpPr>
          <p:cNvPr id="153" name="Shape 151"/>
          <p:cNvSpPr/>
          <p:nvPr/>
        </p:nvSpPr>
        <p:spPr>
          <a:xfrm>
            <a:off x="4270248" y="3589020"/>
            <a:ext cx="393192" cy="251460"/>
          </a:xfrm>
          <a:prstGeom prst="rect">
            <a:avLst/>
          </a:prstGeom>
          <a:solidFill>
            <a:srgbClr val="FFFFFF"/>
          </a:solidFill>
          <a:ln w="3810">
            <a:solidFill>
              <a:srgbClr val="CBD5E1"/>
            </a:solidFill>
            <a:prstDash val="solid"/>
          </a:ln>
        </p:spPr>
      </p:sp>
      <p:sp>
        <p:nvSpPr>
          <p:cNvPr id="154" name="Shape 15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55" name="Shape 153"/>
          <p:cNvSpPr/>
          <p:nvPr/>
        </p:nvSpPr>
        <p:spPr>
          <a:xfrm>
            <a:off x="4663440" y="3589020"/>
            <a:ext cx="393192" cy="251460"/>
          </a:xfrm>
          <a:prstGeom prst="rect">
            <a:avLst/>
          </a:prstGeom>
          <a:solidFill>
            <a:srgbClr val="FFFFFF"/>
          </a:solidFill>
          <a:ln w="3810">
            <a:solidFill>
              <a:srgbClr val="CBD5E1"/>
            </a:solidFill>
            <a:prstDash val="solid"/>
          </a:ln>
        </p:spPr>
      </p:sp>
      <p:sp>
        <p:nvSpPr>
          <p:cNvPr id="156" name="Shape 154"/>
          <p:cNvSpPr/>
          <p:nvPr/>
        </p:nvSpPr>
        <p:spPr>
          <a:xfrm>
            <a:off x="5056632" y="3589020"/>
            <a:ext cx="393192" cy="251460"/>
          </a:xfrm>
          <a:prstGeom prst="rect">
            <a:avLst/>
          </a:prstGeom>
          <a:solidFill>
            <a:srgbClr val="FFFFFF"/>
          </a:solidFill>
          <a:ln w="3810">
            <a:solidFill>
              <a:srgbClr val="CBD5E1"/>
            </a:solidFill>
            <a:prstDash val="solid"/>
          </a:ln>
        </p:spPr>
      </p:sp>
      <p:sp>
        <p:nvSpPr>
          <p:cNvPr id="157" name="Shape 155"/>
          <p:cNvSpPr/>
          <p:nvPr/>
        </p:nvSpPr>
        <p:spPr>
          <a:xfrm>
            <a:off x="5449824" y="3589020"/>
            <a:ext cx="393192" cy="251460"/>
          </a:xfrm>
          <a:prstGeom prst="rect">
            <a:avLst/>
          </a:prstGeom>
          <a:solidFill>
            <a:srgbClr val="FFFFFF"/>
          </a:solidFill>
          <a:ln w="3810">
            <a:solidFill>
              <a:srgbClr val="CBD5E1"/>
            </a:solidFill>
            <a:prstDash val="solid"/>
          </a:ln>
        </p:spPr>
      </p:sp>
      <p:sp>
        <p:nvSpPr>
          <p:cNvPr id="158" name="Shape 156"/>
          <p:cNvSpPr/>
          <p:nvPr/>
        </p:nvSpPr>
        <p:spPr>
          <a:xfrm>
            <a:off x="5843016" y="3589020"/>
            <a:ext cx="393192" cy="251460"/>
          </a:xfrm>
          <a:prstGeom prst="rect">
            <a:avLst/>
          </a:prstGeom>
          <a:solidFill>
            <a:srgbClr val="FFFFFF"/>
          </a:solidFill>
          <a:ln w="3810">
            <a:solidFill>
              <a:srgbClr val="CBD5E1"/>
            </a:solidFill>
            <a:prstDash val="solid"/>
          </a:ln>
        </p:spPr>
      </p:sp>
      <p:sp>
        <p:nvSpPr>
          <p:cNvPr id="159" name="Shape 157"/>
          <p:cNvSpPr/>
          <p:nvPr/>
        </p:nvSpPr>
        <p:spPr>
          <a:xfrm>
            <a:off x="6236208" y="3589020"/>
            <a:ext cx="393192" cy="251460"/>
          </a:xfrm>
          <a:prstGeom prst="rect">
            <a:avLst/>
          </a:prstGeom>
          <a:solidFill>
            <a:srgbClr val="FFFFFF"/>
          </a:solidFill>
          <a:ln w="3810">
            <a:solidFill>
              <a:srgbClr val="CBD5E1"/>
            </a:solidFill>
            <a:prstDash val="solid"/>
          </a:ln>
        </p:spPr>
      </p:sp>
      <p:sp>
        <p:nvSpPr>
          <p:cNvPr id="160" name="Shape 158"/>
          <p:cNvSpPr/>
          <p:nvPr/>
        </p:nvSpPr>
        <p:spPr>
          <a:xfrm>
            <a:off x="6629400" y="3589020"/>
            <a:ext cx="393192" cy="251460"/>
          </a:xfrm>
          <a:prstGeom prst="rect">
            <a:avLst/>
          </a:prstGeom>
          <a:solidFill>
            <a:srgbClr val="FFFFFF"/>
          </a:solidFill>
          <a:ln w="3810">
            <a:solidFill>
              <a:srgbClr val="CBD5E1"/>
            </a:solidFill>
            <a:prstDash val="solid"/>
          </a:ln>
        </p:spPr>
      </p:sp>
      <p:sp>
        <p:nvSpPr>
          <p:cNvPr id="161" name="Shape 159"/>
          <p:cNvSpPr/>
          <p:nvPr/>
        </p:nvSpPr>
        <p:spPr>
          <a:xfrm>
            <a:off x="7022592" y="3589020"/>
            <a:ext cx="393192" cy="251460"/>
          </a:xfrm>
          <a:prstGeom prst="rect">
            <a:avLst/>
          </a:prstGeom>
          <a:solidFill>
            <a:srgbClr val="FFFFFF"/>
          </a:solidFill>
          <a:ln w="3810">
            <a:solidFill>
              <a:srgbClr val="CBD5E1"/>
            </a:solidFill>
            <a:prstDash val="solid"/>
          </a:ln>
        </p:spPr>
      </p:sp>
      <p:sp>
        <p:nvSpPr>
          <p:cNvPr id="162" name="Shape 160"/>
          <p:cNvSpPr/>
          <p:nvPr/>
        </p:nvSpPr>
        <p:spPr>
          <a:xfrm>
            <a:off x="7415784" y="3589020"/>
            <a:ext cx="393192" cy="251460"/>
          </a:xfrm>
          <a:prstGeom prst="rect">
            <a:avLst/>
          </a:prstGeom>
          <a:solidFill>
            <a:srgbClr val="FFFFFF"/>
          </a:solidFill>
          <a:ln w="3810">
            <a:solidFill>
              <a:srgbClr val="CBD5E1"/>
            </a:solidFill>
            <a:prstDash val="solid"/>
          </a:ln>
        </p:spPr>
      </p:sp>
      <p:sp>
        <p:nvSpPr>
          <p:cNvPr id="163" name="Shape 161"/>
          <p:cNvSpPr/>
          <p:nvPr/>
        </p:nvSpPr>
        <p:spPr>
          <a:xfrm>
            <a:off x="7808976" y="3589020"/>
            <a:ext cx="393192" cy="251460"/>
          </a:xfrm>
          <a:prstGeom prst="rect">
            <a:avLst/>
          </a:prstGeom>
          <a:solidFill>
            <a:srgbClr val="94A3B8"/>
          </a:solidFill>
          <a:ln w="3810">
            <a:solidFill>
              <a:srgbClr val="CBD5E1"/>
            </a:solidFill>
            <a:prstDash val="solid"/>
          </a:ln>
        </p:spPr>
      </p:sp>
      <p:sp>
        <p:nvSpPr>
          <p:cNvPr id="164" name="Shape 162"/>
          <p:cNvSpPr/>
          <p:nvPr/>
        </p:nvSpPr>
        <p:spPr>
          <a:xfrm>
            <a:off x="8202168" y="3589020"/>
            <a:ext cx="393192" cy="251460"/>
          </a:xfrm>
          <a:prstGeom prst="rect">
            <a:avLst/>
          </a:prstGeom>
          <a:solidFill>
            <a:srgbClr val="94A3B8"/>
          </a:solidFill>
          <a:ln w="3810">
            <a:solidFill>
              <a:srgbClr val="CBD5E1"/>
            </a:solidFill>
            <a:prstDash val="solid"/>
          </a:ln>
        </p:spPr>
      </p:sp>
      <p:sp>
        <p:nvSpPr>
          <p:cNvPr id="165" name="Shape 163"/>
          <p:cNvSpPr/>
          <p:nvPr/>
        </p:nvSpPr>
        <p:spPr>
          <a:xfrm>
            <a:off x="347472" y="3840480"/>
            <a:ext cx="3474720" cy="251460"/>
          </a:xfrm>
          <a:prstGeom prst="rect">
            <a:avLst/>
          </a:prstGeom>
          <a:solidFill>
            <a:srgbClr val="E8F0F5"/>
          </a:solidFill>
          <a:ln w="3810">
            <a:solidFill>
              <a:srgbClr val="CBD5E1"/>
            </a:solidFill>
            <a:prstDash val="solid"/>
          </a:ln>
        </p:spPr>
      </p:sp>
      <p:sp>
        <p:nvSpPr>
          <p:cNvPr id="166" name="Text 164"/>
          <p:cNvSpPr/>
          <p:nvPr/>
        </p:nvSpPr>
        <p:spPr>
          <a:xfrm>
            <a:off x="402336" y="384048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Integración e interpretación biológica</a:t>
            </a:r>
            <a:endParaRPr lang="en-US" sz="900" dirty="0"/>
          </a:p>
        </p:txBody>
      </p:sp>
      <p:sp>
        <p:nvSpPr>
          <p:cNvPr id="167" name="Shape 165"/>
          <p:cNvSpPr/>
          <p:nvPr/>
        </p:nvSpPr>
        <p:spPr>
          <a:xfrm>
            <a:off x="3877056" y="3840480"/>
            <a:ext cx="393192" cy="251460"/>
          </a:xfrm>
          <a:prstGeom prst="rect">
            <a:avLst/>
          </a:prstGeom>
          <a:solidFill>
            <a:srgbClr val="E8F0F5"/>
          </a:solidFill>
          <a:ln w="3810">
            <a:solidFill>
              <a:srgbClr val="CBD5E1"/>
            </a:solidFill>
            <a:prstDash val="solid"/>
          </a:ln>
        </p:spPr>
      </p:sp>
      <p:sp>
        <p:nvSpPr>
          <p:cNvPr id="168" name="Shape 166"/>
          <p:cNvSpPr/>
          <p:nvPr/>
        </p:nvSpPr>
        <p:spPr>
          <a:xfrm>
            <a:off x="4270248" y="3840480"/>
            <a:ext cx="393192" cy="251460"/>
          </a:xfrm>
          <a:prstGeom prst="rect">
            <a:avLst/>
          </a:prstGeom>
          <a:solidFill>
            <a:srgbClr val="E8F0F5"/>
          </a:solidFill>
          <a:ln w="3810">
            <a:solidFill>
              <a:srgbClr val="CBD5E1"/>
            </a:solidFill>
            <a:prstDash val="solid"/>
          </a:ln>
        </p:spPr>
      </p:sp>
      <p:sp>
        <p:nvSpPr>
          <p:cNvPr id="169" name="Shape 16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70" name="Shape 168"/>
          <p:cNvSpPr/>
          <p:nvPr/>
        </p:nvSpPr>
        <p:spPr>
          <a:xfrm>
            <a:off x="4663440" y="3840480"/>
            <a:ext cx="393192" cy="251460"/>
          </a:xfrm>
          <a:prstGeom prst="rect">
            <a:avLst/>
          </a:prstGeom>
          <a:solidFill>
            <a:srgbClr val="E8F0F5"/>
          </a:solidFill>
          <a:ln w="3810">
            <a:solidFill>
              <a:srgbClr val="CBD5E1"/>
            </a:solidFill>
            <a:prstDash val="solid"/>
          </a:ln>
        </p:spPr>
      </p:sp>
      <p:sp>
        <p:nvSpPr>
          <p:cNvPr id="171" name="Shape 169"/>
          <p:cNvSpPr/>
          <p:nvPr/>
        </p:nvSpPr>
        <p:spPr>
          <a:xfrm>
            <a:off x="5056632" y="3840480"/>
            <a:ext cx="393192" cy="251460"/>
          </a:xfrm>
          <a:prstGeom prst="rect">
            <a:avLst/>
          </a:prstGeom>
          <a:solidFill>
            <a:srgbClr val="E8F0F5"/>
          </a:solidFill>
          <a:ln w="3810">
            <a:solidFill>
              <a:srgbClr val="CBD5E1"/>
            </a:solidFill>
            <a:prstDash val="solid"/>
          </a:ln>
        </p:spPr>
      </p:sp>
      <p:sp>
        <p:nvSpPr>
          <p:cNvPr id="172" name="Shape 170"/>
          <p:cNvSpPr/>
          <p:nvPr/>
        </p:nvSpPr>
        <p:spPr>
          <a:xfrm>
            <a:off x="5449824" y="3840480"/>
            <a:ext cx="393192" cy="251460"/>
          </a:xfrm>
          <a:prstGeom prst="rect">
            <a:avLst/>
          </a:prstGeom>
          <a:solidFill>
            <a:srgbClr val="E8F0F5"/>
          </a:solidFill>
          <a:ln w="3810">
            <a:solidFill>
              <a:srgbClr val="CBD5E1"/>
            </a:solidFill>
            <a:prstDash val="solid"/>
          </a:ln>
        </p:spPr>
      </p:sp>
      <p:sp>
        <p:nvSpPr>
          <p:cNvPr id="173" name="Shape 171"/>
          <p:cNvSpPr/>
          <p:nvPr/>
        </p:nvSpPr>
        <p:spPr>
          <a:xfrm>
            <a:off x="5843016" y="3840480"/>
            <a:ext cx="393192" cy="251460"/>
          </a:xfrm>
          <a:prstGeom prst="rect">
            <a:avLst/>
          </a:prstGeom>
          <a:solidFill>
            <a:srgbClr val="E8F0F5"/>
          </a:solidFill>
          <a:ln w="3810">
            <a:solidFill>
              <a:srgbClr val="CBD5E1"/>
            </a:solidFill>
            <a:prstDash val="solid"/>
          </a:ln>
        </p:spPr>
      </p:sp>
      <p:sp>
        <p:nvSpPr>
          <p:cNvPr id="174" name="Shape 172"/>
          <p:cNvSpPr/>
          <p:nvPr/>
        </p:nvSpPr>
        <p:spPr>
          <a:xfrm>
            <a:off x="6236208" y="3840480"/>
            <a:ext cx="393192" cy="251460"/>
          </a:xfrm>
          <a:prstGeom prst="rect">
            <a:avLst/>
          </a:prstGeom>
          <a:solidFill>
            <a:srgbClr val="E8F0F5"/>
          </a:solidFill>
          <a:ln w="3810">
            <a:solidFill>
              <a:srgbClr val="CBD5E1"/>
            </a:solidFill>
            <a:prstDash val="solid"/>
          </a:ln>
        </p:spPr>
      </p:sp>
      <p:sp>
        <p:nvSpPr>
          <p:cNvPr id="175" name="Shape 173"/>
          <p:cNvSpPr/>
          <p:nvPr/>
        </p:nvSpPr>
        <p:spPr>
          <a:xfrm>
            <a:off x="6629400" y="3840480"/>
            <a:ext cx="393192" cy="251460"/>
          </a:xfrm>
          <a:prstGeom prst="rect">
            <a:avLst/>
          </a:prstGeom>
          <a:solidFill>
            <a:srgbClr val="E8F0F5"/>
          </a:solidFill>
          <a:ln w="3810">
            <a:solidFill>
              <a:srgbClr val="CBD5E1"/>
            </a:solidFill>
            <a:prstDash val="solid"/>
          </a:ln>
        </p:spPr>
      </p:sp>
      <p:sp>
        <p:nvSpPr>
          <p:cNvPr id="176" name="Shape 174"/>
          <p:cNvSpPr/>
          <p:nvPr/>
        </p:nvSpPr>
        <p:spPr>
          <a:xfrm>
            <a:off x="7022592" y="3840480"/>
            <a:ext cx="393192" cy="251460"/>
          </a:xfrm>
          <a:prstGeom prst="rect">
            <a:avLst/>
          </a:prstGeom>
          <a:solidFill>
            <a:srgbClr val="E8F0F5"/>
          </a:solidFill>
          <a:ln w="3810">
            <a:solidFill>
              <a:srgbClr val="CBD5E1"/>
            </a:solidFill>
            <a:prstDash val="solid"/>
          </a:ln>
        </p:spPr>
      </p:sp>
      <p:sp>
        <p:nvSpPr>
          <p:cNvPr id="177" name="Shape 175"/>
          <p:cNvSpPr/>
          <p:nvPr/>
        </p:nvSpPr>
        <p:spPr>
          <a:xfrm>
            <a:off x="7415784" y="3840480"/>
            <a:ext cx="393192" cy="251460"/>
          </a:xfrm>
          <a:prstGeom prst="rect">
            <a:avLst/>
          </a:prstGeom>
          <a:solidFill>
            <a:srgbClr val="E8F0F5"/>
          </a:solidFill>
          <a:ln w="3810">
            <a:solidFill>
              <a:srgbClr val="CBD5E1"/>
            </a:solidFill>
            <a:prstDash val="solid"/>
          </a:ln>
        </p:spPr>
      </p:sp>
      <p:sp>
        <p:nvSpPr>
          <p:cNvPr id="178" name="Shape 176"/>
          <p:cNvSpPr/>
          <p:nvPr/>
        </p:nvSpPr>
        <p:spPr>
          <a:xfrm>
            <a:off x="7808976" y="3840480"/>
            <a:ext cx="393192" cy="251460"/>
          </a:xfrm>
          <a:prstGeom prst="rect">
            <a:avLst/>
          </a:prstGeom>
          <a:solidFill>
            <a:srgbClr val="94A3B8"/>
          </a:solidFill>
          <a:ln w="3810">
            <a:solidFill>
              <a:srgbClr val="CBD5E1"/>
            </a:solidFill>
            <a:prstDash val="solid"/>
          </a:ln>
        </p:spPr>
      </p:sp>
      <p:sp>
        <p:nvSpPr>
          <p:cNvPr id="179" name="Shape 177"/>
          <p:cNvSpPr/>
          <p:nvPr/>
        </p:nvSpPr>
        <p:spPr>
          <a:xfrm>
            <a:off x="8202168" y="3840480"/>
            <a:ext cx="393192" cy="251460"/>
          </a:xfrm>
          <a:prstGeom prst="rect">
            <a:avLst/>
          </a:prstGeom>
          <a:solidFill>
            <a:srgbClr val="94A3B8"/>
          </a:solidFill>
          <a:ln w="3810">
            <a:solidFill>
              <a:srgbClr val="CBD5E1"/>
            </a:solidFill>
            <a:prstDash val="solid"/>
          </a:ln>
        </p:spPr>
      </p:sp>
      <p:sp>
        <p:nvSpPr>
          <p:cNvPr id="180" name="Shape 178"/>
          <p:cNvSpPr/>
          <p:nvPr/>
        </p:nvSpPr>
        <p:spPr>
          <a:xfrm>
            <a:off x="347472" y="4091940"/>
            <a:ext cx="3474720" cy="251460"/>
          </a:xfrm>
          <a:prstGeom prst="rect">
            <a:avLst/>
          </a:prstGeom>
          <a:solidFill>
            <a:srgbClr val="FFFFFF"/>
          </a:solidFill>
          <a:ln w="3810">
            <a:solidFill>
              <a:srgbClr val="CBD5E1"/>
            </a:solidFill>
            <a:prstDash val="solid"/>
          </a:ln>
        </p:spPr>
      </p:sp>
      <p:sp>
        <p:nvSpPr>
          <p:cNvPr id="181" name="Text 179"/>
          <p:cNvSpPr/>
          <p:nvPr/>
        </p:nvSpPr>
        <p:spPr>
          <a:xfrm>
            <a:off x="402336" y="409194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Redacción de tesis</a:t>
            </a:r>
            <a:endParaRPr lang="en-US" sz="900" dirty="0"/>
          </a:p>
        </p:txBody>
      </p:sp>
      <p:sp>
        <p:nvSpPr>
          <p:cNvPr id="182" name="Shape 180"/>
          <p:cNvSpPr/>
          <p:nvPr/>
        </p:nvSpPr>
        <p:spPr>
          <a:xfrm>
            <a:off x="3877056" y="4091940"/>
            <a:ext cx="393192" cy="251460"/>
          </a:xfrm>
          <a:prstGeom prst="rect">
            <a:avLst/>
          </a:prstGeom>
          <a:solidFill>
            <a:srgbClr val="FFFFFF"/>
          </a:solidFill>
          <a:ln w="3810">
            <a:solidFill>
              <a:srgbClr val="CBD5E1"/>
            </a:solidFill>
            <a:prstDash val="solid"/>
          </a:ln>
        </p:spPr>
      </p:sp>
      <p:sp>
        <p:nvSpPr>
          <p:cNvPr id="183" name="Shape 181"/>
          <p:cNvSpPr/>
          <p:nvPr/>
        </p:nvSpPr>
        <p:spPr>
          <a:xfrm>
            <a:off x="4270248" y="4091940"/>
            <a:ext cx="393192" cy="251460"/>
          </a:xfrm>
          <a:prstGeom prst="rect">
            <a:avLst/>
          </a:prstGeom>
          <a:solidFill>
            <a:srgbClr val="FFFFFF"/>
          </a:solidFill>
          <a:ln w="3810">
            <a:solidFill>
              <a:srgbClr val="CBD5E1"/>
            </a:solidFill>
            <a:prstDash val="solid"/>
          </a:ln>
        </p:spPr>
      </p:sp>
      <p:sp>
        <p:nvSpPr>
          <p:cNvPr id="184" name="Shape 182"/>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185" name="Shape 183"/>
          <p:cNvSpPr/>
          <p:nvPr/>
        </p:nvSpPr>
        <p:spPr>
          <a:xfrm>
            <a:off x="4663440" y="4091940"/>
            <a:ext cx="393192" cy="251460"/>
          </a:xfrm>
          <a:prstGeom prst="rect">
            <a:avLst/>
          </a:prstGeom>
          <a:solidFill>
            <a:srgbClr val="FFFFFF"/>
          </a:solidFill>
          <a:ln w="3810">
            <a:solidFill>
              <a:srgbClr val="CBD5E1"/>
            </a:solidFill>
            <a:prstDash val="solid"/>
          </a:ln>
        </p:spPr>
      </p:sp>
      <p:sp>
        <p:nvSpPr>
          <p:cNvPr id="186" name="Shape 184"/>
          <p:cNvSpPr/>
          <p:nvPr/>
        </p:nvSpPr>
        <p:spPr>
          <a:xfrm>
            <a:off x="5056632" y="4091940"/>
            <a:ext cx="393192" cy="251460"/>
          </a:xfrm>
          <a:prstGeom prst="rect">
            <a:avLst/>
          </a:prstGeom>
          <a:solidFill>
            <a:srgbClr val="FFFFFF"/>
          </a:solidFill>
          <a:ln w="3810">
            <a:solidFill>
              <a:srgbClr val="CBD5E1"/>
            </a:solidFill>
            <a:prstDash val="solid"/>
          </a:ln>
        </p:spPr>
      </p:sp>
      <p:sp>
        <p:nvSpPr>
          <p:cNvPr id="187" name="Shape 185"/>
          <p:cNvSpPr/>
          <p:nvPr/>
        </p:nvSpPr>
        <p:spPr>
          <a:xfrm>
            <a:off x="5449824" y="4091940"/>
            <a:ext cx="393192" cy="251460"/>
          </a:xfrm>
          <a:prstGeom prst="rect">
            <a:avLst/>
          </a:prstGeom>
          <a:solidFill>
            <a:srgbClr val="FFFFFF"/>
          </a:solidFill>
          <a:ln w="3810">
            <a:solidFill>
              <a:srgbClr val="CBD5E1"/>
            </a:solidFill>
            <a:prstDash val="solid"/>
          </a:ln>
        </p:spPr>
      </p:sp>
      <p:sp>
        <p:nvSpPr>
          <p:cNvPr id="188" name="Shape 186"/>
          <p:cNvSpPr/>
          <p:nvPr/>
        </p:nvSpPr>
        <p:spPr>
          <a:xfrm>
            <a:off x="5843016" y="4091940"/>
            <a:ext cx="393192" cy="251460"/>
          </a:xfrm>
          <a:prstGeom prst="rect">
            <a:avLst/>
          </a:prstGeom>
          <a:solidFill>
            <a:srgbClr val="FFFFFF"/>
          </a:solidFill>
          <a:ln w="3810">
            <a:solidFill>
              <a:srgbClr val="CBD5E1"/>
            </a:solidFill>
            <a:prstDash val="solid"/>
          </a:ln>
        </p:spPr>
      </p:sp>
      <p:sp>
        <p:nvSpPr>
          <p:cNvPr id="189" name="Shape 187"/>
          <p:cNvSpPr/>
          <p:nvPr/>
        </p:nvSpPr>
        <p:spPr>
          <a:xfrm>
            <a:off x="6236208" y="4091940"/>
            <a:ext cx="393192" cy="251460"/>
          </a:xfrm>
          <a:prstGeom prst="rect">
            <a:avLst/>
          </a:prstGeom>
          <a:solidFill>
            <a:srgbClr val="FFFFFF"/>
          </a:solidFill>
          <a:ln w="3810">
            <a:solidFill>
              <a:srgbClr val="CBD5E1"/>
            </a:solidFill>
            <a:prstDash val="solid"/>
          </a:ln>
        </p:spPr>
      </p:sp>
      <p:sp>
        <p:nvSpPr>
          <p:cNvPr id="190" name="Shape 188"/>
          <p:cNvSpPr/>
          <p:nvPr/>
        </p:nvSpPr>
        <p:spPr>
          <a:xfrm>
            <a:off x="6629400" y="4091940"/>
            <a:ext cx="393192" cy="251460"/>
          </a:xfrm>
          <a:prstGeom prst="rect">
            <a:avLst/>
          </a:prstGeom>
          <a:solidFill>
            <a:srgbClr val="FFFFFF"/>
          </a:solidFill>
          <a:ln w="3810">
            <a:solidFill>
              <a:srgbClr val="CBD5E1"/>
            </a:solidFill>
            <a:prstDash val="solid"/>
          </a:ln>
        </p:spPr>
      </p:sp>
      <p:sp>
        <p:nvSpPr>
          <p:cNvPr id="191" name="Shape 189"/>
          <p:cNvSpPr/>
          <p:nvPr/>
        </p:nvSpPr>
        <p:spPr>
          <a:xfrm>
            <a:off x="7022592" y="4091940"/>
            <a:ext cx="393192" cy="251460"/>
          </a:xfrm>
          <a:prstGeom prst="rect">
            <a:avLst/>
          </a:prstGeom>
          <a:solidFill>
            <a:srgbClr val="FFFFFF"/>
          </a:solidFill>
          <a:ln w="3810">
            <a:solidFill>
              <a:srgbClr val="CBD5E1"/>
            </a:solidFill>
            <a:prstDash val="solid"/>
          </a:ln>
        </p:spPr>
      </p:sp>
      <p:sp>
        <p:nvSpPr>
          <p:cNvPr id="192" name="Shape 190"/>
          <p:cNvSpPr/>
          <p:nvPr/>
        </p:nvSpPr>
        <p:spPr>
          <a:xfrm>
            <a:off x="7415784" y="4091940"/>
            <a:ext cx="393192" cy="251460"/>
          </a:xfrm>
          <a:prstGeom prst="rect">
            <a:avLst/>
          </a:prstGeom>
          <a:solidFill>
            <a:srgbClr val="FFFFFF"/>
          </a:solidFill>
          <a:ln w="3810">
            <a:solidFill>
              <a:srgbClr val="CBD5E1"/>
            </a:solidFill>
            <a:prstDash val="solid"/>
          </a:ln>
        </p:spPr>
      </p:sp>
      <p:sp>
        <p:nvSpPr>
          <p:cNvPr id="193" name="Shape 191"/>
          <p:cNvSpPr/>
          <p:nvPr/>
        </p:nvSpPr>
        <p:spPr>
          <a:xfrm>
            <a:off x="7808976" y="4091940"/>
            <a:ext cx="393192" cy="251460"/>
          </a:xfrm>
          <a:prstGeom prst="rect">
            <a:avLst/>
          </a:prstGeom>
          <a:solidFill>
            <a:srgbClr val="94A3B8"/>
          </a:solidFill>
          <a:ln w="3810">
            <a:solidFill>
              <a:srgbClr val="CBD5E1"/>
            </a:solidFill>
            <a:prstDash val="solid"/>
          </a:ln>
        </p:spPr>
      </p:sp>
      <p:sp>
        <p:nvSpPr>
          <p:cNvPr id="194" name="Shape 192"/>
          <p:cNvSpPr/>
          <p:nvPr/>
        </p:nvSpPr>
        <p:spPr>
          <a:xfrm>
            <a:off x="8202168" y="4091940"/>
            <a:ext cx="393192" cy="251460"/>
          </a:xfrm>
          <a:prstGeom prst="rect">
            <a:avLst/>
          </a:prstGeom>
          <a:solidFill>
            <a:srgbClr val="94A3B8"/>
          </a:solidFill>
          <a:ln w="3810">
            <a:solidFill>
              <a:srgbClr val="CBD5E1"/>
            </a:solidFill>
            <a:prstDash val="solid"/>
          </a:ln>
        </p:spPr>
      </p:sp>
      <p:sp>
        <p:nvSpPr>
          <p:cNvPr id="195" name="Shape 193"/>
          <p:cNvSpPr/>
          <p:nvPr/>
        </p:nvSpPr>
        <p:spPr>
          <a:xfrm>
            <a:off x="347472" y="4343400"/>
            <a:ext cx="3474720" cy="251460"/>
          </a:xfrm>
          <a:prstGeom prst="rect">
            <a:avLst/>
          </a:prstGeom>
          <a:solidFill>
            <a:srgbClr val="E8F0F5"/>
          </a:solidFill>
          <a:ln w="3810">
            <a:solidFill>
              <a:srgbClr val="CBD5E1"/>
            </a:solidFill>
            <a:prstDash val="solid"/>
          </a:ln>
        </p:spPr>
      </p:sp>
      <p:sp>
        <p:nvSpPr>
          <p:cNvPr id="196" name="Text 194"/>
          <p:cNvSpPr/>
          <p:nvPr/>
        </p:nvSpPr>
        <p:spPr>
          <a:xfrm>
            <a:off x="402336" y="4343400"/>
            <a:ext cx="3383280" cy="251460"/>
          </a:xfrm>
          <a:prstGeom prst="rect">
            <a:avLst/>
          </a:prstGeom>
          <a:noFill/>
          <a:ln/>
        </p:spPr>
        <p:txBody>
          <a:bodyPr wrap="square" rtlCol="0" anchor="ctr"/>
          <a:lstStyle/>
          <a:p>
            <a:pPr indent="0" marL="0">
              <a:buNone/>
            </a:pPr>
            <a:pPr indent="0" marL="0">
              <a:buNone/>
            </a:pPr>
            <a:r>
              <a:rPr lang="en-US" sz="900" dirty="0">
                <a:solidFill>
                  <a:srgbClr val="64748B"/>
                </a:solidFill>
                <a:latin typeface="Calibri" pitchFamily="34" charset="0"/>
                <a:ea typeface="Calibri" pitchFamily="34" charset="-122"/>
                <a:cs typeface="Calibri" pitchFamily="34" charset="-120"/>
              </a:rPr>
              <a:t>Correcciones y defensa</a:t>
            </a:r>
            <a:endParaRPr lang="en-US" sz="900" dirty="0"/>
          </a:p>
        </p:txBody>
      </p:sp>
      <p:sp>
        <p:nvSpPr>
          <p:cNvPr id="197" name="Shape 195"/>
          <p:cNvSpPr/>
          <p:nvPr/>
        </p:nvSpPr>
        <p:spPr>
          <a:xfrm>
            <a:off x="3877056" y="4343400"/>
            <a:ext cx="393192" cy="251460"/>
          </a:xfrm>
          <a:prstGeom prst="rect">
            <a:avLst/>
          </a:prstGeom>
          <a:solidFill>
            <a:srgbClr val="E8F0F5"/>
          </a:solidFill>
          <a:ln w="3810">
            <a:solidFill>
              <a:srgbClr val="CBD5E1"/>
            </a:solidFill>
            <a:prstDash val="solid"/>
          </a:ln>
        </p:spPr>
      </p:sp>
      <p:sp>
        <p:nvSpPr>
          <p:cNvPr id="198" name="Shape 196"/>
          <p:cNvSpPr/>
          <p:nvPr/>
        </p:nvSpPr>
        <p:spPr>
          <a:xfrm>
            <a:off x="4270248" y="4343400"/>
            <a:ext cx="393192" cy="251460"/>
          </a:xfrm>
          <a:prstGeom prst="rect">
            <a:avLst/>
          </a:prstGeom>
          <a:solidFill>
            <a:srgbClr val="E8F0F5"/>
          </a:solidFill>
          <a:ln w="3810">
            <a:solidFill>
              <a:srgbClr val="CBD5E1"/>
            </a:solidFill>
            <a:prstDash val="solid"/>
          </a:ln>
        </p:spPr>
      </p:sp>
      <p:sp>
        <p:nvSpPr>
          <p:cNvPr id="199" name="Shape 197"/>
          <p:cNvSpPr/>
          <p:nvPr/>
        </p:nvSpPr>
        <p:spPr>
          <a:xfrm>
            <a:off x="4270248" y="1325880"/>
            <a:ext cx="393192" cy="3268980"/>
          </a:xfrm>
          <a:prstGeom prst="rect">
            <a:avLst/>
          </a:prstGeom>
          <a:solidFill>
            <a:srgbClr val="1A6B8A">
              <a:alpha val="12000"/>
            </a:srgbClr>
          </a:solidFill>
          <a:ln w="6350">
            <a:solidFill>
              <a:srgbClr val="1A6B8A"/>
            </a:solidFill>
            <a:prstDash val="solid"/>
          </a:ln>
        </p:spPr>
      </p:sp>
      <p:sp>
        <p:nvSpPr>
          <p:cNvPr id="200" name="Shape 198"/>
          <p:cNvSpPr/>
          <p:nvPr/>
        </p:nvSpPr>
        <p:spPr>
          <a:xfrm>
            <a:off x="4663440" y="4343400"/>
            <a:ext cx="393192" cy="251460"/>
          </a:xfrm>
          <a:prstGeom prst="rect">
            <a:avLst/>
          </a:prstGeom>
          <a:solidFill>
            <a:srgbClr val="E8F0F5"/>
          </a:solidFill>
          <a:ln w="3810">
            <a:solidFill>
              <a:srgbClr val="CBD5E1"/>
            </a:solidFill>
            <a:prstDash val="solid"/>
          </a:ln>
        </p:spPr>
      </p:sp>
      <p:sp>
        <p:nvSpPr>
          <p:cNvPr id="201" name="Shape 199"/>
          <p:cNvSpPr/>
          <p:nvPr/>
        </p:nvSpPr>
        <p:spPr>
          <a:xfrm>
            <a:off x="5056632" y="4343400"/>
            <a:ext cx="393192" cy="251460"/>
          </a:xfrm>
          <a:prstGeom prst="rect">
            <a:avLst/>
          </a:prstGeom>
          <a:solidFill>
            <a:srgbClr val="E8F0F5"/>
          </a:solidFill>
          <a:ln w="3810">
            <a:solidFill>
              <a:srgbClr val="CBD5E1"/>
            </a:solidFill>
            <a:prstDash val="solid"/>
          </a:ln>
        </p:spPr>
      </p:sp>
      <p:sp>
        <p:nvSpPr>
          <p:cNvPr id="202" name="Shape 200"/>
          <p:cNvSpPr/>
          <p:nvPr/>
        </p:nvSpPr>
        <p:spPr>
          <a:xfrm>
            <a:off x="5449824" y="4343400"/>
            <a:ext cx="393192" cy="251460"/>
          </a:xfrm>
          <a:prstGeom prst="rect">
            <a:avLst/>
          </a:prstGeom>
          <a:solidFill>
            <a:srgbClr val="E8F0F5"/>
          </a:solidFill>
          <a:ln w="3810">
            <a:solidFill>
              <a:srgbClr val="CBD5E1"/>
            </a:solidFill>
            <a:prstDash val="solid"/>
          </a:ln>
        </p:spPr>
      </p:sp>
      <p:sp>
        <p:nvSpPr>
          <p:cNvPr id="203" name="Shape 201"/>
          <p:cNvSpPr/>
          <p:nvPr/>
        </p:nvSpPr>
        <p:spPr>
          <a:xfrm>
            <a:off x="5843016" y="4343400"/>
            <a:ext cx="393192" cy="251460"/>
          </a:xfrm>
          <a:prstGeom prst="rect">
            <a:avLst/>
          </a:prstGeom>
          <a:solidFill>
            <a:srgbClr val="E8F0F5"/>
          </a:solidFill>
          <a:ln w="3810">
            <a:solidFill>
              <a:srgbClr val="CBD5E1"/>
            </a:solidFill>
            <a:prstDash val="solid"/>
          </a:ln>
        </p:spPr>
      </p:sp>
      <p:sp>
        <p:nvSpPr>
          <p:cNvPr id="204" name="Shape 202"/>
          <p:cNvSpPr/>
          <p:nvPr/>
        </p:nvSpPr>
        <p:spPr>
          <a:xfrm>
            <a:off x="6236208" y="4343400"/>
            <a:ext cx="393192" cy="251460"/>
          </a:xfrm>
          <a:prstGeom prst="rect">
            <a:avLst/>
          </a:prstGeom>
          <a:solidFill>
            <a:srgbClr val="E8F0F5"/>
          </a:solidFill>
          <a:ln w="3810">
            <a:solidFill>
              <a:srgbClr val="CBD5E1"/>
            </a:solidFill>
            <a:prstDash val="solid"/>
          </a:ln>
        </p:spPr>
      </p:sp>
      <p:sp>
        <p:nvSpPr>
          <p:cNvPr id="205" name="Shape 203"/>
          <p:cNvSpPr/>
          <p:nvPr/>
        </p:nvSpPr>
        <p:spPr>
          <a:xfrm>
            <a:off x="6629400" y="4343400"/>
            <a:ext cx="393192" cy="251460"/>
          </a:xfrm>
          <a:prstGeom prst="rect">
            <a:avLst/>
          </a:prstGeom>
          <a:solidFill>
            <a:srgbClr val="E8F0F5"/>
          </a:solidFill>
          <a:ln w="3810">
            <a:solidFill>
              <a:srgbClr val="CBD5E1"/>
            </a:solidFill>
            <a:prstDash val="solid"/>
          </a:ln>
        </p:spPr>
      </p:sp>
      <p:sp>
        <p:nvSpPr>
          <p:cNvPr id="206" name="Shape 204"/>
          <p:cNvSpPr/>
          <p:nvPr/>
        </p:nvSpPr>
        <p:spPr>
          <a:xfrm>
            <a:off x="7022592" y="4343400"/>
            <a:ext cx="393192" cy="251460"/>
          </a:xfrm>
          <a:prstGeom prst="rect">
            <a:avLst/>
          </a:prstGeom>
          <a:solidFill>
            <a:srgbClr val="E8F0F5"/>
          </a:solidFill>
          <a:ln w="3810">
            <a:solidFill>
              <a:srgbClr val="CBD5E1"/>
            </a:solidFill>
            <a:prstDash val="solid"/>
          </a:ln>
        </p:spPr>
      </p:sp>
      <p:sp>
        <p:nvSpPr>
          <p:cNvPr id="207" name="Shape 205"/>
          <p:cNvSpPr/>
          <p:nvPr/>
        </p:nvSpPr>
        <p:spPr>
          <a:xfrm>
            <a:off x="7415784" y="4343400"/>
            <a:ext cx="393192" cy="251460"/>
          </a:xfrm>
          <a:prstGeom prst="rect">
            <a:avLst/>
          </a:prstGeom>
          <a:solidFill>
            <a:srgbClr val="E8F0F5"/>
          </a:solidFill>
          <a:ln w="3810">
            <a:solidFill>
              <a:srgbClr val="CBD5E1"/>
            </a:solidFill>
            <a:prstDash val="solid"/>
          </a:ln>
        </p:spPr>
      </p:sp>
      <p:sp>
        <p:nvSpPr>
          <p:cNvPr id="208" name="Shape 206"/>
          <p:cNvSpPr/>
          <p:nvPr/>
        </p:nvSpPr>
        <p:spPr>
          <a:xfrm>
            <a:off x="7808976" y="4343400"/>
            <a:ext cx="393192" cy="251460"/>
          </a:xfrm>
          <a:prstGeom prst="rect">
            <a:avLst/>
          </a:prstGeom>
          <a:solidFill>
            <a:srgbClr val="E8F0F5"/>
          </a:solidFill>
          <a:ln w="3810">
            <a:solidFill>
              <a:srgbClr val="CBD5E1"/>
            </a:solidFill>
            <a:prstDash val="solid"/>
          </a:ln>
        </p:spPr>
      </p:sp>
      <p:sp>
        <p:nvSpPr>
          <p:cNvPr id="209" name="Shape 207"/>
          <p:cNvSpPr/>
          <p:nvPr/>
        </p:nvSpPr>
        <p:spPr>
          <a:xfrm>
            <a:off x="8202168" y="4343400"/>
            <a:ext cx="393192" cy="251460"/>
          </a:xfrm>
          <a:prstGeom prst="rect">
            <a:avLst/>
          </a:prstGeom>
          <a:solidFill>
            <a:srgbClr val="94A3B8"/>
          </a:solidFill>
          <a:ln w="3810">
            <a:solidFill>
              <a:srgbClr val="CBD5E1"/>
            </a:solidFill>
            <a:prstDash val="solid"/>
          </a:ln>
        </p:spPr>
      </p:sp>
      <p:sp>
        <p:nvSpPr>
          <p:cNvPr id="210" name="Shape 208"/>
          <p:cNvSpPr/>
          <p:nvPr/>
        </p:nvSpPr>
        <p:spPr>
          <a:xfrm>
            <a:off x="347472" y="4736592"/>
            <a:ext cx="182880" cy="118872"/>
          </a:xfrm>
          <a:prstGeom prst="rect">
            <a:avLst/>
          </a:prstGeom>
          <a:solidFill>
            <a:srgbClr val="1A6B8A"/>
          </a:solidFill>
          <a:ln w="12700">
            <a:solidFill>
              <a:srgbClr val="1A6B8A"/>
            </a:solidFill>
            <a:prstDash val="solid"/>
          </a:ln>
        </p:spPr>
      </p:sp>
      <p:sp>
        <p:nvSpPr>
          <p:cNvPr id="211" name="Text 209"/>
          <p:cNvSpPr/>
          <p:nvPr/>
        </p:nvSpPr>
        <p:spPr>
          <a:xfrm>
            <a:off x="576072" y="4700016"/>
            <a:ext cx="109728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Activo</a:t>
            </a:r>
            <a:endParaRPr lang="en-US" sz="900" dirty="0"/>
          </a:p>
        </p:txBody>
      </p:sp>
      <p:sp>
        <p:nvSpPr>
          <p:cNvPr id="212" name="Shape 210"/>
          <p:cNvSpPr/>
          <p:nvPr/>
        </p:nvSpPr>
        <p:spPr>
          <a:xfrm>
            <a:off x="1463040" y="4736592"/>
            <a:ext cx="182880" cy="118872"/>
          </a:xfrm>
          <a:prstGeom prst="rect">
            <a:avLst/>
          </a:prstGeom>
          <a:solidFill>
            <a:srgbClr val="94A3B8"/>
          </a:solidFill>
          <a:ln w="12700">
            <a:solidFill>
              <a:srgbClr val="94A3B8"/>
            </a:solidFill>
            <a:prstDash val="solid"/>
          </a:ln>
        </p:spPr>
      </p:sp>
      <p:sp>
        <p:nvSpPr>
          <p:cNvPr id="213" name="Text 211"/>
          <p:cNvSpPr/>
          <p:nvPr/>
        </p:nvSpPr>
        <p:spPr>
          <a:xfrm>
            <a:off x="1691640" y="4700016"/>
            <a:ext cx="137160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Pendiente</a:t>
            </a:r>
            <a:endParaRPr lang="en-US" sz="900" dirty="0"/>
          </a:p>
        </p:txBody>
      </p:sp>
      <p:sp>
        <p:nvSpPr>
          <p:cNvPr id="214" name="Shape 212"/>
          <p:cNvSpPr/>
          <p:nvPr/>
        </p:nvSpPr>
        <p:spPr>
          <a:xfrm>
            <a:off x="2834640" y="4736592"/>
            <a:ext cx="182880" cy="118872"/>
          </a:xfrm>
          <a:prstGeom prst="rect">
            <a:avLst/>
          </a:prstGeom>
          <a:solidFill>
            <a:srgbClr val="1A6B8A">
              <a:alpha val="70000"/>
            </a:srgbClr>
          </a:solidFill>
          <a:ln w="12700">
            <a:solidFill>
              <a:srgbClr val="1A6B8A"/>
            </a:solidFill>
            <a:prstDash val="solid"/>
          </a:ln>
        </p:spPr>
      </p:sp>
      <p:sp>
        <p:nvSpPr>
          <p:cNvPr id="215" name="Text 213"/>
          <p:cNvSpPr/>
          <p:nvPr/>
        </p:nvSpPr>
        <p:spPr>
          <a:xfrm>
            <a:off x="3063240" y="4700016"/>
            <a:ext cx="182880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Mes actual (2)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OE1 – DETERMINACIÓN DE MIC</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Determinación de MIC de etambutol en BHI: resultado preliminar</a:t>
            </a:r>
            <a:endParaRPr lang="en-US" sz="2600" dirty="0"/>
          </a:p>
        </p:txBody>
      </p:sp>
      <p:sp>
        <p:nvSpPr>
          <p:cNvPr id="4" name="Shape 2"/>
          <p:cNvSpPr/>
          <p:nvPr/>
        </p:nvSpPr>
        <p:spPr>
          <a:xfrm>
            <a:off x="365760" y="1417320"/>
            <a:ext cx="2834640" cy="352044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Text 3"/>
          <p:cNvSpPr/>
          <p:nvPr/>
        </p:nvSpPr>
        <p:spPr>
          <a:xfrm>
            <a:off x="502920" y="1508760"/>
            <a:ext cx="2560320" cy="274320"/>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Diseño experimental</a:t>
            </a:r>
            <a:endParaRPr lang="en-US" sz="1100" dirty="0"/>
          </a:p>
        </p:txBody>
      </p:sp>
      <p:sp>
        <p:nvSpPr>
          <p:cNvPr id="6" name="Text 4"/>
          <p:cNvSpPr/>
          <p:nvPr/>
        </p:nvSpPr>
        <p:spPr>
          <a:xfrm>
            <a:off x="502920" y="1828800"/>
            <a:ext cx="2560320" cy="2971800"/>
          </a:xfrm>
          <a:prstGeom prst="rect">
            <a:avLst/>
          </a:prstGeom>
          <a:noFill/>
          <a:ln/>
        </p:spPr>
        <p:txBody>
          <a:bodyPr wrap="square" rtlCol="0" anchor="ctr"/>
          <a:lstStyle/>
          <a:p>
            <a:pPr marL="342900" indent="-342900">
              <a:lnSpc>
                <a:spcPct val="135000"/>
              </a:lnSpc>
              <a:buSzPct val="100000"/>
              <a:buChar char="•"/>
            </a:pPr>
            <a:r>
              <a:rPr lang="en-US" sz="1100" dirty="0">
                <a:solidFill>
                  <a:srgbClr val="1E293B"/>
                </a:solidFill>
                <a:latin typeface="Calibri" pitchFamily="34" charset="0"/>
                <a:ea typeface="Calibri" pitchFamily="34" charset="-122"/>
                <a:cs typeface="Calibri" pitchFamily="34" charset="-120"/>
              </a:rPr>
              <a:t>Medio: BHI</a:t>
            </a:r>
            <a:endParaRPr lang="en-US" sz="1100" dirty="0"/>
          </a:p>
          <a:p>
            <a:pPr marL="342900" indent="-342900">
              <a:lnSpc>
                <a:spcPct val="135000"/>
              </a:lnSpc>
              <a:buSzPct val="100000"/>
              <a:buChar char="•"/>
            </a:pPr>
            <a:r>
              <a:rPr lang="en-US" sz="1100" dirty="0">
                <a:solidFill>
                  <a:srgbClr val="1E293B"/>
                </a:solidFill>
                <a:latin typeface="Calibri" pitchFamily="34" charset="0"/>
                <a:ea typeface="Calibri" pitchFamily="34" charset="-122"/>
                <a:cs typeface="Calibri" pitchFamily="34" charset="-120"/>
              </a:rPr>
              <a:t>Tiempo: 16 h de incubación</a:t>
            </a:r>
            <a:endParaRPr lang="en-US" sz="1100" dirty="0"/>
          </a:p>
          <a:p>
            <a:pPr marL="342900" indent="-342900">
              <a:lnSpc>
                <a:spcPct val="135000"/>
              </a:lnSpc>
              <a:buSzPct val="100000"/>
              <a:buChar char="•"/>
            </a:pPr>
            <a:r>
              <a:rPr lang="en-US" sz="1100" dirty="0">
                <a:solidFill>
                  <a:srgbClr val="1E293B"/>
                </a:solidFill>
                <a:latin typeface="Calibri" pitchFamily="34" charset="0"/>
                <a:ea typeface="Calibri" pitchFamily="34" charset="-122"/>
                <a:cs typeface="Calibri" pitchFamily="34" charset="-120"/>
              </a:rPr>
              <a:t>Rango: 0,25 – 512 µg/mL (diluciones seriadas)</a:t>
            </a:r>
            <a:endParaRPr lang="en-US" sz="1100" dirty="0"/>
          </a:p>
          <a:p>
            <a:pPr marL="342900" indent="-342900">
              <a:lnSpc>
                <a:spcPct val="135000"/>
              </a:lnSpc>
              <a:buSzPct val="100000"/>
              <a:buChar char="•"/>
            </a:pPr>
            <a:r>
              <a:rPr lang="en-US" sz="1100" dirty="0">
                <a:solidFill>
                  <a:srgbClr val="1E293B"/>
                </a:solidFill>
                <a:latin typeface="Calibri" pitchFamily="34" charset="0"/>
                <a:ea typeface="Calibri" pitchFamily="34" charset="-122"/>
                <a:cs typeface="Calibri" pitchFamily="34" charset="-120"/>
              </a:rPr>
              <a:t>Triplicado biológico (EMB1, EMB2, EMB3)</a:t>
            </a:r>
            <a:endParaRPr lang="en-US" sz="1100" dirty="0"/>
          </a:p>
          <a:p>
            <a:pPr marL="342900" indent="-342900">
              <a:lnSpc>
                <a:spcPct val="135000"/>
              </a:lnSpc>
              <a:buSzPct val="100000"/>
              <a:buChar char="•"/>
            </a:pPr>
            <a:r>
              <a:rPr lang="en-US" sz="1100" dirty="0">
                <a:solidFill>
                  <a:srgbClr val="1E293B"/>
                </a:solidFill>
                <a:latin typeface="Calibri" pitchFamily="34" charset="0"/>
                <a:ea typeface="Calibri" pitchFamily="34" charset="-122"/>
                <a:cs typeface="Calibri" pitchFamily="34" charset="-120"/>
              </a:rPr>
              <a:t>Lectura: OD₆₀₀</a:t>
            </a:r>
            <a:endParaRPr lang="en-US" sz="1100" dirty="0"/>
          </a:p>
          <a:p>
            <a:pPr marL="342900" indent="-342900">
              <a:lnSpc>
                <a:spcPct val="135000"/>
              </a:lnSpc>
              <a:buSzPct val="100000"/>
              <a:buChar char="•"/>
            </a:pPr>
            <a:r>
              <a:rPr lang="en-US" sz="1100" dirty="0">
                <a:solidFill>
                  <a:srgbClr val="1E293B"/>
                </a:solidFill>
                <a:latin typeface="Calibri" pitchFamily="34" charset="0"/>
                <a:ea typeface="Calibri" pitchFamily="34" charset="-122"/>
                <a:cs typeface="Calibri" pitchFamily="34" charset="-120"/>
              </a:rPr>
              <a:t>Controles: C+ / C– / blanco de medio / corrección óptica EMB solo</a:t>
            </a:r>
            <a:endParaRPr lang="en-US" sz="1100" dirty="0"/>
          </a:p>
        </p:txBody>
      </p:sp>
      <p:graphicFrame>
        <p:nvGraphicFramePr>
          <p:cNvPr id="7" name="Chart 0" descr=""/>
          <p:cNvGraphicFramePr/>
          <p:nvPr/>
        </p:nvGraphicFramePr>
        <p:xfrm>
          <a:off x="3383280" y="1325880"/>
          <a:ext cx="5394960" cy="25603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3383280" y="3840480"/>
            <a:ext cx="5394960" cy="685800"/>
          </a:xfrm>
          <a:prstGeom prst="rect">
            <a:avLst/>
          </a:prstGeom>
          <a:solidFill>
            <a:srgbClr val="FFF7ED"/>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9" name="Shape 6"/>
          <p:cNvSpPr/>
          <p:nvPr/>
        </p:nvSpPr>
        <p:spPr>
          <a:xfrm>
            <a:off x="3383280" y="3840480"/>
            <a:ext cx="5394960" cy="64008"/>
          </a:xfrm>
          <a:prstGeom prst="rect">
            <a:avLst/>
          </a:prstGeom>
          <a:solidFill>
            <a:srgbClr val="D97706"/>
          </a:solidFill>
          <a:ln w="12700">
            <a:solidFill>
              <a:srgbClr val="D97706"/>
            </a:solidFill>
            <a:prstDash val="solid"/>
          </a:ln>
        </p:spPr>
      </p:sp>
      <p:sp>
        <p:nvSpPr>
          <p:cNvPr id="10" name="Text 7"/>
          <p:cNvSpPr/>
          <p:nvPr/>
        </p:nvSpPr>
        <p:spPr>
          <a:xfrm>
            <a:off x="3520440" y="3904488"/>
            <a:ext cx="5120640" cy="566928"/>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Resultado: </a:t>
            </a:r>
            <a:pPr indent="0" marL="0">
              <a:buNone/>
            </a:pPr>
            <a:r>
              <a:rPr lang="en-US" sz="1100" dirty="0">
                <a:solidFill>
                  <a:srgbClr val="1E293B"/>
                </a:solidFill>
                <a:latin typeface="Calibri" pitchFamily="34" charset="0"/>
                <a:ea typeface="Calibri" pitchFamily="34" charset="-122"/>
                <a:cs typeface="Calibri" pitchFamily="34" charset="-120"/>
              </a:rPr>
              <a:t>Plateau de inhibición total definido (32–512 µg/mL, &gt;96% inhibición). El punto más diluido (0,25 µg/mL) alcanzó ~40% del C+: </a:t>
            </a:r>
            <a:pPr indent="0" marL="0">
              <a:buNone/>
            </a:pPr>
            <a:r>
              <a:rPr lang="en-US" sz="1100" b="1" dirty="0">
                <a:solidFill>
                  <a:srgbClr val="1E293B"/>
                </a:solidFill>
                <a:latin typeface="Calibri" pitchFamily="34" charset="0"/>
                <a:ea typeface="Calibri" pitchFamily="34" charset="-122"/>
                <a:cs typeface="Calibri" pitchFamily="34" charset="-120"/>
              </a:rPr>
              <a:t>plateau superior no capturado.</a:t>
            </a:r>
            <a:pPr indent="0" marL="0">
              <a:buNone/>
            </a:pPr>
            <a:r>
              <a:rPr lang="en-US" sz="1100" dirty="0">
                <a:solidFill>
                  <a:srgbClr val="1E293B"/>
                </a:solidFill>
                <a:latin typeface="Calibri" pitchFamily="34" charset="0"/>
                <a:ea typeface="Calibri" pitchFamily="34" charset="-122"/>
                <a:cs typeface="Calibri" pitchFamily="34" charset="-120"/>
              </a:rPr>
              <a:t> Sin ambos plateaus no es posible estimar MIC. CV inter-réplica 30–71% en zona de transición.</a:t>
            </a:r>
            <a:endParaRPr lang="en-US" sz="1100" dirty="0"/>
          </a:p>
        </p:txBody>
      </p:sp>
      <p:sp>
        <p:nvSpPr>
          <p:cNvPr id="11" name="Shape 8"/>
          <p:cNvSpPr/>
          <p:nvPr/>
        </p:nvSpPr>
        <p:spPr>
          <a:xfrm>
            <a:off x="365760" y="4617720"/>
            <a:ext cx="8412480" cy="411480"/>
          </a:xfrm>
          <a:prstGeom prst="rect">
            <a:avLst/>
          </a:prstGeom>
          <a:solidFill>
            <a:srgbClr val="F0F9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2" name="Shape 9"/>
          <p:cNvSpPr/>
          <p:nvPr/>
        </p:nvSpPr>
        <p:spPr>
          <a:xfrm>
            <a:off x="365760" y="4617720"/>
            <a:ext cx="64008" cy="411480"/>
          </a:xfrm>
          <a:prstGeom prst="rect">
            <a:avLst/>
          </a:prstGeom>
          <a:solidFill>
            <a:srgbClr val="0EA5E9"/>
          </a:solidFill>
          <a:ln w="12700">
            <a:solidFill>
              <a:srgbClr val="0EA5E9"/>
            </a:solidFill>
            <a:prstDash val="solid"/>
          </a:ln>
        </p:spPr>
      </p:sp>
      <p:sp>
        <p:nvSpPr>
          <p:cNvPr id="13" name="Text 10"/>
          <p:cNvSpPr/>
          <p:nvPr/>
        </p:nvSpPr>
        <p:spPr>
          <a:xfrm>
            <a:off x="594360" y="4645152"/>
            <a:ext cx="804672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Próximo paso: repetir con rango extendido por debajo de 0,25 µg/mL → validar MIC en BHI → replicar en CGXII → definir concentración subinhibitoria operativa (objetivo: ½ MIC).</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01168"/>
            <a:ext cx="8229600" cy="201168"/>
          </a:xfrm>
          <a:prstGeom prst="rect">
            <a:avLst/>
          </a:prstGeom>
          <a:noFill/>
          <a:ln/>
        </p:spPr>
        <p:txBody>
          <a:bodyPr wrap="square" rtlCol="0" anchor="ctr"/>
          <a:lstStyle/>
          <a:p>
            <a:pPr indent="0" marL="0">
              <a:buNone/>
            </a:pPr>
            <a:r>
              <a:rPr lang="en-US" sz="800" spc="200" kern="0" dirty="0">
                <a:solidFill>
                  <a:srgbClr val="64748B"/>
                </a:solidFill>
              </a:rPr>
              <a:t>OE2 – OPTIMIZACIÓN DEL MÉTODO DIA</a:t>
            </a:r>
            <a:endParaRPr lang="en-US" sz="800" dirty="0"/>
          </a:p>
        </p:txBody>
      </p:sp>
      <p:sp>
        <p:nvSpPr>
          <p:cNvPr id="3" name="Text 1"/>
          <p:cNvSpPr/>
          <p:nvPr/>
        </p:nvSpPr>
        <p:spPr>
          <a:xfrm>
            <a:off x="457200" y="502920"/>
            <a:ext cx="82296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Implementación del gold standard para validación del método DIA</a:t>
            </a:r>
            <a:endParaRPr lang="en-US" sz="2600" dirty="0"/>
          </a:p>
        </p:txBody>
      </p:sp>
      <p:sp>
        <p:nvSpPr>
          <p:cNvPr id="4" name="Shape 2"/>
          <p:cNvSpPr/>
          <p:nvPr/>
        </p:nvSpPr>
        <p:spPr>
          <a:xfrm>
            <a:off x="365760" y="1417320"/>
            <a:ext cx="8412480" cy="960120"/>
          </a:xfrm>
          <a:prstGeom prst="rect">
            <a:avLst/>
          </a:prstGeom>
          <a:solidFill>
            <a:srgbClr val="EFF6FF"/>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365760" y="1417320"/>
            <a:ext cx="64008" cy="960120"/>
          </a:xfrm>
          <a:prstGeom prst="rect">
            <a:avLst/>
          </a:prstGeom>
          <a:solidFill>
            <a:srgbClr val="1B2A4A"/>
          </a:solidFill>
          <a:ln w="12700">
            <a:solidFill>
              <a:srgbClr val="1B2A4A"/>
            </a:solidFill>
            <a:prstDash val="solid"/>
          </a:ln>
        </p:spPr>
      </p:sp>
      <p:sp>
        <p:nvSpPr>
          <p:cNvPr id="6" name="Text 4"/>
          <p:cNvSpPr/>
          <p:nvPr/>
        </p:nvSpPr>
        <p:spPr>
          <a:xfrm>
            <a:off x="594360" y="1481328"/>
            <a:ext cx="8046720" cy="822960"/>
          </a:xfrm>
          <a:prstGeom prst="rect">
            <a:avLst/>
          </a:prstGeom>
          <a:noFill/>
          <a:ln/>
        </p:spPr>
        <p:txBody>
          <a:bodyPr wrap="square" rtlCol="0" anchor="ctr"/>
          <a:lstStyle/>
          <a:p>
            <a:pPr indent="0" marL="0">
              <a:lnSpc>
                <a:spcPct val="130000"/>
              </a:lnSpc>
              <a:buNone/>
            </a:pPr>
            <a:r>
              <a:rPr lang="en-US" sz="1200" dirty="0">
                <a:solidFill>
                  <a:srgbClr val="1E293B"/>
                </a:solidFill>
                <a:latin typeface="Calibri" pitchFamily="34" charset="0"/>
                <a:ea typeface="Calibri" pitchFamily="34" charset="-122"/>
                <a:cs typeface="Calibri" pitchFamily="34" charset="-120"/>
              </a:rPr>
              <a:t>Para optimizar la estrategia DIA es necesario un sistema de referencia con comportamiento proteómico conocido que permita evaluar los parámetros del método con independencia del organismo de estudio final. Eso es lo que provee el diseño de Frei et al.: mezclas de muestras de distintos orígenes biológicos en proporciones definidas, donde las desviaciones cuantitativas son detectables porque el resultado esperado es conocido.</a:t>
            </a:r>
            <a:endParaRPr lang="en-US" sz="1200" dirty="0"/>
          </a:p>
        </p:txBody>
      </p:sp>
      <p:sp>
        <p:nvSpPr>
          <p:cNvPr id="7" name="Shape 5"/>
          <p:cNvSpPr/>
          <p:nvPr/>
        </p:nvSpPr>
        <p:spPr>
          <a:xfrm>
            <a:off x="365760" y="2514600"/>
            <a:ext cx="3931920" cy="187452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8" name="Text 6"/>
          <p:cNvSpPr/>
          <p:nvPr/>
        </p:nvSpPr>
        <p:spPr>
          <a:xfrm>
            <a:off x="502920" y="2587752"/>
            <a:ext cx="3657600" cy="274320"/>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Setup implementado</a:t>
            </a:r>
            <a:endParaRPr lang="en-US" sz="1100" dirty="0"/>
          </a:p>
        </p:txBody>
      </p:sp>
      <p:sp>
        <p:nvSpPr>
          <p:cNvPr id="9" name="Text 7"/>
          <p:cNvSpPr/>
          <p:nvPr/>
        </p:nvSpPr>
        <p:spPr>
          <a:xfrm>
            <a:off x="502920" y="2898648"/>
            <a:ext cx="3657600" cy="1371600"/>
          </a:xfrm>
          <a:prstGeom prst="rect">
            <a:avLst/>
          </a:prstGeom>
          <a:noFill/>
          <a:ln/>
        </p:spPr>
        <p:txBody>
          <a:bodyPr wrap="square" rtlCol="0" anchor="ctr"/>
          <a:lstStyle/>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Muestras de distintos orígenes biológicos mezcladas en proporciones conocidas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Adquisición en Orbitrap Exploris 240</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Estado: análisis de datos en curso</a:t>
            </a:r>
            <a:endParaRPr lang="en-US" sz="1200" dirty="0"/>
          </a:p>
        </p:txBody>
      </p:sp>
      <p:sp>
        <p:nvSpPr>
          <p:cNvPr id="10" name="Shape 8"/>
          <p:cNvSpPr/>
          <p:nvPr/>
        </p:nvSpPr>
        <p:spPr>
          <a:xfrm>
            <a:off x="4572000" y="2514600"/>
            <a:ext cx="3931920" cy="1874520"/>
          </a:xfrm>
          <a:prstGeom prst="rect">
            <a:avLst/>
          </a:prstGeom>
          <a:solidFill>
            <a:srgbClr val="E8F0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1" name="Text 9"/>
          <p:cNvSpPr/>
          <p:nvPr/>
        </p:nvSpPr>
        <p:spPr>
          <a:xfrm>
            <a:off x="4709160" y="2587752"/>
            <a:ext cx="3657600" cy="274320"/>
          </a:xfrm>
          <a:prstGeom prst="rect">
            <a:avLst/>
          </a:prstGeom>
          <a:noFill/>
          <a:ln/>
        </p:spPr>
        <p:txBody>
          <a:bodyPr wrap="square" rtlCol="0" anchor="ctr"/>
          <a:lstStyle/>
          <a:p>
            <a:pPr indent="0" marL="0">
              <a:buNone/>
            </a:pPr>
            <a:r>
              <a:rPr lang="en-US" sz="1100" b="1" dirty="0">
                <a:solidFill>
                  <a:srgbClr val="1A6B8A"/>
                </a:solidFill>
                <a:latin typeface="Calibri" pitchFamily="34" charset="0"/>
                <a:ea typeface="Calibri" pitchFamily="34" charset="-122"/>
                <a:cs typeface="Calibri" pitchFamily="34" charset="-120"/>
              </a:rPr>
              <a:t>Parámetros a evaluar</a:t>
            </a:r>
            <a:endParaRPr lang="en-US" sz="1100" dirty="0"/>
          </a:p>
        </p:txBody>
      </p:sp>
      <p:sp>
        <p:nvSpPr>
          <p:cNvPr id="12" name="Text 10"/>
          <p:cNvSpPr/>
          <p:nvPr/>
        </p:nvSpPr>
        <p:spPr>
          <a:xfrm>
            <a:off x="4709160" y="2898648"/>
            <a:ext cx="3657600" cy="1371600"/>
          </a:xfrm>
          <a:prstGeom prst="rect">
            <a:avLst/>
          </a:prstGeom>
          <a:noFill/>
          <a:ln/>
        </p:spPr>
        <p:txBody>
          <a:bodyPr wrap="square" rtlCol="0" anchor="ctr"/>
          <a:lstStyle/>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Cobertura: número de proteínas identificadas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Reproducibilidad: coeficiente de variación (CV%) entre réplicas</a:t>
            </a:r>
            <a:endParaRPr lang="en-US" sz="1200" dirty="0"/>
          </a:p>
          <a:p>
            <a:pPr marL="342900" indent="-342900">
              <a:lnSpc>
                <a:spcPct val="135000"/>
              </a:lnSpc>
              <a:buSzPct val="100000"/>
              <a:buChar char="•"/>
            </a:pPr>
            <a:r>
              <a:rPr lang="en-US" sz="1200" dirty="0">
                <a:solidFill>
                  <a:srgbClr val="1E293B"/>
                </a:solidFill>
                <a:latin typeface="Calibri" pitchFamily="34" charset="0"/>
                <a:ea typeface="Calibri" pitchFamily="34" charset="-122"/>
                <a:cs typeface="Calibri" pitchFamily="34" charset="-120"/>
              </a:rPr>
              <a:t>Completitud: proporción de valores faltantes (missing values)</a:t>
            </a:r>
            <a:endParaRPr lang="en-US" sz="1200" dirty="0"/>
          </a:p>
        </p:txBody>
      </p:sp>
      <p:sp>
        <p:nvSpPr>
          <p:cNvPr id="13" name="Shape 11"/>
          <p:cNvSpPr/>
          <p:nvPr/>
        </p:nvSpPr>
        <p:spPr>
          <a:xfrm>
            <a:off x="365760" y="4526280"/>
            <a:ext cx="8412480" cy="777240"/>
          </a:xfrm>
          <a:prstGeom prst="rect">
            <a:avLst/>
          </a:prstGeom>
          <a:solidFill>
            <a:srgbClr val="ECFDF5"/>
          </a:solidFill>
          <a:ln w="6350">
            <a:solidFill>
              <a:srgbClr val="CBD5E1"/>
            </a:solidFill>
            <a:prstDash val="solid"/>
          </a:ln>
          <a:effectLst>
            <a:outerShdw sx="100000" sy="100000" kx="0" ky="0" algn="bl" rotWithShape="0" blurRad="76200" dist="25400" dir="8100000">
              <a:srgbClr val="000000">
                <a:alpha val="10000"/>
              </a:srgbClr>
            </a:outerShdw>
          </a:effectLst>
        </p:spPr>
      </p:sp>
      <p:sp>
        <p:nvSpPr>
          <p:cNvPr id="14" name="Shape 12"/>
          <p:cNvSpPr/>
          <p:nvPr/>
        </p:nvSpPr>
        <p:spPr>
          <a:xfrm>
            <a:off x="365760" y="4526280"/>
            <a:ext cx="64008" cy="777240"/>
          </a:xfrm>
          <a:prstGeom prst="rect">
            <a:avLst/>
          </a:prstGeom>
          <a:solidFill>
            <a:srgbClr val="16A34A"/>
          </a:solidFill>
          <a:ln w="12700">
            <a:solidFill>
              <a:srgbClr val="16A34A"/>
            </a:solidFill>
            <a:prstDash val="solid"/>
          </a:ln>
        </p:spPr>
      </p:sp>
      <p:sp>
        <p:nvSpPr>
          <p:cNvPr id="15" name="Text 13"/>
          <p:cNvSpPr/>
          <p:nvPr/>
        </p:nvSpPr>
        <p:spPr>
          <a:xfrm>
            <a:off x="594360" y="4590288"/>
            <a:ext cx="8046720" cy="658368"/>
          </a:xfrm>
          <a:prstGeom prst="rect">
            <a:avLst/>
          </a:prstGeom>
          <a:noFill/>
          <a:ln/>
        </p:spPr>
        <p:txBody>
          <a:bodyPr wrap="square" rtlCol="0" anchor="ctr"/>
          <a:lstStyle/>
          <a:p>
            <a:pPr indent="0" marL="0">
              <a:lnSpc>
                <a:spcPct val="125000"/>
              </a:lnSpc>
              <a:buNone/>
            </a:pPr>
            <a:r>
              <a:rPr lang="en-US" sz="1100" dirty="0">
                <a:solidFill>
                  <a:srgbClr val="1E293B"/>
                </a:solidFill>
                <a:latin typeface="Calibri" pitchFamily="34" charset="0"/>
                <a:ea typeface="Calibri" pitchFamily="34" charset="-122"/>
                <a:cs typeface="Calibri" pitchFamily="34" charset="-120"/>
              </a:rPr>
              <a:t>Próximo paso: completar el análisis del dataset del gold standard → evaluar parámetros de adquisición → ajustar método DIA si corresponde → validar estrategia antes de generar las muestras biológicas de C. glutamicum.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502920"/>
            <a:ext cx="8229600" cy="320040"/>
          </a:xfrm>
          <a:prstGeom prst="rect">
            <a:avLst/>
          </a:prstGeom>
          <a:noFill/>
          <a:ln/>
        </p:spPr>
        <p:txBody>
          <a:bodyPr wrap="square" rtlCol="0" anchor="ctr"/>
          <a:lstStyle/>
          <a:p>
            <a:pPr indent="0" marL="0">
              <a:buNone/>
            </a:pPr>
            <a:r>
              <a:rPr lang="en-US" sz="1100" spc="300" kern="0" dirty="0">
                <a:solidFill>
                  <a:srgbClr val="0EA5E9"/>
                </a:solidFill>
                <a:latin typeface="Calibri" pitchFamily="34" charset="0"/>
                <a:ea typeface="Calibri" pitchFamily="34" charset="-122"/>
                <a:cs typeface="Calibri" pitchFamily="34" charset="-120"/>
              </a:rPr>
              <a:t>PRÓXIMOS PASOS</a:t>
            </a:r>
            <a:endParaRPr lang="en-US" sz="1100" dirty="0"/>
          </a:p>
        </p:txBody>
      </p:sp>
      <p:sp>
        <p:nvSpPr>
          <p:cNvPr id="3" name="Text 1"/>
          <p:cNvSpPr/>
          <p:nvPr/>
        </p:nvSpPr>
        <p:spPr>
          <a:xfrm>
            <a:off x="457200" y="868680"/>
            <a:ext cx="8229600" cy="4572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Hitos inmediatos</a:t>
            </a:r>
            <a:endParaRPr lang="en-US" sz="2600" dirty="0"/>
          </a:p>
        </p:txBody>
      </p:sp>
      <p:sp>
        <p:nvSpPr>
          <p:cNvPr id="4" name="Shape 2"/>
          <p:cNvSpPr/>
          <p:nvPr/>
        </p:nvSpPr>
        <p:spPr>
          <a:xfrm>
            <a:off x="365760" y="1508760"/>
            <a:ext cx="8412480" cy="1051560"/>
          </a:xfrm>
          <a:prstGeom prst="rect">
            <a:avLst/>
          </a:prstGeom>
          <a:solidFill>
            <a:srgbClr val="FFFFFF">
              <a:alpha val="8000"/>
            </a:srgbClr>
          </a:solidFill>
          <a:ln w="3810">
            <a:solidFill>
              <a:srgbClr val="FFFFFF">
                <a:alpha val="30000"/>
              </a:srgbClr>
            </a:solidFill>
            <a:prstDash val="solid"/>
          </a:ln>
        </p:spPr>
      </p:sp>
      <p:sp>
        <p:nvSpPr>
          <p:cNvPr id="5" name="Shape 3"/>
          <p:cNvSpPr/>
          <p:nvPr/>
        </p:nvSpPr>
        <p:spPr>
          <a:xfrm>
            <a:off x="365760" y="1508760"/>
            <a:ext cx="64008" cy="1051560"/>
          </a:xfrm>
          <a:prstGeom prst="rect">
            <a:avLst/>
          </a:prstGeom>
          <a:solidFill>
            <a:srgbClr val="1A6B8A"/>
          </a:solidFill>
          <a:ln w="12700">
            <a:solidFill>
              <a:srgbClr val="1A6B8A"/>
            </a:solidFill>
            <a:prstDash val="solid"/>
          </a:ln>
        </p:spPr>
      </p:sp>
      <p:sp>
        <p:nvSpPr>
          <p:cNvPr id="6" name="Text 4"/>
          <p:cNvSpPr/>
          <p:nvPr/>
        </p:nvSpPr>
        <p:spPr>
          <a:xfrm>
            <a:off x="548640" y="1673352"/>
            <a:ext cx="548640" cy="548640"/>
          </a:xfrm>
          <a:prstGeom prst="rect">
            <a:avLst/>
          </a:prstGeom>
          <a:noFill/>
          <a:ln/>
        </p:spPr>
        <p:txBody>
          <a:bodyPr wrap="square" rtlCol="0" anchor="ctr"/>
          <a:lstStyle/>
          <a:p>
            <a:pPr algn="ctr" indent="0" marL="0">
              <a:buNone/>
            </a:pPr>
            <a:r>
              <a:rPr lang="en-US" sz="2200" b="1" dirty="0">
                <a:solidFill>
                  <a:srgbClr val="0EA5E9"/>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1234440" y="1600200"/>
            <a:ext cx="1828800" cy="30175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OE1 — MIC</a:t>
            </a:r>
            <a:endParaRPr lang="en-US" sz="1200" dirty="0"/>
          </a:p>
        </p:txBody>
      </p:sp>
      <p:sp>
        <p:nvSpPr>
          <p:cNvPr id="8" name="Text 6"/>
          <p:cNvSpPr/>
          <p:nvPr/>
        </p:nvSpPr>
        <p:spPr>
          <a:xfrm>
            <a:off x="1234440" y="1892808"/>
            <a:ext cx="7315200" cy="594360"/>
          </a:xfrm>
          <a:prstGeom prst="rect">
            <a:avLst/>
          </a:prstGeom>
          <a:noFill/>
          <a:ln/>
        </p:spPr>
        <p:txBody>
          <a:bodyPr wrap="square" rtlCol="0" anchor="ctr"/>
          <a:lstStyle/>
          <a:p>
            <a:pPr indent="0" marL="0">
              <a:lnSpc>
                <a:spcPct val="125000"/>
              </a:lnSpc>
              <a:buNone/>
            </a:pPr>
            <a:r>
              <a:rPr lang="en-US" sz="1100" dirty="0">
                <a:solidFill>
                  <a:srgbClr val="D0DCE8"/>
                </a:solidFill>
                <a:latin typeface="Calibri" pitchFamily="34" charset="0"/>
                <a:ea typeface="Calibri" pitchFamily="34" charset="-122"/>
                <a:cs typeface="Calibri" pitchFamily="34" charset="-120"/>
              </a:rPr>
              <a:t>Repetir ensayo de MIC extendiendo el rango por debajo de 0,25 µg/mL para capturar el plateau superior. Validar resultado en BHI. Replicar en CGXII y definir concentración subinhibitoria operativa (objetivo: ½ MIC).</a:t>
            </a:r>
            <a:endParaRPr lang="en-US" sz="1100" dirty="0"/>
          </a:p>
        </p:txBody>
      </p:sp>
      <p:sp>
        <p:nvSpPr>
          <p:cNvPr id="9" name="Shape 7"/>
          <p:cNvSpPr/>
          <p:nvPr/>
        </p:nvSpPr>
        <p:spPr>
          <a:xfrm>
            <a:off x="365760" y="2679192"/>
            <a:ext cx="8412480" cy="1051560"/>
          </a:xfrm>
          <a:prstGeom prst="rect">
            <a:avLst/>
          </a:prstGeom>
          <a:solidFill>
            <a:srgbClr val="FFFFFF">
              <a:alpha val="8000"/>
            </a:srgbClr>
          </a:solidFill>
          <a:ln w="3810">
            <a:solidFill>
              <a:srgbClr val="FFFFFF">
                <a:alpha val="30000"/>
              </a:srgbClr>
            </a:solidFill>
            <a:prstDash val="solid"/>
          </a:ln>
        </p:spPr>
      </p:sp>
      <p:sp>
        <p:nvSpPr>
          <p:cNvPr id="10" name="Shape 8"/>
          <p:cNvSpPr/>
          <p:nvPr/>
        </p:nvSpPr>
        <p:spPr>
          <a:xfrm>
            <a:off x="365760" y="2679192"/>
            <a:ext cx="64008" cy="1051560"/>
          </a:xfrm>
          <a:prstGeom prst="rect">
            <a:avLst/>
          </a:prstGeom>
          <a:solidFill>
            <a:srgbClr val="1A6B8A"/>
          </a:solidFill>
          <a:ln w="12700">
            <a:solidFill>
              <a:srgbClr val="1A6B8A"/>
            </a:solidFill>
            <a:prstDash val="solid"/>
          </a:ln>
        </p:spPr>
      </p:sp>
      <p:sp>
        <p:nvSpPr>
          <p:cNvPr id="11" name="Text 9"/>
          <p:cNvSpPr/>
          <p:nvPr/>
        </p:nvSpPr>
        <p:spPr>
          <a:xfrm>
            <a:off x="548640" y="2843784"/>
            <a:ext cx="548640" cy="548640"/>
          </a:xfrm>
          <a:prstGeom prst="rect">
            <a:avLst/>
          </a:prstGeom>
          <a:noFill/>
          <a:ln/>
        </p:spPr>
        <p:txBody>
          <a:bodyPr wrap="square" rtlCol="0" anchor="ctr"/>
          <a:lstStyle/>
          <a:p>
            <a:pPr algn="ctr" indent="0" marL="0">
              <a:buNone/>
            </a:pPr>
            <a:r>
              <a:rPr lang="en-US" sz="2200" b="1" dirty="0">
                <a:solidFill>
                  <a:srgbClr val="0EA5E9"/>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1234440" y="2770632"/>
            <a:ext cx="1828800" cy="30175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OE2 — DIA</a:t>
            </a:r>
            <a:endParaRPr lang="en-US" sz="1200" dirty="0"/>
          </a:p>
        </p:txBody>
      </p:sp>
      <p:sp>
        <p:nvSpPr>
          <p:cNvPr id="13" name="Text 11"/>
          <p:cNvSpPr/>
          <p:nvPr/>
        </p:nvSpPr>
        <p:spPr>
          <a:xfrm>
            <a:off x="1234440" y="3063240"/>
            <a:ext cx="7315200" cy="594360"/>
          </a:xfrm>
          <a:prstGeom prst="rect">
            <a:avLst/>
          </a:prstGeom>
          <a:noFill/>
          <a:ln/>
        </p:spPr>
        <p:txBody>
          <a:bodyPr wrap="square" rtlCol="0" anchor="ctr"/>
          <a:lstStyle/>
          <a:p>
            <a:pPr indent="0" marL="0">
              <a:lnSpc>
                <a:spcPct val="125000"/>
              </a:lnSpc>
              <a:buNone/>
            </a:pPr>
            <a:r>
              <a:rPr lang="en-US" sz="1100" dirty="0">
                <a:solidFill>
                  <a:srgbClr val="D0DCE8"/>
                </a:solidFill>
                <a:latin typeface="Calibri" pitchFamily="34" charset="0"/>
                <a:ea typeface="Calibri" pitchFamily="34" charset="-122"/>
                <a:cs typeface="Calibri" pitchFamily="34" charset="-120"/>
              </a:rPr>
              <a:t>Completar el análisis del dataset del gold standard (Frei et al.). Evaluar cobertura, CV% y missing values. Ajustar parámetros de adquisición si corresponde. Validar estrategia DIA.</a:t>
            </a:r>
            <a:endParaRPr lang="en-US" sz="1100" dirty="0"/>
          </a:p>
        </p:txBody>
      </p:sp>
      <p:sp>
        <p:nvSpPr>
          <p:cNvPr id="14" name="Shape 12"/>
          <p:cNvSpPr/>
          <p:nvPr/>
        </p:nvSpPr>
        <p:spPr>
          <a:xfrm>
            <a:off x="365760" y="3849624"/>
            <a:ext cx="8412480" cy="1051560"/>
          </a:xfrm>
          <a:prstGeom prst="rect">
            <a:avLst/>
          </a:prstGeom>
          <a:solidFill>
            <a:srgbClr val="FFFFFF">
              <a:alpha val="8000"/>
            </a:srgbClr>
          </a:solidFill>
          <a:ln w="3810">
            <a:solidFill>
              <a:srgbClr val="FFFFFF">
                <a:alpha val="30000"/>
              </a:srgbClr>
            </a:solidFill>
            <a:prstDash val="solid"/>
          </a:ln>
        </p:spPr>
      </p:sp>
      <p:sp>
        <p:nvSpPr>
          <p:cNvPr id="15" name="Shape 13"/>
          <p:cNvSpPr/>
          <p:nvPr/>
        </p:nvSpPr>
        <p:spPr>
          <a:xfrm>
            <a:off x="365760" y="3849624"/>
            <a:ext cx="64008" cy="1051560"/>
          </a:xfrm>
          <a:prstGeom prst="rect">
            <a:avLst/>
          </a:prstGeom>
          <a:solidFill>
            <a:srgbClr val="1A6B8A"/>
          </a:solidFill>
          <a:ln w="12700">
            <a:solidFill>
              <a:srgbClr val="1A6B8A"/>
            </a:solidFill>
            <a:prstDash val="solid"/>
          </a:ln>
        </p:spPr>
      </p:sp>
      <p:sp>
        <p:nvSpPr>
          <p:cNvPr id="16" name="Text 14"/>
          <p:cNvSpPr/>
          <p:nvPr/>
        </p:nvSpPr>
        <p:spPr>
          <a:xfrm>
            <a:off x="548640" y="4014216"/>
            <a:ext cx="548640" cy="548640"/>
          </a:xfrm>
          <a:prstGeom prst="rect">
            <a:avLst/>
          </a:prstGeom>
          <a:noFill/>
          <a:ln/>
        </p:spPr>
        <p:txBody>
          <a:bodyPr wrap="square" rtlCol="0" anchor="ctr"/>
          <a:lstStyle/>
          <a:p>
            <a:pPr algn="ctr" indent="0" marL="0">
              <a:buNone/>
            </a:pPr>
            <a:r>
              <a:rPr lang="en-US" sz="2200" b="1" dirty="0">
                <a:solidFill>
                  <a:srgbClr val="0EA5E9"/>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1234440" y="3941064"/>
            <a:ext cx="1828800" cy="30175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Inicio OE3</a:t>
            </a:r>
            <a:endParaRPr lang="en-US" sz="1200" dirty="0"/>
          </a:p>
        </p:txBody>
      </p:sp>
      <p:sp>
        <p:nvSpPr>
          <p:cNvPr id="18" name="Text 16"/>
          <p:cNvSpPr/>
          <p:nvPr/>
        </p:nvSpPr>
        <p:spPr>
          <a:xfrm>
            <a:off x="1234440" y="4233672"/>
            <a:ext cx="7315200" cy="594360"/>
          </a:xfrm>
          <a:prstGeom prst="rect">
            <a:avLst/>
          </a:prstGeom>
          <a:noFill/>
          <a:ln/>
        </p:spPr>
        <p:txBody>
          <a:bodyPr wrap="square" rtlCol="0" anchor="ctr"/>
          <a:lstStyle/>
          <a:p>
            <a:pPr indent="0" marL="0">
              <a:lnSpc>
                <a:spcPct val="125000"/>
              </a:lnSpc>
              <a:buNone/>
            </a:pPr>
            <a:r>
              <a:rPr lang="en-US" sz="1100" dirty="0">
                <a:solidFill>
                  <a:srgbClr val="D0DCE8"/>
                </a:solidFill>
                <a:latin typeface="Calibri" pitchFamily="34" charset="0"/>
                <a:ea typeface="Calibri" pitchFamily="34" charset="-122"/>
                <a:cs typeface="Calibri" pitchFamily="34" charset="-120"/>
              </a:rPr>
              <a:t>Con OE1 y OE2 resueltos: generar muestras biológicas de C. glutamicum control y tratadas con etambutol a la concentración subinhibitoria definida en CGXII. Inicio de la fase de adquisición LC-MS/MS.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Nuevas perspectivas sobre el efecto del etambutol – Avance TFDC</dc:title>
  <dc:subject>PptxGenJS Presentation</dc:subject>
  <dc:creator>PptxGenJS</dc:creator>
  <cp:lastModifiedBy>PptxGenJS</cp:lastModifiedBy>
  <cp:revision>1</cp:revision>
  <dcterms:created xsi:type="dcterms:W3CDTF">2026-04-22T18:48:23Z</dcterms:created>
  <dcterms:modified xsi:type="dcterms:W3CDTF">2026-04-22T18:48:23Z</dcterms:modified>
</cp:coreProperties>
</file>